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62" r:id="rId3"/>
    <p:sldId id="298" r:id="rId4"/>
    <p:sldId id="288" r:id="rId5"/>
    <p:sldId id="284" r:id="rId6"/>
    <p:sldId id="257" r:id="rId7"/>
    <p:sldId id="258" r:id="rId8"/>
    <p:sldId id="259" r:id="rId9"/>
    <p:sldId id="260" r:id="rId10"/>
    <p:sldId id="261" r:id="rId11"/>
    <p:sldId id="264" r:id="rId12"/>
    <p:sldId id="265" r:id="rId13"/>
    <p:sldId id="266" r:id="rId14"/>
    <p:sldId id="267" r:id="rId15"/>
    <p:sldId id="268" r:id="rId16"/>
    <p:sldId id="269" r:id="rId17"/>
    <p:sldId id="271" r:id="rId18"/>
    <p:sldId id="310" r:id="rId19"/>
    <p:sldId id="270" r:id="rId20"/>
    <p:sldId id="287" r:id="rId21"/>
    <p:sldId id="276" r:id="rId22"/>
    <p:sldId id="278" r:id="rId23"/>
    <p:sldId id="277" r:id="rId24"/>
    <p:sldId id="272" r:id="rId25"/>
    <p:sldId id="275" r:id="rId26"/>
    <p:sldId id="273" r:id="rId27"/>
    <p:sldId id="274" r:id="rId28"/>
    <p:sldId id="279" r:id="rId29"/>
    <p:sldId id="280" r:id="rId30"/>
    <p:sldId id="281" r:id="rId31"/>
    <p:sldId id="282" r:id="rId32"/>
    <p:sldId id="312" r:id="rId33"/>
    <p:sldId id="313" r:id="rId34"/>
    <p:sldId id="314" r:id="rId35"/>
    <p:sldId id="315" r:id="rId36"/>
    <p:sldId id="316" r:id="rId37"/>
    <p:sldId id="283" r:id="rId38"/>
    <p:sldId id="285" r:id="rId39"/>
    <p:sldId id="286" r:id="rId40"/>
    <p:sldId id="290" r:id="rId41"/>
    <p:sldId id="291" r:id="rId42"/>
    <p:sldId id="289" r:id="rId43"/>
    <p:sldId id="317" r:id="rId44"/>
    <p:sldId id="292" r:id="rId45"/>
    <p:sldId id="293" r:id="rId46"/>
    <p:sldId id="294" r:id="rId47"/>
    <p:sldId id="295" r:id="rId48"/>
    <p:sldId id="296" r:id="rId49"/>
    <p:sldId id="297" r:id="rId50"/>
    <p:sldId id="299" r:id="rId51"/>
    <p:sldId id="300" r:id="rId52"/>
    <p:sldId id="309" r:id="rId53"/>
    <p:sldId id="306" r:id="rId54"/>
    <p:sldId id="307" r:id="rId55"/>
    <p:sldId id="302" r:id="rId56"/>
    <p:sldId id="308" r:id="rId57"/>
    <p:sldId id="301" r:id="rId58"/>
    <p:sldId id="303" r:id="rId59"/>
    <p:sldId id="304" r:id="rId60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8182" autoAdjust="0"/>
    <p:restoredTop sz="94660"/>
  </p:normalViewPr>
  <p:slideViewPr>
    <p:cSldViewPr snapToGrid="0">
      <p:cViewPr>
        <p:scale>
          <a:sx n="75" d="100"/>
          <a:sy n="75" d="100"/>
        </p:scale>
        <p:origin x="830" y="24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50" Type="http://schemas.openxmlformats.org/officeDocument/2006/relationships/slide" Target="slides/slide49.xml"/><Relationship Id="rId55" Type="http://schemas.openxmlformats.org/officeDocument/2006/relationships/slide" Target="slides/slide54.xml"/><Relationship Id="rId63" Type="http://schemas.openxmlformats.org/officeDocument/2006/relationships/theme" Target="theme/theme1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3" Type="http://schemas.openxmlformats.org/officeDocument/2006/relationships/slide" Target="slides/slide52.xml"/><Relationship Id="rId58" Type="http://schemas.openxmlformats.org/officeDocument/2006/relationships/slide" Target="slides/slide57.xml"/><Relationship Id="rId5" Type="http://schemas.openxmlformats.org/officeDocument/2006/relationships/slide" Target="slides/slide4.xml"/><Relationship Id="rId61" Type="http://schemas.openxmlformats.org/officeDocument/2006/relationships/presProps" Target="presProps.xml"/><Relationship Id="rId19" Type="http://schemas.openxmlformats.org/officeDocument/2006/relationships/slide" Target="slides/slide1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56" Type="http://schemas.openxmlformats.org/officeDocument/2006/relationships/slide" Target="slides/slide55.xml"/><Relationship Id="rId64" Type="http://schemas.openxmlformats.org/officeDocument/2006/relationships/tableStyles" Target="tableStyles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59" Type="http://schemas.openxmlformats.org/officeDocument/2006/relationships/slide" Target="slides/slide58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slide" Target="slides/slide53.xml"/><Relationship Id="rId62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Relationship Id="rId57" Type="http://schemas.openxmlformats.org/officeDocument/2006/relationships/slide" Target="slides/slide56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slide" Target="slides/slide51.xml"/><Relationship Id="rId60" Type="http://schemas.openxmlformats.org/officeDocument/2006/relationships/slide" Target="slides/slide59.xml"/><Relationship Id="rId4" Type="http://schemas.openxmlformats.org/officeDocument/2006/relationships/slide" Target="slides/slide3.xml"/><Relationship Id="rId9" Type="http://schemas.openxmlformats.org/officeDocument/2006/relationships/slide" Target="slides/slide8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ECFA93F-2F66-CAB2-CDE0-AB41208ED85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CFDCB0C3-6677-956C-101D-2A497BAB633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1286585-A90D-EC81-E6B1-439B52382B4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723CA93-4BBF-43AB-A538-39903E4C269C}" type="datetimeFigureOut">
              <a:rPr lang="en-US" smtClean="0"/>
              <a:t>5/21/2025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5C4133B-7E4A-74CF-B06D-F4A99E3F30D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273431E-2FFB-DD14-3FC5-1D1529665F3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FBA0B6A-D058-40AA-9C69-2DE04F2A686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7181251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8D1EF04-F04D-DF4C-BA78-98DDE32E2D1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94E8585-C021-A7DE-C3BE-D421A5D1B05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3DEAA72-0920-0507-5DEE-895C66ECBA5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723CA93-4BBF-43AB-A538-39903E4C269C}" type="datetimeFigureOut">
              <a:rPr lang="en-US" smtClean="0"/>
              <a:t>5/21/2025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47B0390-BADC-5463-A305-07CC02EFDED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924504E-59DC-5A08-D44E-B39B3D41390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FBA0B6A-D058-40AA-9C69-2DE04F2A686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1241552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9B5A5E7-498C-11BB-38C4-3964D19122B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040F220-321B-8B70-8359-384B3837A9D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37C1A6A-6FFE-A0DC-53FF-A95B63C7196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723CA93-4BBF-43AB-A538-39903E4C269C}" type="datetimeFigureOut">
              <a:rPr lang="en-US" smtClean="0"/>
              <a:t>5/21/2025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DFCD3BC-668B-FA59-DF24-90AD1D09A59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7CE20B9-65DE-20E9-8C2E-D2955949263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FBA0B6A-D058-40AA-9C69-2DE04F2A686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3032606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7262335-249B-C477-CF20-269A60917E0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3770A6D-98E5-1C84-C93B-4AD813B631FE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7C5AF8B5-350B-FD67-4BFE-8EC5E4C451EC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FC6B7461-400B-6638-3DF4-1584941444F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723CA93-4BBF-43AB-A538-39903E4C269C}" type="datetimeFigureOut">
              <a:rPr lang="en-US" smtClean="0"/>
              <a:t>5/21/2025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B305398-AD7D-6D12-E6C3-0DAF11B28A7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25744D18-BAB9-0973-2CA9-9B617C3FCF6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FBA0B6A-D058-40AA-9C69-2DE04F2A686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9372953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A9075A6-21CB-D5CA-9C43-92B11B4E88D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DEF55C1-75C8-0881-F286-A702DA9463F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28ED9F6B-38DE-4C20-9998-EE4E29BE9F1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A7F8219A-0D5D-961B-6AF7-F113E39B515C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521EB069-00BB-0958-7798-0EAC3BD5CF52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6ADACEB0-FB14-1A82-2837-64412BF9252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723CA93-4BBF-43AB-A538-39903E4C269C}" type="datetimeFigureOut">
              <a:rPr lang="en-US" smtClean="0"/>
              <a:t>5/21/2025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5EA28503-A274-808D-3942-BBEF2AD0858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0C2DEB42-D744-7339-92CE-7FCC026B823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FBA0B6A-D058-40AA-9C69-2DE04F2A686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8169075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B250369-A386-C0EA-8152-2B91311F9A5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1613CBEA-33CC-2AB4-C7E3-A55CF1E5E73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723CA93-4BBF-43AB-A538-39903E4C269C}" type="datetimeFigureOut">
              <a:rPr lang="en-US" smtClean="0"/>
              <a:t>5/21/2025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404BB121-671E-7499-83B0-C6913DBF166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135596C8-FF1B-6154-9DBC-358B8FE7E5B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FBA0B6A-D058-40AA-9C69-2DE04F2A686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4830571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ECF326F6-CA6E-340E-8D5E-3D1365443BB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723CA93-4BBF-43AB-A538-39903E4C269C}" type="datetimeFigureOut">
              <a:rPr lang="en-US" smtClean="0"/>
              <a:t>5/21/2025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0F1A9E78-C634-9317-7F92-48BDD5DCF0F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0146109-4DA4-E433-7557-64EB6336D09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FBA0B6A-D058-40AA-9C69-2DE04F2A686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2596592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8C37AE7-776C-735F-F3FE-7E6E0F2A4E5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D8A1E78-80E8-CF14-54B0-D204131A72F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217801E-002E-4556-EF3A-C825F42DF35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F35F8570-6F94-0FAB-BABC-6E4EA54315E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723CA93-4BBF-43AB-A538-39903E4C269C}" type="datetimeFigureOut">
              <a:rPr lang="en-US" smtClean="0"/>
              <a:t>5/21/2025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10622521-0C91-489A-6180-E3F676B68A5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D548A62-06DF-8EF2-892C-FC03FDA86BD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FBA0B6A-D058-40AA-9C69-2DE04F2A686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1876558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334E6CE-FD18-CCC0-072D-29BA006BEE8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A969E8A5-C357-AA30-1FE2-FCCD47B2F70B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6BB4AA48-567F-C626-5D7F-8E441358F39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D66FE34A-D204-71B6-86F6-26F8D1F65D0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723CA93-4BBF-43AB-A538-39903E4C269C}" type="datetimeFigureOut">
              <a:rPr lang="en-US" smtClean="0"/>
              <a:t>5/21/2025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A240002-EF34-EC9F-B1BE-C8B8271772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948F881A-8EAA-3E59-E4F2-8316BD3D1B8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FBA0B6A-D058-40AA-9C69-2DE04F2A686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9929699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1E355D1-937C-DC6A-116A-A5D2862753E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A1A86A2D-464A-EB48-A90E-4E520F8E4C2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0A2C8CE-4347-6904-0FC7-BE97BEE5303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723CA93-4BBF-43AB-A538-39903E4C269C}" type="datetimeFigureOut">
              <a:rPr lang="en-US" smtClean="0"/>
              <a:t>5/21/2025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623BA22-49A0-3298-8A78-D050E6C9CBF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36B2169-5F0C-6AA9-868F-1D1F25D43EE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FBA0B6A-D058-40AA-9C69-2DE04F2A686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2064720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93BDB5A0-99D9-3F84-D902-C818AACD46E9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F1FF6CBB-4DE3-A2B3-4109-1AFC61F45D7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1CCC118-F686-A266-6185-B55209D4C09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723CA93-4BBF-43AB-A538-39903E4C269C}" type="datetimeFigureOut">
              <a:rPr lang="en-US" smtClean="0"/>
              <a:t>5/21/2025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5C41633-147F-30D0-820D-7DC7D7FFF67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DD904EB-59E5-2206-F9E4-87F72196855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FBA0B6A-D058-40AA-9C69-2DE04F2A686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8973711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C13B2BAB-7443-B4C7-D51E-3ACBB48DE1C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77E293A-049E-AD91-F3DD-88F907B1A07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9744AB5-C26C-299A-33A1-DB00225C4AA2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D723CA93-4BBF-43AB-A538-39903E4C269C}" type="datetimeFigureOut">
              <a:rPr lang="en-US" smtClean="0"/>
              <a:t>5/21/2025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7474E25-2D6D-14DB-8F56-B9032438DEDF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5B22B5D-38BA-7C1C-9564-1A3F4EF874C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EFBA0B6A-D058-40AA-9C69-2DE04F2A686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7852351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46A410C6-EB1E-3BFA-04F9-542C51DA77B5}"/>
              </a:ext>
            </a:extLst>
          </p:cNvPr>
          <p:cNvSpPr txBox="1"/>
          <p:nvPr/>
        </p:nvSpPr>
        <p:spPr>
          <a:xfrm>
            <a:off x="2776913" y="2932362"/>
            <a:ext cx="6638174" cy="132343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4000" b="1" dirty="0"/>
              <a:t>Landing, Login, Register, </a:t>
            </a:r>
            <a:r>
              <a:rPr lang="en-US" sz="4000" b="1" dirty="0" err="1"/>
              <a:t>ForgotPassword</a:t>
            </a:r>
            <a:endParaRPr lang="en-US" sz="4000" b="1" dirty="0"/>
          </a:p>
        </p:txBody>
      </p:sp>
    </p:spTree>
    <p:extLst>
      <p:ext uri="{BB962C8B-B14F-4D97-AF65-F5344CB8AC3E}">
        <p14:creationId xmlns:p14="http://schemas.microsoft.com/office/powerpoint/2010/main" val="213601355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 descr="A screen shot of a computer program&#10;&#10;AI-generated content may be incorrect.">
            <a:extLst>
              <a:ext uri="{FF2B5EF4-FFF2-40B4-BE49-F238E27FC236}">
                <a16:creationId xmlns:a16="http://schemas.microsoft.com/office/drawing/2014/main" id="{1485D8FE-FA3B-F048-2D95-8FE5EBFD152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457200" y="-285652"/>
            <a:ext cx="12856069" cy="7576837"/>
          </a:xfrm>
          <a:prstGeom prst="rect">
            <a:avLst/>
          </a:prstGeom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D7905721-4A05-C1B3-9952-8B578834C87C}"/>
              </a:ext>
            </a:extLst>
          </p:cNvPr>
          <p:cNvSpPr txBox="1"/>
          <p:nvPr/>
        </p:nvSpPr>
        <p:spPr>
          <a:xfrm>
            <a:off x="4679605" y="1057380"/>
            <a:ext cx="6638174" cy="193899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4000" b="1" dirty="0">
                <a:solidFill>
                  <a:schemeClr val="bg1"/>
                </a:solidFill>
              </a:rPr>
              <a:t>All the color palettes are stored in </a:t>
            </a:r>
            <a:r>
              <a:rPr lang="en-US" sz="4000" b="1" dirty="0">
                <a:solidFill>
                  <a:srgbClr val="FF0000"/>
                </a:solidFill>
              </a:rPr>
              <a:t>CSS variables </a:t>
            </a:r>
            <a:r>
              <a:rPr lang="en-US" sz="4000" b="1" dirty="0">
                <a:solidFill>
                  <a:schemeClr val="bg1"/>
                </a:solidFill>
              </a:rPr>
              <a:t>to toggle dark/light mode</a:t>
            </a:r>
          </a:p>
        </p:txBody>
      </p:sp>
    </p:spTree>
    <p:extLst>
      <p:ext uri="{BB962C8B-B14F-4D97-AF65-F5344CB8AC3E}">
        <p14:creationId xmlns:p14="http://schemas.microsoft.com/office/powerpoint/2010/main" val="353763692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D7905721-4A05-C1B3-9952-8B578834C87C}"/>
              </a:ext>
            </a:extLst>
          </p:cNvPr>
          <p:cNvSpPr txBox="1"/>
          <p:nvPr/>
        </p:nvSpPr>
        <p:spPr>
          <a:xfrm>
            <a:off x="2085802" y="2767280"/>
            <a:ext cx="8020395" cy="132343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4000" b="1" dirty="0"/>
              <a:t>Reusable Modal message in JS. Using  </a:t>
            </a:r>
            <a:r>
              <a:rPr lang="en-US" sz="4000" b="1" dirty="0" err="1"/>
              <a:t>document.createElement</a:t>
            </a:r>
            <a:endParaRPr lang="en-US" sz="4000" b="1" dirty="0"/>
          </a:p>
        </p:txBody>
      </p:sp>
    </p:spTree>
    <p:extLst>
      <p:ext uri="{BB962C8B-B14F-4D97-AF65-F5344CB8AC3E}">
        <p14:creationId xmlns:p14="http://schemas.microsoft.com/office/powerpoint/2010/main" val="295917808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D7905721-4A05-C1B3-9952-8B578834C87C}"/>
              </a:ext>
            </a:extLst>
          </p:cNvPr>
          <p:cNvSpPr txBox="1"/>
          <p:nvPr/>
        </p:nvSpPr>
        <p:spPr>
          <a:xfrm>
            <a:off x="832023" y="2459504"/>
            <a:ext cx="10527954" cy="193899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4000" b="1" dirty="0"/>
              <a:t>All lists or other elements that display data should have </a:t>
            </a:r>
            <a:r>
              <a:rPr lang="en-US" sz="4000" b="1" dirty="0">
                <a:solidFill>
                  <a:srgbClr val="C00000"/>
                </a:solidFill>
              </a:rPr>
              <a:t>default CSS Class </a:t>
            </a:r>
            <a:r>
              <a:rPr lang="en-US" sz="4000" b="1" dirty="0"/>
              <a:t>to toggle the display when there is no content.</a:t>
            </a:r>
            <a:endParaRPr lang="en-US" sz="4000" b="1" dirty="0">
              <a:solidFill>
                <a:srgbClr val="C0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156814539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E094F53A-6361-E94E-5BDE-6B5297C1498E}"/>
              </a:ext>
            </a:extLst>
          </p:cNvPr>
          <p:cNvSpPr txBox="1"/>
          <p:nvPr/>
        </p:nvSpPr>
        <p:spPr>
          <a:xfrm>
            <a:off x="0" y="0"/>
            <a:ext cx="2275840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b="1" dirty="0"/>
              <a:t>landingPage.html</a:t>
            </a:r>
          </a:p>
        </p:txBody>
      </p:sp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2B4939D4-239C-5B9C-6BE9-1DAD39EEA367}"/>
              </a:ext>
            </a:extLst>
          </p:cNvPr>
          <p:cNvSpPr/>
          <p:nvPr/>
        </p:nvSpPr>
        <p:spPr>
          <a:xfrm>
            <a:off x="345440" y="600165"/>
            <a:ext cx="5334000" cy="1794450"/>
          </a:xfrm>
          <a:prstGeom prst="roundRect">
            <a:avLst/>
          </a:prstGeom>
          <a:solidFill>
            <a:schemeClr val="accent6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2000" b="1" dirty="0"/>
              <a:t>nav-bar{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000" b="1" dirty="0" err="1"/>
              <a:t>logoBtn</a:t>
            </a:r>
            <a:r>
              <a:rPr lang="en-US" sz="2000" b="1" dirty="0"/>
              <a:t> : (</a:t>
            </a:r>
            <a:r>
              <a:rPr lang="en-US" sz="2000" b="1" dirty="0" err="1"/>
              <a:t>refreshPage</a:t>
            </a:r>
            <a:r>
              <a:rPr lang="en-US" sz="2000" b="1" dirty="0"/>
              <a:t>());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000" b="1" dirty="0" err="1"/>
              <a:t>registerBtn</a:t>
            </a:r>
            <a:r>
              <a:rPr lang="en-US" sz="2000" b="1" dirty="0"/>
              <a:t> : (register.html);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000" b="1" dirty="0" err="1"/>
              <a:t>loginBtn</a:t>
            </a:r>
            <a:r>
              <a:rPr lang="en-US" sz="2000" b="1" dirty="0"/>
              <a:t> : (login.html);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000" b="1" dirty="0"/>
              <a:t>Dark/light mode toggle</a:t>
            </a:r>
          </a:p>
          <a:p>
            <a:r>
              <a:rPr lang="en-US" sz="2000" b="1" dirty="0"/>
              <a:t>}</a:t>
            </a:r>
          </a:p>
        </p:txBody>
      </p:sp>
      <p:sp>
        <p:nvSpPr>
          <p:cNvPr id="7" name="Rectangle: Rounded Corners 6">
            <a:extLst>
              <a:ext uri="{FF2B5EF4-FFF2-40B4-BE49-F238E27FC236}">
                <a16:creationId xmlns:a16="http://schemas.microsoft.com/office/drawing/2014/main" id="{A4BE1C19-D813-8FAA-B450-73719B13AC10}"/>
              </a:ext>
            </a:extLst>
          </p:cNvPr>
          <p:cNvSpPr/>
          <p:nvPr/>
        </p:nvSpPr>
        <p:spPr>
          <a:xfrm>
            <a:off x="6096000" y="247709"/>
            <a:ext cx="5750560" cy="2938835"/>
          </a:xfrm>
          <a:prstGeom prst="roundRect">
            <a:avLst>
              <a:gd name="adj" fmla="val 10385"/>
            </a:avLst>
          </a:prstGeom>
          <a:solidFill>
            <a:schemeClr val="accent6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2000" b="1" dirty="0"/>
              <a:t>body{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000" b="1" dirty="0"/>
              <a:t>Business Seasonal Editable Text (Title, Content, </a:t>
            </a:r>
            <a:r>
              <a:rPr lang="en-US" sz="2000" b="1" dirty="0" err="1"/>
              <a:t>bgImage</a:t>
            </a:r>
            <a:r>
              <a:rPr lang="en-US" sz="2000" b="1" dirty="0"/>
              <a:t>),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000" b="1" dirty="0"/>
              <a:t>Editable Featured Properties (6 properties),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000" b="1" dirty="0"/>
              <a:t>Offers,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000" b="1" dirty="0"/>
              <a:t>Total of bookings (“324 days of booked dates”)</a:t>
            </a:r>
          </a:p>
          <a:p>
            <a:r>
              <a:rPr lang="en-US" sz="2000" b="1" dirty="0"/>
              <a:t>}</a:t>
            </a:r>
          </a:p>
        </p:txBody>
      </p:sp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A65FA8A9-E269-FD52-5DFC-194DB95495BC}"/>
              </a:ext>
            </a:extLst>
          </p:cNvPr>
          <p:cNvSpPr/>
          <p:nvPr/>
        </p:nvSpPr>
        <p:spPr>
          <a:xfrm>
            <a:off x="345440" y="4112491"/>
            <a:ext cx="6004560" cy="2099250"/>
          </a:xfrm>
          <a:prstGeom prst="roundRect">
            <a:avLst/>
          </a:prstGeom>
          <a:solidFill>
            <a:schemeClr val="accent6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2000" b="1" dirty="0"/>
              <a:t>Footer{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000" b="1" dirty="0"/>
              <a:t>short summarization (w/ pics if possible)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000" b="1" dirty="0"/>
              <a:t>links {}</a:t>
            </a:r>
          </a:p>
          <a:p>
            <a:r>
              <a:rPr lang="en-US" sz="2000" b="1" dirty="0"/>
              <a:t>}</a:t>
            </a:r>
          </a:p>
        </p:txBody>
      </p:sp>
      <p:sp>
        <p:nvSpPr>
          <p:cNvPr id="9" name="Rectangle: Rounded Corners 8">
            <a:extLst>
              <a:ext uri="{FF2B5EF4-FFF2-40B4-BE49-F238E27FC236}">
                <a16:creationId xmlns:a16="http://schemas.microsoft.com/office/drawing/2014/main" id="{CA950961-4CF3-ED43-2B52-42AE2D719B45}"/>
              </a:ext>
            </a:extLst>
          </p:cNvPr>
          <p:cNvSpPr/>
          <p:nvPr/>
        </p:nvSpPr>
        <p:spPr>
          <a:xfrm>
            <a:off x="6766560" y="3793057"/>
            <a:ext cx="4328160" cy="2707640"/>
          </a:xfrm>
          <a:prstGeom prst="roundRect">
            <a:avLst>
              <a:gd name="adj" fmla="val 9503"/>
            </a:avLst>
          </a:prstGeom>
          <a:solidFill>
            <a:schemeClr val="accent6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2000" b="1" dirty="0"/>
              <a:t>links{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000" b="1" dirty="0"/>
              <a:t>aboutUs.html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000" b="1" dirty="0"/>
              <a:t>termsPolicy.html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000" b="1" dirty="0"/>
              <a:t>eula.html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000" b="1" dirty="0"/>
              <a:t>contacts (email, number)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000" b="1" dirty="0"/>
              <a:t>Social media links</a:t>
            </a:r>
          </a:p>
          <a:p>
            <a:r>
              <a:rPr lang="en-US" sz="2000" b="1" dirty="0"/>
              <a:t>}</a:t>
            </a:r>
          </a:p>
          <a:p>
            <a:endParaRPr lang="en-US" sz="2000" b="1" dirty="0"/>
          </a:p>
        </p:txBody>
      </p: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8E67CAA7-8409-7C32-A202-C2E016CD8576}"/>
              </a:ext>
            </a:extLst>
          </p:cNvPr>
          <p:cNvCxnSpPr>
            <a:cxnSpLocks/>
          </p:cNvCxnSpPr>
          <p:nvPr/>
        </p:nvCxnSpPr>
        <p:spPr>
          <a:xfrm>
            <a:off x="2072640" y="5326611"/>
            <a:ext cx="4937760" cy="172720"/>
          </a:xfrm>
          <a:prstGeom prst="line">
            <a:avLst/>
          </a:prstGeom>
          <a:ln w="19050" cap="flat" cmpd="sng" algn="ctr">
            <a:solidFill>
              <a:schemeClr val="accent4"/>
            </a:solidFill>
            <a:prstDash val="solid"/>
            <a:round/>
            <a:headEnd type="arrow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805606551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E094F53A-6361-E94E-5BDE-6B5297C1498E}"/>
              </a:ext>
            </a:extLst>
          </p:cNvPr>
          <p:cNvSpPr txBox="1"/>
          <p:nvPr/>
        </p:nvSpPr>
        <p:spPr>
          <a:xfrm>
            <a:off x="0" y="0"/>
            <a:ext cx="2275840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b="1" dirty="0"/>
              <a:t>register.html</a:t>
            </a:r>
          </a:p>
        </p:txBody>
      </p:sp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2B4939D4-239C-5B9C-6BE9-1DAD39EEA367}"/>
              </a:ext>
            </a:extLst>
          </p:cNvPr>
          <p:cNvSpPr/>
          <p:nvPr/>
        </p:nvSpPr>
        <p:spPr>
          <a:xfrm>
            <a:off x="233680" y="539205"/>
            <a:ext cx="5334000" cy="1614715"/>
          </a:xfrm>
          <a:prstGeom prst="roundRect">
            <a:avLst/>
          </a:prstGeom>
          <a:solidFill>
            <a:schemeClr val="accent6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2000" b="1" dirty="0"/>
              <a:t>nav-bar{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000" b="1" dirty="0" err="1"/>
              <a:t>logoBtn</a:t>
            </a:r>
            <a:r>
              <a:rPr lang="en-US" sz="2000" b="1" dirty="0"/>
              <a:t> : (</a:t>
            </a:r>
            <a:r>
              <a:rPr lang="en-US" sz="2000" b="1" dirty="0" err="1"/>
              <a:t>refreshPage</a:t>
            </a:r>
            <a:r>
              <a:rPr lang="en-US" sz="2000" b="1" dirty="0"/>
              <a:t>());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000" b="1" dirty="0" err="1"/>
              <a:t>loginBtn</a:t>
            </a:r>
            <a:r>
              <a:rPr lang="en-US" sz="2000" b="1" dirty="0"/>
              <a:t> : (login.html);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000" b="1" dirty="0"/>
              <a:t>Dark/light mode toggle</a:t>
            </a:r>
          </a:p>
          <a:p>
            <a:r>
              <a:rPr lang="en-US" sz="2000" b="1" dirty="0"/>
              <a:t>}</a:t>
            </a:r>
          </a:p>
        </p:txBody>
      </p:sp>
      <p:sp>
        <p:nvSpPr>
          <p:cNvPr id="2" name="Rectangle: Rounded Corners 1">
            <a:extLst>
              <a:ext uri="{FF2B5EF4-FFF2-40B4-BE49-F238E27FC236}">
                <a16:creationId xmlns:a16="http://schemas.microsoft.com/office/drawing/2014/main" id="{25DBB9F1-BD8D-42BE-ED68-07E8DD696260}"/>
              </a:ext>
            </a:extLst>
          </p:cNvPr>
          <p:cNvSpPr/>
          <p:nvPr/>
        </p:nvSpPr>
        <p:spPr>
          <a:xfrm>
            <a:off x="233680" y="2398122"/>
            <a:ext cx="5638800" cy="1614715"/>
          </a:xfrm>
          <a:prstGeom prst="roundRect">
            <a:avLst/>
          </a:prstGeom>
          <a:solidFill>
            <a:schemeClr val="accent6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2000" b="1" dirty="0"/>
              <a:t>body{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000" b="1" dirty="0"/>
              <a:t>Inputs{}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000" b="1" dirty="0" err="1"/>
              <a:t>registerBtn</a:t>
            </a:r>
            <a:r>
              <a:rPr lang="en-US" sz="2000" b="1" dirty="0"/>
              <a:t> : </a:t>
            </a:r>
            <a:r>
              <a:rPr lang="en-US" sz="2000" b="1" dirty="0" err="1"/>
              <a:t>emailOTPModal</a:t>
            </a:r>
            <a:r>
              <a:rPr lang="en-US" sz="2000" b="1" dirty="0"/>
              <a:t>{}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000" b="1" dirty="0" err="1"/>
              <a:t>alreadyHaveAccountBtn</a:t>
            </a:r>
            <a:r>
              <a:rPr lang="en-US" sz="2000" b="1" dirty="0"/>
              <a:t> : (login.html);</a:t>
            </a:r>
          </a:p>
          <a:p>
            <a:r>
              <a:rPr lang="en-US" sz="2000" b="1" dirty="0"/>
              <a:t>}</a:t>
            </a:r>
          </a:p>
        </p:txBody>
      </p:sp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FE5FE8A8-6542-B18D-C461-EA7BA7351C31}"/>
              </a:ext>
            </a:extLst>
          </p:cNvPr>
          <p:cNvSpPr/>
          <p:nvPr/>
        </p:nvSpPr>
        <p:spPr>
          <a:xfrm>
            <a:off x="5943600" y="142602"/>
            <a:ext cx="6156960" cy="4022635"/>
          </a:xfrm>
          <a:prstGeom prst="roundRect">
            <a:avLst/>
          </a:prstGeom>
          <a:solidFill>
            <a:schemeClr val="accent6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2000" b="1" dirty="0"/>
              <a:t>Inputs{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000" b="1" dirty="0"/>
              <a:t>Input = Email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000" b="1" dirty="0"/>
              <a:t>Input = </a:t>
            </a:r>
            <a:r>
              <a:rPr lang="en-US" sz="2000" b="1" dirty="0" err="1"/>
              <a:t>PhoneNumber</a:t>
            </a:r>
            <a:endParaRPr lang="en-US" sz="2000" b="1" dirty="0"/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000" b="1" dirty="0"/>
              <a:t>Input = Password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000" b="1" dirty="0"/>
              <a:t>Input = Confirm Password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000" b="1" dirty="0"/>
              <a:t>Input = </a:t>
            </a:r>
            <a:r>
              <a:rPr lang="en-US" sz="2000" b="1" dirty="0" err="1"/>
              <a:t>Fname</a:t>
            </a:r>
            <a:r>
              <a:rPr lang="en-US" sz="2000" b="1" dirty="0"/>
              <a:t> (Auto </a:t>
            </a:r>
            <a:r>
              <a:rPr lang="en-US" sz="2000" b="1" dirty="0" err="1"/>
              <a:t>capslock</a:t>
            </a:r>
            <a:r>
              <a:rPr lang="en-US" sz="2000" b="1" dirty="0"/>
              <a:t> first letter)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000" b="1" dirty="0"/>
              <a:t>Input = M-initial (Auto </a:t>
            </a:r>
            <a:r>
              <a:rPr lang="en-US" sz="2000" b="1" dirty="0" err="1"/>
              <a:t>capslock</a:t>
            </a:r>
            <a:r>
              <a:rPr lang="en-US" sz="2000" b="1" dirty="0"/>
              <a:t> first letter)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000" b="1" dirty="0"/>
              <a:t>Input = </a:t>
            </a:r>
            <a:r>
              <a:rPr lang="en-US" sz="2000" b="1" dirty="0" err="1"/>
              <a:t>LastName</a:t>
            </a:r>
            <a:r>
              <a:rPr lang="en-US" sz="2000" b="1" dirty="0"/>
              <a:t> (Auto </a:t>
            </a:r>
            <a:r>
              <a:rPr lang="en-US" sz="2000" b="1" dirty="0" err="1"/>
              <a:t>capslock</a:t>
            </a:r>
            <a:r>
              <a:rPr lang="en-US" sz="2000" b="1" dirty="0"/>
              <a:t> first letter)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000" b="1" dirty="0"/>
              <a:t>Input = Sex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000" b="1" dirty="0"/>
              <a:t>Input = </a:t>
            </a:r>
            <a:r>
              <a:rPr lang="en-US" sz="2000" b="1" dirty="0" err="1"/>
              <a:t>Bday</a:t>
            </a:r>
            <a:endParaRPr lang="en-US" sz="2000" b="1" dirty="0"/>
          </a:p>
          <a:p>
            <a:r>
              <a:rPr lang="en-US" sz="2000" b="1" dirty="0"/>
              <a:t>}</a:t>
            </a:r>
          </a:p>
        </p:txBody>
      </p:sp>
      <p:cxnSp>
        <p:nvCxnSpPr>
          <p:cNvPr id="16" name="Connector: Curved 15">
            <a:extLst>
              <a:ext uri="{FF2B5EF4-FFF2-40B4-BE49-F238E27FC236}">
                <a16:creationId xmlns:a16="http://schemas.microsoft.com/office/drawing/2014/main" id="{1EF98B44-5A6A-EC52-32B8-2990FE62FCF5}"/>
              </a:ext>
            </a:extLst>
          </p:cNvPr>
          <p:cNvCxnSpPr/>
          <p:nvPr/>
        </p:nvCxnSpPr>
        <p:spPr>
          <a:xfrm flipV="1">
            <a:off x="2153920" y="640080"/>
            <a:ext cx="4064000" cy="2286000"/>
          </a:xfrm>
          <a:prstGeom prst="curvedConnector3">
            <a:avLst>
              <a:gd name="adj1" fmla="val 71500"/>
            </a:avLst>
          </a:prstGeom>
          <a:ln w="19050" cap="flat" cmpd="sng" algn="ctr">
            <a:solidFill>
              <a:schemeClr val="accent4"/>
            </a:solidFill>
            <a:prstDash val="solid"/>
            <a:round/>
            <a:headEnd type="arrow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sp>
        <p:nvSpPr>
          <p:cNvPr id="18" name="Rectangle: Rounded Corners 17">
            <a:extLst>
              <a:ext uri="{FF2B5EF4-FFF2-40B4-BE49-F238E27FC236}">
                <a16:creationId xmlns:a16="http://schemas.microsoft.com/office/drawing/2014/main" id="{3A3C2C3D-5226-4CAC-ED51-4293C3C0C2D0}"/>
              </a:ext>
            </a:extLst>
          </p:cNvPr>
          <p:cNvSpPr/>
          <p:nvPr/>
        </p:nvSpPr>
        <p:spPr>
          <a:xfrm>
            <a:off x="233680" y="4455160"/>
            <a:ext cx="4439920" cy="2006599"/>
          </a:xfrm>
          <a:prstGeom prst="roundRect">
            <a:avLst/>
          </a:prstGeom>
          <a:solidFill>
            <a:schemeClr val="accent6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2000" b="1" dirty="0" err="1"/>
              <a:t>emailOTPModal</a:t>
            </a:r>
            <a:r>
              <a:rPr lang="en-US" sz="2000" b="1" dirty="0"/>
              <a:t>{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000" b="1" dirty="0"/>
              <a:t>Input = </a:t>
            </a:r>
            <a:r>
              <a:rPr lang="en-US" sz="2000" b="1" dirty="0" err="1"/>
              <a:t>otpInput</a:t>
            </a:r>
            <a:endParaRPr lang="en-US" sz="2000" b="1" dirty="0"/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000" b="1" dirty="0" err="1"/>
              <a:t>verifyBtn</a:t>
            </a:r>
            <a:r>
              <a:rPr lang="en-US" sz="2000" b="1" dirty="0"/>
              <a:t> : </a:t>
            </a:r>
            <a:r>
              <a:rPr lang="en-US" sz="2000" b="1" dirty="0" err="1"/>
              <a:t>messageModal</a:t>
            </a:r>
            <a:r>
              <a:rPr lang="en-US" sz="2000" b="1" dirty="0"/>
              <a:t>{}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000" b="1" dirty="0"/>
              <a:t>Timer (2mins before resend)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000" b="1" dirty="0" err="1"/>
              <a:t>resendBtn</a:t>
            </a:r>
            <a:endParaRPr lang="en-US" sz="2000" b="1" dirty="0"/>
          </a:p>
          <a:p>
            <a:r>
              <a:rPr lang="en-US" sz="2000" b="1" dirty="0"/>
              <a:t>}</a:t>
            </a:r>
          </a:p>
        </p:txBody>
      </p:sp>
      <p:sp>
        <p:nvSpPr>
          <p:cNvPr id="19" name="Rectangle: Rounded Corners 18">
            <a:extLst>
              <a:ext uri="{FF2B5EF4-FFF2-40B4-BE49-F238E27FC236}">
                <a16:creationId xmlns:a16="http://schemas.microsoft.com/office/drawing/2014/main" id="{D64E0CE1-6802-5873-4E54-C578CDA70AFA}"/>
              </a:ext>
            </a:extLst>
          </p:cNvPr>
          <p:cNvSpPr/>
          <p:nvPr/>
        </p:nvSpPr>
        <p:spPr>
          <a:xfrm>
            <a:off x="4897120" y="4455160"/>
            <a:ext cx="7061200" cy="2006599"/>
          </a:xfrm>
          <a:prstGeom prst="roundRect">
            <a:avLst>
              <a:gd name="adj" fmla="val 9763"/>
            </a:avLst>
          </a:prstGeom>
          <a:solidFill>
            <a:schemeClr val="accent6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2000" b="1" dirty="0" err="1"/>
              <a:t>messageModal</a:t>
            </a:r>
            <a:r>
              <a:rPr lang="en-US" sz="2000" b="1" dirty="0"/>
              <a:t>{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000" b="1" dirty="0" err="1"/>
              <a:t>ifVerified</a:t>
            </a:r>
            <a:r>
              <a:rPr lang="en-US" sz="2000" b="1" dirty="0"/>
              <a:t>{Success message &gt; </a:t>
            </a:r>
            <a:r>
              <a:rPr lang="en-US" sz="2000" b="1" dirty="0" err="1"/>
              <a:t>Continuebtn</a:t>
            </a:r>
            <a:r>
              <a:rPr lang="en-US" sz="2000" b="1" dirty="0"/>
              <a:t>(API-redirection) </a:t>
            </a:r>
            <a:r>
              <a:rPr lang="en-US" sz="2000" b="1" dirty="0">
                <a:solidFill>
                  <a:srgbClr val="FF0000"/>
                </a:solidFill>
              </a:rPr>
              <a:t>or</a:t>
            </a:r>
            <a:r>
              <a:rPr lang="en-US" sz="2000" b="1" dirty="0"/>
              <a:t> </a:t>
            </a:r>
            <a:r>
              <a:rPr lang="en-US" sz="2000" b="1" dirty="0" err="1"/>
              <a:t>verifyForLaterBtn</a:t>
            </a:r>
            <a:r>
              <a:rPr lang="en-US" sz="2000" b="1" dirty="0"/>
              <a:t>(</a:t>
            </a:r>
            <a:r>
              <a:rPr lang="en-US" sz="2000" b="1" dirty="0" err="1"/>
              <a:t>GoToLogin</a:t>
            </a:r>
            <a:r>
              <a:rPr lang="en-US" sz="2000" b="1" dirty="0"/>
              <a:t>)}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endParaRPr lang="en-US" sz="2000" b="1" dirty="0"/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000" b="1" dirty="0"/>
              <a:t>else{Error message &gt; </a:t>
            </a:r>
            <a:r>
              <a:rPr lang="en-US" sz="2000" b="1" dirty="0" err="1"/>
              <a:t>closeMessageModal</a:t>
            </a:r>
            <a:r>
              <a:rPr lang="en-US" sz="2000" b="1" dirty="0"/>
              <a:t>}</a:t>
            </a:r>
          </a:p>
          <a:p>
            <a:r>
              <a:rPr lang="en-US" sz="2000" b="1" dirty="0"/>
              <a:t>}</a:t>
            </a:r>
          </a:p>
        </p:txBody>
      </p:sp>
      <p:cxnSp>
        <p:nvCxnSpPr>
          <p:cNvPr id="20" name="Connector: Curved 19">
            <a:extLst>
              <a:ext uri="{FF2B5EF4-FFF2-40B4-BE49-F238E27FC236}">
                <a16:creationId xmlns:a16="http://schemas.microsoft.com/office/drawing/2014/main" id="{536E5F9B-7DD1-7184-2D46-C56D677DF8E4}"/>
              </a:ext>
            </a:extLst>
          </p:cNvPr>
          <p:cNvCxnSpPr>
            <a:cxnSpLocks/>
          </p:cNvCxnSpPr>
          <p:nvPr/>
        </p:nvCxnSpPr>
        <p:spPr>
          <a:xfrm flipV="1">
            <a:off x="4368800" y="4836160"/>
            <a:ext cx="629920" cy="447040"/>
          </a:xfrm>
          <a:prstGeom prst="curvedConnector3">
            <a:avLst>
              <a:gd name="adj1" fmla="val 50000"/>
            </a:avLst>
          </a:prstGeom>
          <a:ln w="19050" cap="flat" cmpd="sng" algn="ctr">
            <a:solidFill>
              <a:schemeClr val="accent4"/>
            </a:solidFill>
            <a:prstDash val="solid"/>
            <a:round/>
            <a:headEnd type="arrow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5" name="Connector: Curved 4">
            <a:extLst>
              <a:ext uri="{FF2B5EF4-FFF2-40B4-BE49-F238E27FC236}">
                <a16:creationId xmlns:a16="http://schemas.microsoft.com/office/drawing/2014/main" id="{1D5BBE9A-8A86-5CDE-9D4D-E222B4AB3CC9}"/>
              </a:ext>
            </a:extLst>
          </p:cNvPr>
          <p:cNvCxnSpPr>
            <a:cxnSpLocks/>
          </p:cNvCxnSpPr>
          <p:nvPr/>
        </p:nvCxnSpPr>
        <p:spPr>
          <a:xfrm rot="5400000" flipH="1" flipV="1">
            <a:off x="-193963" y="3740728"/>
            <a:ext cx="1551709" cy="461818"/>
          </a:xfrm>
          <a:prstGeom prst="curvedConnector3">
            <a:avLst>
              <a:gd name="adj1" fmla="val 50000"/>
            </a:avLst>
          </a:prstGeom>
          <a:ln w="19050" cap="flat" cmpd="sng" algn="ctr">
            <a:solidFill>
              <a:schemeClr val="accent4"/>
            </a:solidFill>
            <a:prstDash val="solid"/>
            <a:round/>
            <a:headEnd type="arrow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73955892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E094F53A-6361-E94E-5BDE-6B5297C1498E}"/>
              </a:ext>
            </a:extLst>
          </p:cNvPr>
          <p:cNvSpPr txBox="1"/>
          <p:nvPr/>
        </p:nvSpPr>
        <p:spPr>
          <a:xfrm>
            <a:off x="0" y="0"/>
            <a:ext cx="2275840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b="1" dirty="0"/>
              <a:t>login.html</a:t>
            </a:r>
          </a:p>
        </p:txBody>
      </p:sp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2B4939D4-239C-5B9C-6BE9-1DAD39EEA367}"/>
              </a:ext>
            </a:extLst>
          </p:cNvPr>
          <p:cNvSpPr/>
          <p:nvPr/>
        </p:nvSpPr>
        <p:spPr>
          <a:xfrm>
            <a:off x="233680" y="539205"/>
            <a:ext cx="5334000" cy="1614715"/>
          </a:xfrm>
          <a:prstGeom prst="roundRect">
            <a:avLst/>
          </a:prstGeom>
          <a:solidFill>
            <a:schemeClr val="accent6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2000" b="1" dirty="0"/>
              <a:t>nav-bar{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000" b="1" dirty="0" err="1"/>
              <a:t>logoBtn</a:t>
            </a:r>
            <a:r>
              <a:rPr lang="en-US" sz="2000" b="1" dirty="0"/>
              <a:t> : (</a:t>
            </a:r>
            <a:r>
              <a:rPr lang="en-US" sz="2000" b="1" dirty="0" err="1"/>
              <a:t>refreshPage</a:t>
            </a:r>
            <a:r>
              <a:rPr lang="en-US" sz="2000" b="1" dirty="0"/>
              <a:t>());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000" b="1" dirty="0" err="1"/>
              <a:t>registerBtn</a:t>
            </a:r>
            <a:r>
              <a:rPr lang="en-US" sz="2000" b="1" dirty="0"/>
              <a:t> : (register.html);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000" b="1" dirty="0"/>
              <a:t>Dark/light mode toggle</a:t>
            </a:r>
          </a:p>
          <a:p>
            <a:r>
              <a:rPr lang="en-US" sz="2000" b="1" dirty="0"/>
              <a:t>}</a:t>
            </a:r>
          </a:p>
        </p:txBody>
      </p:sp>
      <p:sp>
        <p:nvSpPr>
          <p:cNvPr id="2" name="Rectangle: Rounded Corners 1">
            <a:extLst>
              <a:ext uri="{FF2B5EF4-FFF2-40B4-BE49-F238E27FC236}">
                <a16:creationId xmlns:a16="http://schemas.microsoft.com/office/drawing/2014/main" id="{25DBB9F1-BD8D-42BE-ED68-07E8DD696260}"/>
              </a:ext>
            </a:extLst>
          </p:cNvPr>
          <p:cNvSpPr/>
          <p:nvPr/>
        </p:nvSpPr>
        <p:spPr>
          <a:xfrm>
            <a:off x="233680" y="2293015"/>
            <a:ext cx="5598160" cy="1980838"/>
          </a:xfrm>
          <a:prstGeom prst="roundRect">
            <a:avLst/>
          </a:prstGeom>
          <a:solidFill>
            <a:schemeClr val="accent6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2000" b="1" dirty="0"/>
              <a:t>body{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000" b="1" dirty="0"/>
              <a:t>Inputs{email, password},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000" b="1" dirty="0" err="1"/>
              <a:t>loginBtn</a:t>
            </a:r>
            <a:r>
              <a:rPr lang="en-US" sz="2000" b="1" dirty="0"/>
              <a:t> (auth) or </a:t>
            </a:r>
            <a:r>
              <a:rPr lang="en-US" sz="2000" b="1" dirty="0" err="1"/>
              <a:t>messageModal</a:t>
            </a:r>
            <a:r>
              <a:rPr lang="en-US" sz="2000" b="1" dirty="0"/>
              <a:t> (err)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000" b="1" dirty="0" err="1"/>
              <a:t>dontHaveAnAccYet</a:t>
            </a:r>
            <a:r>
              <a:rPr lang="en-US" sz="2000" b="1" dirty="0"/>
              <a:t> : (register.html)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000" b="1" dirty="0" err="1"/>
              <a:t>forgotBtn</a:t>
            </a:r>
            <a:r>
              <a:rPr lang="en-US" sz="2000" b="1" dirty="0"/>
              <a:t> : </a:t>
            </a:r>
            <a:r>
              <a:rPr lang="en-US" sz="2000" b="1" dirty="0" err="1"/>
              <a:t>emailOTPModal</a:t>
            </a:r>
            <a:endParaRPr lang="en-US" sz="2000" b="1" dirty="0"/>
          </a:p>
          <a:p>
            <a:r>
              <a:rPr lang="en-US" sz="2000" b="1" dirty="0"/>
              <a:t>}</a:t>
            </a:r>
          </a:p>
        </p:txBody>
      </p:sp>
      <p:sp>
        <p:nvSpPr>
          <p:cNvPr id="7" name="Rectangle: Rounded Corners 6">
            <a:extLst>
              <a:ext uri="{FF2B5EF4-FFF2-40B4-BE49-F238E27FC236}">
                <a16:creationId xmlns:a16="http://schemas.microsoft.com/office/drawing/2014/main" id="{71F1628E-D115-70B8-4E4C-64AFABEF7010}"/>
              </a:ext>
            </a:extLst>
          </p:cNvPr>
          <p:cNvSpPr/>
          <p:nvPr/>
        </p:nvSpPr>
        <p:spPr>
          <a:xfrm>
            <a:off x="6360162" y="556018"/>
            <a:ext cx="4947918" cy="1980838"/>
          </a:xfrm>
          <a:prstGeom prst="roundRect">
            <a:avLst/>
          </a:prstGeom>
          <a:solidFill>
            <a:schemeClr val="accent6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2000" b="1" dirty="0" err="1"/>
              <a:t>emailOTPModal</a:t>
            </a:r>
            <a:r>
              <a:rPr lang="en-US" sz="2000" b="1" dirty="0"/>
              <a:t>{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000" b="1" dirty="0"/>
              <a:t>Input(email)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000" b="1" dirty="0" err="1"/>
              <a:t>sendOTPBtn</a:t>
            </a:r>
            <a:r>
              <a:rPr lang="en-US" sz="2000" b="1" dirty="0"/>
              <a:t> : </a:t>
            </a:r>
            <a:r>
              <a:rPr lang="en-US" sz="2000" b="1" dirty="0" err="1"/>
              <a:t>verifyOTPModal</a:t>
            </a:r>
            <a:r>
              <a:rPr lang="en-US" sz="2000" b="1" dirty="0"/>
              <a:t>{}</a:t>
            </a:r>
          </a:p>
          <a:p>
            <a:r>
              <a:rPr lang="en-US" sz="2000" b="1" dirty="0"/>
              <a:t>}</a:t>
            </a:r>
          </a:p>
        </p:txBody>
      </p:sp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E69AC1CB-62BE-92E8-5A37-8226A512BA50}"/>
              </a:ext>
            </a:extLst>
          </p:cNvPr>
          <p:cNvSpPr/>
          <p:nvPr/>
        </p:nvSpPr>
        <p:spPr>
          <a:xfrm>
            <a:off x="1391920" y="4429096"/>
            <a:ext cx="10505440" cy="2065262"/>
          </a:xfrm>
          <a:prstGeom prst="roundRect">
            <a:avLst/>
          </a:prstGeom>
          <a:solidFill>
            <a:schemeClr val="accent6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2000" b="1" dirty="0" err="1"/>
              <a:t>verifyOTPModal</a:t>
            </a:r>
            <a:r>
              <a:rPr lang="en-US" sz="2000" b="1" dirty="0"/>
              <a:t>{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000" b="1" dirty="0"/>
              <a:t>OTP sent message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000" b="1" dirty="0"/>
              <a:t>Input(code)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000" b="1" dirty="0" err="1"/>
              <a:t>verifyOTPBtn</a:t>
            </a:r>
            <a:r>
              <a:rPr lang="en-US" sz="2000" b="1" dirty="0"/>
              <a:t> : false = </a:t>
            </a:r>
            <a:r>
              <a:rPr lang="en-US" sz="2000" b="1" dirty="0" err="1"/>
              <a:t>modalMessage</a:t>
            </a:r>
            <a:r>
              <a:rPr lang="en-US" sz="2000" b="1" dirty="0"/>
              <a:t>(err) ? true = forgotPassword.html</a:t>
            </a:r>
          </a:p>
          <a:p>
            <a:r>
              <a:rPr lang="en-US" sz="2000" b="1" dirty="0"/>
              <a:t>}</a:t>
            </a:r>
          </a:p>
        </p:txBody>
      </p:sp>
      <p:sp>
        <p:nvSpPr>
          <p:cNvPr id="15" name="Freeform: Shape 14">
            <a:extLst>
              <a:ext uri="{FF2B5EF4-FFF2-40B4-BE49-F238E27FC236}">
                <a16:creationId xmlns:a16="http://schemas.microsoft.com/office/drawing/2014/main" id="{7048C259-AA71-9C5F-F10D-74C63C05B678}"/>
              </a:ext>
            </a:extLst>
          </p:cNvPr>
          <p:cNvSpPr/>
          <p:nvPr/>
        </p:nvSpPr>
        <p:spPr>
          <a:xfrm>
            <a:off x="4358640" y="1178560"/>
            <a:ext cx="2164080" cy="2611181"/>
          </a:xfrm>
          <a:custGeom>
            <a:avLst/>
            <a:gdLst>
              <a:gd name="connsiteX0" fmla="*/ 0 w 2164080"/>
              <a:gd name="connsiteY0" fmla="*/ 2580640 h 2611181"/>
              <a:gd name="connsiteX1" fmla="*/ 50800 w 2164080"/>
              <a:gd name="connsiteY1" fmla="*/ 2590800 h 2611181"/>
              <a:gd name="connsiteX2" fmla="*/ 1026160 w 2164080"/>
              <a:gd name="connsiteY2" fmla="*/ 2550160 h 2611181"/>
              <a:gd name="connsiteX3" fmla="*/ 1229360 w 2164080"/>
              <a:gd name="connsiteY3" fmla="*/ 2438400 h 2611181"/>
              <a:gd name="connsiteX4" fmla="*/ 1351280 w 2164080"/>
              <a:gd name="connsiteY4" fmla="*/ 2346960 h 2611181"/>
              <a:gd name="connsiteX5" fmla="*/ 1422400 w 2164080"/>
              <a:gd name="connsiteY5" fmla="*/ 2214880 h 2611181"/>
              <a:gd name="connsiteX6" fmla="*/ 1452880 w 2164080"/>
              <a:gd name="connsiteY6" fmla="*/ 2174240 h 2611181"/>
              <a:gd name="connsiteX7" fmla="*/ 1544320 w 2164080"/>
              <a:gd name="connsiteY7" fmla="*/ 1960880 h 2611181"/>
              <a:gd name="connsiteX8" fmla="*/ 1696720 w 2164080"/>
              <a:gd name="connsiteY8" fmla="*/ 1615440 h 2611181"/>
              <a:gd name="connsiteX9" fmla="*/ 1788160 w 2164080"/>
              <a:gd name="connsiteY9" fmla="*/ 1361440 h 2611181"/>
              <a:gd name="connsiteX10" fmla="*/ 1818640 w 2164080"/>
              <a:gd name="connsiteY10" fmla="*/ 1168400 h 2611181"/>
              <a:gd name="connsiteX11" fmla="*/ 1838960 w 2164080"/>
              <a:gd name="connsiteY11" fmla="*/ 975360 h 2611181"/>
              <a:gd name="connsiteX12" fmla="*/ 1849120 w 2164080"/>
              <a:gd name="connsiteY12" fmla="*/ 904240 h 2611181"/>
              <a:gd name="connsiteX13" fmla="*/ 1899920 w 2164080"/>
              <a:gd name="connsiteY13" fmla="*/ 721360 h 2611181"/>
              <a:gd name="connsiteX14" fmla="*/ 1930400 w 2164080"/>
              <a:gd name="connsiteY14" fmla="*/ 558800 h 2611181"/>
              <a:gd name="connsiteX15" fmla="*/ 1960880 w 2164080"/>
              <a:gd name="connsiteY15" fmla="*/ 487680 h 2611181"/>
              <a:gd name="connsiteX16" fmla="*/ 1981200 w 2164080"/>
              <a:gd name="connsiteY16" fmla="*/ 426720 h 2611181"/>
              <a:gd name="connsiteX17" fmla="*/ 2011680 w 2164080"/>
              <a:gd name="connsiteY17" fmla="*/ 355600 h 2611181"/>
              <a:gd name="connsiteX18" fmla="*/ 2103120 w 2164080"/>
              <a:gd name="connsiteY18" fmla="*/ 111760 h 2611181"/>
              <a:gd name="connsiteX19" fmla="*/ 2164080 w 2164080"/>
              <a:gd name="connsiteY19" fmla="*/ 0 h 261118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</a:cxnLst>
            <a:rect l="l" t="t" r="r" b="b"/>
            <a:pathLst>
              <a:path w="2164080" h="2611181">
                <a:moveTo>
                  <a:pt x="0" y="2580640"/>
                </a:moveTo>
                <a:cubicBezTo>
                  <a:pt x="16933" y="2584027"/>
                  <a:pt x="33588" y="2589404"/>
                  <a:pt x="50800" y="2590800"/>
                </a:cubicBezTo>
                <a:cubicBezTo>
                  <a:pt x="535547" y="2630104"/>
                  <a:pt x="383381" y="2610421"/>
                  <a:pt x="1026160" y="2550160"/>
                </a:cubicBezTo>
                <a:cubicBezTo>
                  <a:pt x="1105246" y="2510617"/>
                  <a:pt x="1155622" y="2488676"/>
                  <a:pt x="1229360" y="2438400"/>
                </a:cubicBezTo>
                <a:cubicBezTo>
                  <a:pt x="1271332" y="2409782"/>
                  <a:pt x="1310640" y="2377440"/>
                  <a:pt x="1351280" y="2346960"/>
                </a:cubicBezTo>
                <a:cubicBezTo>
                  <a:pt x="1374987" y="2302933"/>
                  <a:pt x="1397047" y="2257980"/>
                  <a:pt x="1422400" y="2214880"/>
                </a:cubicBezTo>
                <a:cubicBezTo>
                  <a:pt x="1430986" y="2200285"/>
                  <a:pt x="1445552" y="2189506"/>
                  <a:pt x="1452880" y="2174240"/>
                </a:cubicBezTo>
                <a:cubicBezTo>
                  <a:pt x="1486363" y="2104484"/>
                  <a:pt x="1509716" y="2030087"/>
                  <a:pt x="1544320" y="1960880"/>
                </a:cubicBezTo>
                <a:cubicBezTo>
                  <a:pt x="1683858" y="1681804"/>
                  <a:pt x="1592964" y="1879545"/>
                  <a:pt x="1696720" y="1615440"/>
                </a:cubicBezTo>
                <a:cubicBezTo>
                  <a:pt x="1736749" y="1513547"/>
                  <a:pt x="1764378" y="1470159"/>
                  <a:pt x="1788160" y="1361440"/>
                </a:cubicBezTo>
                <a:cubicBezTo>
                  <a:pt x="1802081" y="1297801"/>
                  <a:pt x="1811820" y="1233186"/>
                  <a:pt x="1818640" y="1168400"/>
                </a:cubicBezTo>
                <a:cubicBezTo>
                  <a:pt x="1825413" y="1104053"/>
                  <a:pt x="1831544" y="1039636"/>
                  <a:pt x="1838960" y="975360"/>
                </a:cubicBezTo>
                <a:cubicBezTo>
                  <a:pt x="1841705" y="951570"/>
                  <a:pt x="1843531" y="927526"/>
                  <a:pt x="1849120" y="904240"/>
                </a:cubicBezTo>
                <a:cubicBezTo>
                  <a:pt x="1863885" y="842719"/>
                  <a:pt x="1885429" y="782946"/>
                  <a:pt x="1899920" y="721360"/>
                </a:cubicBezTo>
                <a:cubicBezTo>
                  <a:pt x="1912547" y="667695"/>
                  <a:pt x="1916484" y="612146"/>
                  <a:pt x="1930400" y="558800"/>
                </a:cubicBezTo>
                <a:cubicBezTo>
                  <a:pt x="1936910" y="533843"/>
                  <a:pt x="1951621" y="511753"/>
                  <a:pt x="1960880" y="487680"/>
                </a:cubicBezTo>
                <a:cubicBezTo>
                  <a:pt x="1968569" y="467689"/>
                  <a:pt x="1973511" y="446711"/>
                  <a:pt x="1981200" y="426720"/>
                </a:cubicBezTo>
                <a:cubicBezTo>
                  <a:pt x="1990459" y="402647"/>
                  <a:pt x="2002369" y="379653"/>
                  <a:pt x="2011680" y="355600"/>
                </a:cubicBezTo>
                <a:cubicBezTo>
                  <a:pt x="2043017" y="274646"/>
                  <a:pt x="2060052" y="187130"/>
                  <a:pt x="2103120" y="111760"/>
                </a:cubicBezTo>
                <a:cubicBezTo>
                  <a:pt x="2151274" y="27490"/>
                  <a:pt x="2131549" y="65062"/>
                  <a:pt x="2164080" y="0"/>
                </a:cubicBezTo>
              </a:path>
            </a:pathLst>
          </a:custGeom>
          <a:ln w="19050" cap="flat" cmpd="sng" algn="ctr">
            <a:solidFill>
              <a:schemeClr val="accent4"/>
            </a:solidFill>
            <a:prstDash val="solid"/>
            <a:round/>
            <a:headEnd type="arrow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" name="Freeform: Shape 20">
            <a:extLst>
              <a:ext uri="{FF2B5EF4-FFF2-40B4-BE49-F238E27FC236}">
                <a16:creationId xmlns:a16="http://schemas.microsoft.com/office/drawing/2014/main" id="{B4946BC5-1124-CE91-551F-3AFC9BC933E4}"/>
              </a:ext>
            </a:extLst>
          </p:cNvPr>
          <p:cNvSpPr/>
          <p:nvPr/>
        </p:nvSpPr>
        <p:spPr>
          <a:xfrm>
            <a:off x="3505200" y="1757680"/>
            <a:ext cx="7430204" cy="3088640"/>
          </a:xfrm>
          <a:custGeom>
            <a:avLst/>
            <a:gdLst>
              <a:gd name="connsiteX0" fmla="*/ 7426960 w 7430204"/>
              <a:gd name="connsiteY0" fmla="*/ 0 h 3088640"/>
              <a:gd name="connsiteX1" fmla="*/ 7416800 w 7430204"/>
              <a:gd name="connsiteY1" fmla="*/ 314960 h 3088640"/>
              <a:gd name="connsiteX2" fmla="*/ 7315200 w 7430204"/>
              <a:gd name="connsiteY2" fmla="*/ 457200 h 3088640"/>
              <a:gd name="connsiteX3" fmla="*/ 6969760 w 7430204"/>
              <a:gd name="connsiteY3" fmla="*/ 863600 h 3088640"/>
              <a:gd name="connsiteX4" fmla="*/ 6522720 w 7430204"/>
              <a:gd name="connsiteY4" fmla="*/ 1198880 h 3088640"/>
              <a:gd name="connsiteX5" fmla="*/ 5638800 w 7430204"/>
              <a:gd name="connsiteY5" fmla="*/ 1656080 h 3088640"/>
              <a:gd name="connsiteX6" fmla="*/ 4754880 w 7430204"/>
              <a:gd name="connsiteY6" fmla="*/ 1991360 h 3088640"/>
              <a:gd name="connsiteX7" fmla="*/ 3850640 w 7430204"/>
              <a:gd name="connsiteY7" fmla="*/ 2235200 h 3088640"/>
              <a:gd name="connsiteX8" fmla="*/ 3281680 w 7430204"/>
              <a:gd name="connsiteY8" fmla="*/ 2387600 h 3088640"/>
              <a:gd name="connsiteX9" fmla="*/ 2844800 w 7430204"/>
              <a:gd name="connsiteY9" fmla="*/ 2509520 h 3088640"/>
              <a:gd name="connsiteX10" fmla="*/ 2184400 w 7430204"/>
              <a:gd name="connsiteY10" fmla="*/ 2682240 h 3088640"/>
              <a:gd name="connsiteX11" fmla="*/ 1991360 w 7430204"/>
              <a:gd name="connsiteY11" fmla="*/ 2743200 h 3088640"/>
              <a:gd name="connsiteX12" fmla="*/ 1574800 w 7430204"/>
              <a:gd name="connsiteY12" fmla="*/ 2885440 h 3088640"/>
              <a:gd name="connsiteX13" fmla="*/ 1087120 w 7430204"/>
              <a:gd name="connsiteY13" fmla="*/ 3017520 h 3088640"/>
              <a:gd name="connsiteX14" fmla="*/ 904240 w 7430204"/>
              <a:gd name="connsiteY14" fmla="*/ 3058160 h 3088640"/>
              <a:gd name="connsiteX15" fmla="*/ 822960 w 7430204"/>
              <a:gd name="connsiteY15" fmla="*/ 3078480 h 3088640"/>
              <a:gd name="connsiteX16" fmla="*/ 701040 w 7430204"/>
              <a:gd name="connsiteY16" fmla="*/ 3088640 h 3088640"/>
              <a:gd name="connsiteX17" fmla="*/ 0 w 7430204"/>
              <a:gd name="connsiteY17" fmla="*/ 3058160 h 308864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</a:cxnLst>
            <a:rect l="l" t="t" r="r" b="b"/>
            <a:pathLst>
              <a:path w="7430204" h="3088640">
                <a:moveTo>
                  <a:pt x="7426960" y="0"/>
                </a:moveTo>
                <a:cubicBezTo>
                  <a:pt x="7423573" y="104987"/>
                  <a:pt x="7441742" y="212923"/>
                  <a:pt x="7416800" y="314960"/>
                </a:cubicBezTo>
                <a:cubicBezTo>
                  <a:pt x="7402964" y="371560"/>
                  <a:pt x="7352005" y="412030"/>
                  <a:pt x="7315200" y="457200"/>
                </a:cubicBezTo>
                <a:cubicBezTo>
                  <a:pt x="7202894" y="595031"/>
                  <a:pt x="7111994" y="756925"/>
                  <a:pt x="6969760" y="863600"/>
                </a:cubicBezTo>
                <a:cubicBezTo>
                  <a:pt x="6820747" y="975360"/>
                  <a:pt x="6680674" y="1100159"/>
                  <a:pt x="6522720" y="1198880"/>
                </a:cubicBezTo>
                <a:cubicBezTo>
                  <a:pt x="6194697" y="1403895"/>
                  <a:pt x="6078899" y="1489146"/>
                  <a:pt x="5638800" y="1656080"/>
                </a:cubicBezTo>
                <a:cubicBezTo>
                  <a:pt x="5344160" y="1767840"/>
                  <a:pt x="5059136" y="1909314"/>
                  <a:pt x="4754880" y="1991360"/>
                </a:cubicBezTo>
                <a:lnTo>
                  <a:pt x="3850640" y="2235200"/>
                </a:lnTo>
                <a:lnTo>
                  <a:pt x="3281680" y="2387600"/>
                </a:lnTo>
                <a:lnTo>
                  <a:pt x="2844800" y="2509520"/>
                </a:lnTo>
                <a:cubicBezTo>
                  <a:pt x="2624667" y="2567093"/>
                  <a:pt x="2401376" y="2613721"/>
                  <a:pt x="2184400" y="2682240"/>
                </a:cubicBezTo>
                <a:lnTo>
                  <a:pt x="1991360" y="2743200"/>
                </a:lnTo>
                <a:cubicBezTo>
                  <a:pt x="1852164" y="2789599"/>
                  <a:pt x="1716423" y="2847084"/>
                  <a:pt x="1574800" y="2885440"/>
                </a:cubicBezTo>
                <a:cubicBezTo>
                  <a:pt x="1412240" y="2929467"/>
                  <a:pt x="1251526" y="2980985"/>
                  <a:pt x="1087120" y="3017520"/>
                </a:cubicBezTo>
                <a:lnTo>
                  <a:pt x="904240" y="3058160"/>
                </a:lnTo>
                <a:cubicBezTo>
                  <a:pt x="877028" y="3064440"/>
                  <a:pt x="850578" y="3074337"/>
                  <a:pt x="822960" y="3078480"/>
                </a:cubicBezTo>
                <a:cubicBezTo>
                  <a:pt x="782630" y="3084529"/>
                  <a:pt x="741680" y="3085253"/>
                  <a:pt x="701040" y="3088640"/>
                </a:cubicBezTo>
                <a:cubicBezTo>
                  <a:pt x="223906" y="3048879"/>
                  <a:pt x="457623" y="3058160"/>
                  <a:pt x="0" y="3058160"/>
                </a:cubicBezTo>
              </a:path>
            </a:pathLst>
          </a:custGeom>
          <a:ln w="19050" cap="flat" cmpd="sng" algn="ctr">
            <a:solidFill>
              <a:schemeClr val="accent4"/>
            </a:solidFill>
            <a:prstDash val="solid"/>
            <a:round/>
            <a:headEnd type="arrow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06084662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E094F53A-6361-E94E-5BDE-6B5297C1498E}"/>
              </a:ext>
            </a:extLst>
          </p:cNvPr>
          <p:cNvSpPr txBox="1"/>
          <p:nvPr/>
        </p:nvSpPr>
        <p:spPr>
          <a:xfrm>
            <a:off x="0" y="0"/>
            <a:ext cx="2743200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b="1" dirty="0"/>
              <a:t>forgotPassword.html</a:t>
            </a:r>
          </a:p>
        </p:txBody>
      </p:sp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2B4939D4-239C-5B9C-6BE9-1DAD39EEA367}"/>
              </a:ext>
            </a:extLst>
          </p:cNvPr>
          <p:cNvSpPr/>
          <p:nvPr/>
        </p:nvSpPr>
        <p:spPr>
          <a:xfrm>
            <a:off x="233680" y="539205"/>
            <a:ext cx="5334000" cy="1614715"/>
          </a:xfrm>
          <a:prstGeom prst="roundRect">
            <a:avLst/>
          </a:prstGeom>
          <a:solidFill>
            <a:schemeClr val="accent6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2000" b="1" dirty="0"/>
              <a:t>nav-bar{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000" b="1" dirty="0" err="1"/>
              <a:t>logoBtn</a:t>
            </a:r>
            <a:r>
              <a:rPr lang="en-US" sz="2000" b="1" dirty="0"/>
              <a:t> : (</a:t>
            </a:r>
            <a:r>
              <a:rPr lang="en-US" sz="2000" b="1" dirty="0" err="1"/>
              <a:t>refreshPage</a:t>
            </a:r>
            <a:r>
              <a:rPr lang="en-US" sz="2000" b="1" dirty="0"/>
              <a:t>());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000" b="1" dirty="0" err="1"/>
              <a:t>registerBtn</a:t>
            </a:r>
            <a:r>
              <a:rPr lang="en-US" sz="2000" b="1" dirty="0"/>
              <a:t> : (register.html);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000" b="1" dirty="0" err="1"/>
              <a:t>loginBtn</a:t>
            </a:r>
            <a:r>
              <a:rPr lang="en-US" sz="2000" b="1" dirty="0"/>
              <a:t> : (login.html);</a:t>
            </a:r>
          </a:p>
          <a:p>
            <a:r>
              <a:rPr lang="en-US" sz="2000" b="1" dirty="0"/>
              <a:t>}</a:t>
            </a:r>
          </a:p>
        </p:txBody>
      </p:sp>
      <p:sp>
        <p:nvSpPr>
          <p:cNvPr id="2" name="Rectangle: Rounded Corners 1">
            <a:extLst>
              <a:ext uri="{FF2B5EF4-FFF2-40B4-BE49-F238E27FC236}">
                <a16:creationId xmlns:a16="http://schemas.microsoft.com/office/drawing/2014/main" id="{25DBB9F1-BD8D-42BE-ED68-07E8DD696260}"/>
              </a:ext>
            </a:extLst>
          </p:cNvPr>
          <p:cNvSpPr/>
          <p:nvPr/>
        </p:nvSpPr>
        <p:spPr>
          <a:xfrm>
            <a:off x="233680" y="2293015"/>
            <a:ext cx="6654800" cy="1980838"/>
          </a:xfrm>
          <a:prstGeom prst="roundRect">
            <a:avLst/>
          </a:prstGeom>
          <a:solidFill>
            <a:schemeClr val="accent6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2000" b="1" dirty="0"/>
              <a:t>body{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000" b="1" dirty="0" err="1"/>
              <a:t>backBtn</a:t>
            </a:r>
            <a:r>
              <a:rPr lang="en-US" sz="2000" b="1" dirty="0"/>
              <a:t> : (login.html)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000" b="1" dirty="0"/>
              <a:t>text : “change pass for john doe”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000" b="1" dirty="0"/>
              <a:t>Inputs{},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000" b="1" dirty="0" err="1"/>
              <a:t>changePassword</a:t>
            </a:r>
            <a:r>
              <a:rPr lang="en-US" sz="2000" b="1" dirty="0"/>
              <a:t> (auth) or </a:t>
            </a:r>
            <a:r>
              <a:rPr lang="en-US" sz="2000" b="1" dirty="0" err="1"/>
              <a:t>messageModal</a:t>
            </a:r>
            <a:r>
              <a:rPr lang="en-US" sz="2000" b="1" dirty="0"/>
              <a:t> (err)</a:t>
            </a:r>
          </a:p>
          <a:p>
            <a:r>
              <a:rPr lang="en-US" sz="2000" b="1" dirty="0"/>
              <a:t>}</a:t>
            </a:r>
          </a:p>
        </p:txBody>
      </p:sp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45B83262-B948-FC67-FA7B-956AC65F088C}"/>
              </a:ext>
            </a:extLst>
          </p:cNvPr>
          <p:cNvSpPr/>
          <p:nvPr/>
        </p:nvSpPr>
        <p:spPr>
          <a:xfrm>
            <a:off x="233680" y="4639975"/>
            <a:ext cx="7447280" cy="1980838"/>
          </a:xfrm>
          <a:prstGeom prst="roundRect">
            <a:avLst/>
          </a:prstGeom>
          <a:solidFill>
            <a:schemeClr val="accent6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2000" b="1" dirty="0"/>
              <a:t>If (true){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000" b="1" dirty="0" err="1"/>
              <a:t>messageModal</a:t>
            </a:r>
            <a:r>
              <a:rPr lang="en-US" sz="2000" b="1" dirty="0"/>
              <a:t> (Password Updated Successfully)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000" b="1" dirty="0" err="1"/>
              <a:t>continueBtn</a:t>
            </a:r>
            <a:r>
              <a:rPr lang="en-US" sz="2000" b="1" dirty="0"/>
              <a:t> : (login.html)</a:t>
            </a:r>
          </a:p>
          <a:p>
            <a:r>
              <a:rPr lang="en-US" sz="2000" b="1" dirty="0"/>
              <a:t>}</a:t>
            </a:r>
          </a:p>
        </p:txBody>
      </p:sp>
      <p:cxnSp>
        <p:nvCxnSpPr>
          <p:cNvPr id="9" name="Connector: Curved 8">
            <a:extLst>
              <a:ext uri="{FF2B5EF4-FFF2-40B4-BE49-F238E27FC236}">
                <a16:creationId xmlns:a16="http://schemas.microsoft.com/office/drawing/2014/main" id="{149D236F-336B-E2BB-6854-B27B38D5A3B9}"/>
              </a:ext>
            </a:extLst>
          </p:cNvPr>
          <p:cNvCxnSpPr>
            <a:cxnSpLocks/>
          </p:cNvCxnSpPr>
          <p:nvPr/>
        </p:nvCxnSpPr>
        <p:spPr>
          <a:xfrm rot="10800000" flipV="1">
            <a:off x="1412240" y="3907730"/>
            <a:ext cx="2225040" cy="1273870"/>
          </a:xfrm>
          <a:prstGeom prst="curvedConnector3">
            <a:avLst>
              <a:gd name="adj1" fmla="val -228"/>
            </a:avLst>
          </a:prstGeom>
          <a:ln w="19050" cap="flat" cmpd="sng" algn="ctr">
            <a:solidFill>
              <a:schemeClr val="accent4"/>
            </a:solidFill>
            <a:prstDash val="solid"/>
            <a:round/>
            <a:headEnd type="arrow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sp>
        <p:nvSpPr>
          <p:cNvPr id="11" name="Rectangle: Rounded Corners 10">
            <a:extLst>
              <a:ext uri="{FF2B5EF4-FFF2-40B4-BE49-F238E27FC236}">
                <a16:creationId xmlns:a16="http://schemas.microsoft.com/office/drawing/2014/main" id="{41FA0F74-BC70-8550-7C11-BD9DE1345B59}"/>
              </a:ext>
            </a:extLst>
          </p:cNvPr>
          <p:cNvSpPr/>
          <p:nvPr/>
        </p:nvSpPr>
        <p:spPr>
          <a:xfrm>
            <a:off x="6888480" y="539205"/>
            <a:ext cx="4805680" cy="1980838"/>
          </a:xfrm>
          <a:prstGeom prst="roundRect">
            <a:avLst/>
          </a:prstGeom>
          <a:solidFill>
            <a:schemeClr val="accent6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2000" b="1" dirty="0"/>
              <a:t>Inputs{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000" b="1" dirty="0"/>
              <a:t>Password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000" b="1" dirty="0"/>
              <a:t>Confirm Password</a:t>
            </a:r>
          </a:p>
          <a:p>
            <a:r>
              <a:rPr lang="en-US" sz="2000" b="1" dirty="0"/>
              <a:t>}</a:t>
            </a:r>
          </a:p>
        </p:txBody>
      </p:sp>
      <p:cxnSp>
        <p:nvCxnSpPr>
          <p:cNvPr id="14" name="Connector: Curved 13">
            <a:extLst>
              <a:ext uri="{FF2B5EF4-FFF2-40B4-BE49-F238E27FC236}">
                <a16:creationId xmlns:a16="http://schemas.microsoft.com/office/drawing/2014/main" id="{80784F8F-8A92-01B6-47CF-F2E03E47FBD8}"/>
              </a:ext>
            </a:extLst>
          </p:cNvPr>
          <p:cNvCxnSpPr>
            <a:cxnSpLocks/>
          </p:cNvCxnSpPr>
          <p:nvPr/>
        </p:nvCxnSpPr>
        <p:spPr>
          <a:xfrm rot="10800000" flipV="1">
            <a:off x="2174240" y="1355814"/>
            <a:ext cx="4805680" cy="2073184"/>
          </a:xfrm>
          <a:prstGeom prst="curvedConnector3">
            <a:avLst>
              <a:gd name="adj1" fmla="val -951"/>
            </a:avLst>
          </a:prstGeom>
          <a:ln w="19050" cap="flat" cmpd="sng" algn="ctr">
            <a:solidFill>
              <a:schemeClr val="accent4"/>
            </a:solidFill>
            <a:prstDash val="solid"/>
            <a:round/>
            <a:headEnd type="arrow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582540478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extBox 8">
            <a:extLst>
              <a:ext uri="{FF2B5EF4-FFF2-40B4-BE49-F238E27FC236}">
                <a16:creationId xmlns:a16="http://schemas.microsoft.com/office/drawing/2014/main" id="{FC770D13-D7BF-5BC1-2E30-33E11120A8F2}"/>
              </a:ext>
            </a:extLst>
          </p:cNvPr>
          <p:cNvSpPr txBox="1"/>
          <p:nvPr/>
        </p:nvSpPr>
        <p:spPr>
          <a:xfrm>
            <a:off x="4149899" y="3172508"/>
            <a:ext cx="3670530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4000" b="1" dirty="0"/>
              <a:t>ADMIN</a:t>
            </a:r>
          </a:p>
        </p:txBody>
      </p:sp>
    </p:spTree>
    <p:extLst>
      <p:ext uri="{BB962C8B-B14F-4D97-AF65-F5344CB8AC3E}">
        <p14:creationId xmlns:p14="http://schemas.microsoft.com/office/powerpoint/2010/main" val="1732122993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2B4939D4-239C-5B9C-6BE9-1DAD39EEA367}"/>
              </a:ext>
            </a:extLst>
          </p:cNvPr>
          <p:cNvSpPr/>
          <p:nvPr/>
        </p:nvSpPr>
        <p:spPr>
          <a:xfrm>
            <a:off x="252614" y="502260"/>
            <a:ext cx="5853084" cy="3256940"/>
          </a:xfrm>
          <a:prstGeom prst="roundRect">
            <a:avLst>
              <a:gd name="adj" fmla="val 8726"/>
            </a:avLst>
          </a:prstGeom>
          <a:solidFill>
            <a:schemeClr val="accent6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2000" b="1" dirty="0"/>
              <a:t>nav-bar{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000" b="1" dirty="0" err="1"/>
              <a:t>logoBtn</a:t>
            </a:r>
            <a:r>
              <a:rPr lang="en-US" sz="2000" b="1" dirty="0"/>
              <a:t> : (adminDashboard.html);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endParaRPr lang="en-US" sz="2000" b="1" dirty="0"/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000" b="1" dirty="0"/>
              <a:t>Notification : (</a:t>
            </a:r>
            <a:r>
              <a:rPr lang="en-US" sz="2000" b="1" dirty="0" err="1"/>
              <a:t>modalNotif</a:t>
            </a:r>
            <a:r>
              <a:rPr lang="en-US" sz="2000" b="1" dirty="0"/>
              <a:t>)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000" b="1" dirty="0" err="1"/>
              <a:t>ProfilePic</a:t>
            </a:r>
            <a:r>
              <a:rPr lang="en-US" sz="2000" b="1" dirty="0"/>
              <a:t>{</a:t>
            </a:r>
          </a:p>
          <a:p>
            <a:pPr marL="1257300" lvl="2" indent="-342900">
              <a:buFont typeface="Arial" panose="020B0604020202020204" pitchFamily="34" charset="0"/>
              <a:buChar char="•"/>
            </a:pPr>
            <a:r>
              <a:rPr lang="en-US" sz="2000" b="1" dirty="0"/>
              <a:t>Profile : (adminProfile.html)</a:t>
            </a:r>
          </a:p>
          <a:p>
            <a:pPr marL="1257300" lvl="2" indent="-342900">
              <a:buFont typeface="Arial" panose="020B0604020202020204" pitchFamily="34" charset="0"/>
              <a:buChar char="•"/>
            </a:pPr>
            <a:r>
              <a:rPr lang="en-US" sz="2000" b="1" dirty="0" err="1"/>
              <a:t>Darkmode</a:t>
            </a:r>
            <a:r>
              <a:rPr lang="en-US" sz="2000" b="1" dirty="0"/>
              <a:t> toggle</a:t>
            </a:r>
          </a:p>
          <a:p>
            <a:pPr marL="1257300" lvl="2" indent="-342900">
              <a:buFont typeface="Arial" panose="020B0604020202020204" pitchFamily="34" charset="0"/>
              <a:buChar char="•"/>
            </a:pPr>
            <a:r>
              <a:rPr lang="en-US" sz="2000" b="1" dirty="0"/>
              <a:t>logout</a:t>
            </a:r>
          </a:p>
          <a:p>
            <a:pPr lvl="1"/>
            <a:r>
              <a:rPr lang="en-US" sz="2000" b="1" dirty="0"/>
              <a:t>	}</a:t>
            </a:r>
          </a:p>
          <a:p>
            <a:pPr lvl="1"/>
            <a:r>
              <a:rPr lang="en-US" sz="2000" b="1" dirty="0"/>
              <a:t>}</a:t>
            </a:r>
          </a:p>
        </p:txBody>
      </p:sp>
      <p:sp>
        <p:nvSpPr>
          <p:cNvPr id="2" name="Rectangle: Rounded Corners 1">
            <a:extLst>
              <a:ext uri="{FF2B5EF4-FFF2-40B4-BE49-F238E27FC236}">
                <a16:creationId xmlns:a16="http://schemas.microsoft.com/office/drawing/2014/main" id="{FE390974-8558-DA6F-6031-617A7F4876E4}"/>
              </a:ext>
            </a:extLst>
          </p:cNvPr>
          <p:cNvSpPr/>
          <p:nvPr/>
        </p:nvSpPr>
        <p:spPr>
          <a:xfrm>
            <a:off x="252614" y="4083595"/>
            <a:ext cx="5853084" cy="2272145"/>
          </a:xfrm>
          <a:prstGeom prst="roundRect">
            <a:avLst/>
          </a:prstGeom>
          <a:solidFill>
            <a:schemeClr val="accent6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2000" b="1" dirty="0" err="1"/>
              <a:t>modalNotif</a:t>
            </a:r>
            <a:r>
              <a:rPr lang="en-US" sz="2000" b="1" dirty="0"/>
              <a:t>(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000" b="1" dirty="0" err="1"/>
              <a:t>Notif</a:t>
            </a:r>
            <a:r>
              <a:rPr lang="en-US" sz="2000" b="1" dirty="0"/>
              <a:t>-Category (Cancellation Req, Message)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000" b="1" dirty="0" err="1"/>
              <a:t>senderName</a:t>
            </a:r>
            <a:endParaRPr lang="en-US" sz="2000" b="1" dirty="0"/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000" b="1" dirty="0"/>
              <a:t>Date and time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000" b="1" dirty="0"/>
              <a:t>Message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000" b="1" dirty="0"/>
              <a:t>If (Cancel Request ? toggle </a:t>
            </a:r>
            <a:r>
              <a:rPr lang="en-US" sz="2000" b="1" dirty="0" err="1"/>
              <a:t>btnApproval</a:t>
            </a:r>
            <a:r>
              <a:rPr lang="en-US" sz="2000" b="1" dirty="0"/>
              <a:t>)</a:t>
            </a:r>
          </a:p>
          <a:p>
            <a:r>
              <a:rPr lang="en-US" sz="2000" b="1" dirty="0"/>
              <a:t>)</a:t>
            </a:r>
          </a:p>
        </p:txBody>
      </p:sp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C4F9E9BD-FF05-2483-CCF3-4EB48DF5692D}"/>
              </a:ext>
            </a:extLst>
          </p:cNvPr>
          <p:cNvSpPr/>
          <p:nvPr/>
        </p:nvSpPr>
        <p:spPr>
          <a:xfrm>
            <a:off x="6338916" y="770675"/>
            <a:ext cx="5853084" cy="3154780"/>
          </a:xfrm>
          <a:prstGeom prst="roundRect">
            <a:avLst>
              <a:gd name="adj" fmla="val 8857"/>
            </a:avLst>
          </a:prstGeom>
          <a:solidFill>
            <a:schemeClr val="accent6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2000" b="1" dirty="0"/>
              <a:t>sidebar{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000" b="1" dirty="0"/>
              <a:t>Maintenance{</a:t>
            </a:r>
          </a:p>
          <a:p>
            <a:pPr marL="1257300" lvl="2" indent="-342900">
              <a:buFont typeface="Arial" panose="020B0604020202020204" pitchFamily="34" charset="0"/>
              <a:buChar char="•"/>
            </a:pPr>
            <a:r>
              <a:rPr lang="en-US" sz="2000" b="1" dirty="0"/>
              <a:t>adminProperty.html</a:t>
            </a:r>
          </a:p>
          <a:p>
            <a:pPr marL="1257300" lvl="2" indent="-342900">
              <a:buFont typeface="Arial" panose="020B0604020202020204" pitchFamily="34" charset="0"/>
              <a:buChar char="•"/>
            </a:pPr>
            <a:r>
              <a:rPr lang="en-US" sz="2000" b="1" dirty="0"/>
              <a:t>adminEmpoyee.html</a:t>
            </a:r>
          </a:p>
          <a:p>
            <a:pPr marL="1257300" lvl="2" indent="-342900">
              <a:buFont typeface="Arial" panose="020B0604020202020204" pitchFamily="34" charset="0"/>
              <a:buChar char="•"/>
            </a:pPr>
            <a:r>
              <a:rPr lang="en-US" sz="2000" b="1" dirty="0"/>
              <a:t>adminFAQs.html</a:t>
            </a:r>
          </a:p>
          <a:p>
            <a:pPr marL="1257300" lvl="2" indent="-342900">
              <a:buFont typeface="Arial" panose="020B0604020202020204" pitchFamily="34" charset="0"/>
              <a:buChar char="•"/>
            </a:pPr>
            <a:r>
              <a:rPr lang="en-US" sz="2000" b="1" dirty="0"/>
              <a:t>adminLandingPage.html</a:t>
            </a:r>
          </a:p>
          <a:p>
            <a:pPr marL="1257300" lvl="2" indent="-342900">
              <a:buFont typeface="Arial" panose="020B0604020202020204" pitchFamily="34" charset="0"/>
              <a:buChar char="•"/>
            </a:pPr>
            <a:r>
              <a:rPr lang="en-US" sz="2000" b="1" dirty="0"/>
              <a:t>adminPayment.html</a:t>
            </a:r>
          </a:p>
          <a:p>
            <a:pPr lvl="1"/>
            <a:r>
              <a:rPr lang="en-US" sz="2000" b="1" dirty="0"/>
              <a:t>}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000" b="1" dirty="0"/>
              <a:t>AuditTrails.html</a:t>
            </a:r>
          </a:p>
          <a:p>
            <a:r>
              <a:rPr lang="en-US" sz="2000" b="1" dirty="0"/>
              <a:t>}</a:t>
            </a:r>
          </a:p>
        </p:txBody>
      </p:sp>
      <p:cxnSp>
        <p:nvCxnSpPr>
          <p:cNvPr id="7" name="Connector: Curved 6">
            <a:extLst>
              <a:ext uri="{FF2B5EF4-FFF2-40B4-BE49-F238E27FC236}">
                <a16:creationId xmlns:a16="http://schemas.microsoft.com/office/drawing/2014/main" id="{D94A55A5-4240-A486-7635-1AE372F55C6A}"/>
              </a:ext>
            </a:extLst>
          </p:cNvPr>
          <p:cNvCxnSpPr>
            <a:cxnSpLocks/>
          </p:cNvCxnSpPr>
          <p:nvPr/>
        </p:nvCxnSpPr>
        <p:spPr>
          <a:xfrm rot="5400000">
            <a:off x="-651163" y="2951018"/>
            <a:ext cx="2669309" cy="461818"/>
          </a:xfrm>
          <a:prstGeom prst="curvedConnector3">
            <a:avLst>
              <a:gd name="adj1" fmla="val 173"/>
            </a:avLst>
          </a:prstGeom>
          <a:ln w="19050" cap="flat" cmpd="sng" algn="ctr">
            <a:solidFill>
              <a:schemeClr val="accent4"/>
            </a:solidFill>
            <a:prstDash val="solid"/>
            <a:round/>
            <a:headEnd type="arrow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sp>
        <p:nvSpPr>
          <p:cNvPr id="9" name="TextBox 8">
            <a:extLst>
              <a:ext uri="{FF2B5EF4-FFF2-40B4-BE49-F238E27FC236}">
                <a16:creationId xmlns:a16="http://schemas.microsoft.com/office/drawing/2014/main" id="{FC770D13-D7BF-5BC1-2E30-33E11120A8F2}"/>
              </a:ext>
            </a:extLst>
          </p:cNvPr>
          <p:cNvSpPr txBox="1"/>
          <p:nvPr/>
        </p:nvSpPr>
        <p:spPr>
          <a:xfrm>
            <a:off x="8398626" y="5906472"/>
            <a:ext cx="3670530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2000" b="1" dirty="0"/>
              <a:t>This is reusable for every page in Admin User Level</a:t>
            </a:r>
          </a:p>
        </p:txBody>
      </p:sp>
      <p:sp>
        <p:nvSpPr>
          <p:cNvPr id="11" name="Rectangle: Rounded Corners 10">
            <a:extLst>
              <a:ext uri="{FF2B5EF4-FFF2-40B4-BE49-F238E27FC236}">
                <a16:creationId xmlns:a16="http://schemas.microsoft.com/office/drawing/2014/main" id="{89613BEA-A259-E894-4EAD-BCBDC04FD512}"/>
              </a:ext>
            </a:extLst>
          </p:cNvPr>
          <p:cNvSpPr/>
          <p:nvPr/>
        </p:nvSpPr>
        <p:spPr>
          <a:xfrm>
            <a:off x="6338916" y="4212904"/>
            <a:ext cx="2842029" cy="1596769"/>
          </a:xfrm>
          <a:prstGeom prst="roundRect">
            <a:avLst/>
          </a:prstGeom>
          <a:solidFill>
            <a:schemeClr val="accent6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2000" b="1" dirty="0" err="1"/>
              <a:t>btnApproval</a:t>
            </a:r>
            <a:r>
              <a:rPr lang="en-US" sz="2000" b="1" dirty="0"/>
              <a:t>(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000" b="1" dirty="0"/>
              <a:t>Approve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000" b="1" dirty="0"/>
              <a:t>Reject</a:t>
            </a:r>
          </a:p>
          <a:p>
            <a:r>
              <a:rPr lang="en-US" sz="2000" b="1" dirty="0"/>
              <a:t>)</a:t>
            </a:r>
          </a:p>
        </p:txBody>
      </p:sp>
      <p:cxnSp>
        <p:nvCxnSpPr>
          <p:cNvPr id="12" name="Connector: Curved 11">
            <a:extLst>
              <a:ext uri="{FF2B5EF4-FFF2-40B4-BE49-F238E27FC236}">
                <a16:creationId xmlns:a16="http://schemas.microsoft.com/office/drawing/2014/main" id="{D845947E-A000-18B2-E6E4-DD70640DF334}"/>
              </a:ext>
            </a:extLst>
          </p:cNvPr>
          <p:cNvCxnSpPr>
            <a:cxnSpLocks/>
          </p:cNvCxnSpPr>
          <p:nvPr/>
        </p:nvCxnSpPr>
        <p:spPr>
          <a:xfrm rot="10800000" flipV="1">
            <a:off x="4701310" y="4668985"/>
            <a:ext cx="1756761" cy="891305"/>
          </a:xfrm>
          <a:prstGeom prst="curvedConnector3">
            <a:avLst>
              <a:gd name="adj1" fmla="val 99947"/>
            </a:avLst>
          </a:prstGeom>
          <a:ln w="19050" cap="flat" cmpd="sng" algn="ctr">
            <a:solidFill>
              <a:schemeClr val="accent4"/>
            </a:solidFill>
            <a:prstDash val="solid"/>
            <a:round/>
            <a:headEnd type="arrow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133858255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E094F53A-6361-E94E-5BDE-6B5297C1498E}"/>
              </a:ext>
            </a:extLst>
          </p:cNvPr>
          <p:cNvSpPr txBox="1"/>
          <p:nvPr/>
        </p:nvSpPr>
        <p:spPr>
          <a:xfrm>
            <a:off x="0" y="0"/>
            <a:ext cx="2955636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b="1" dirty="0"/>
              <a:t>adminDashboard.html</a:t>
            </a:r>
          </a:p>
        </p:txBody>
      </p:sp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F9ACFF90-048F-320A-A752-8D1492FAD30F}"/>
              </a:ext>
            </a:extLst>
          </p:cNvPr>
          <p:cNvSpPr/>
          <p:nvPr/>
        </p:nvSpPr>
        <p:spPr>
          <a:xfrm>
            <a:off x="2546003" y="627237"/>
            <a:ext cx="7099993" cy="5603526"/>
          </a:xfrm>
          <a:prstGeom prst="roundRect">
            <a:avLst>
              <a:gd name="adj" fmla="val 8920"/>
            </a:avLst>
          </a:prstGeom>
          <a:solidFill>
            <a:schemeClr val="accent6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2000" b="1" dirty="0"/>
              <a:t>Dashboard{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000" b="1" dirty="0"/>
              <a:t>Summary{</a:t>
            </a:r>
          </a:p>
          <a:p>
            <a:pPr marL="1257300" lvl="2" indent="-342900">
              <a:buFont typeface="Arial" panose="020B0604020202020204" pitchFamily="34" charset="0"/>
              <a:buChar char="•"/>
            </a:pPr>
            <a:r>
              <a:rPr lang="en-US" sz="2000" b="1" dirty="0"/>
              <a:t>Total Earnings This Month,</a:t>
            </a:r>
          </a:p>
          <a:p>
            <a:pPr marL="1257300" lvl="2" indent="-342900">
              <a:buFont typeface="Arial" panose="020B0604020202020204" pitchFamily="34" charset="0"/>
              <a:buChar char="•"/>
            </a:pPr>
            <a:r>
              <a:rPr lang="en-US" sz="2000" b="1" dirty="0"/>
              <a:t>This Year</a:t>
            </a:r>
          </a:p>
          <a:p>
            <a:pPr marL="1257300" lvl="2" indent="-342900">
              <a:buFont typeface="Arial" panose="020B0604020202020204" pitchFamily="34" charset="0"/>
              <a:buChar char="•"/>
            </a:pPr>
            <a:r>
              <a:rPr lang="en-US" sz="2000" b="1" dirty="0"/>
              <a:t>This Week</a:t>
            </a:r>
          </a:p>
          <a:p>
            <a:pPr lvl="1"/>
            <a:r>
              <a:rPr lang="en-US" sz="2000" b="1" dirty="0"/>
              <a:t>}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000" b="1" dirty="0" err="1"/>
              <a:t>TopPropertyByEaningsGraph</a:t>
            </a:r>
            <a:r>
              <a:rPr lang="en-US" sz="2000" b="1" dirty="0"/>
              <a:t>{</a:t>
            </a:r>
          </a:p>
          <a:p>
            <a:pPr marL="1257300" lvl="2" indent="-342900">
              <a:buFont typeface="Arial" panose="020B0604020202020204" pitchFamily="34" charset="0"/>
              <a:buChar char="•"/>
            </a:pPr>
            <a:r>
              <a:rPr lang="en-US" sz="2000" b="1" dirty="0"/>
              <a:t>Input (</a:t>
            </a:r>
            <a:r>
              <a:rPr lang="en-US" sz="2000" b="1" dirty="0" err="1"/>
              <a:t>SelectMonth</a:t>
            </a:r>
            <a:r>
              <a:rPr lang="en-US" sz="2000" b="1" dirty="0"/>
              <a:t>, </a:t>
            </a:r>
            <a:r>
              <a:rPr lang="en-US" sz="2000" b="1" dirty="0" err="1"/>
              <a:t>SelectYear</a:t>
            </a:r>
            <a:r>
              <a:rPr lang="en-US" sz="2000" b="1" dirty="0"/>
              <a:t>)</a:t>
            </a:r>
          </a:p>
          <a:p>
            <a:pPr marL="1257300" lvl="2" indent="-342900">
              <a:buFont typeface="Arial" panose="020B0604020202020204" pitchFamily="34" charset="0"/>
              <a:buChar char="•"/>
            </a:pPr>
            <a:r>
              <a:rPr lang="en-US" sz="2000" b="1" dirty="0"/>
              <a:t>Graph (any)</a:t>
            </a:r>
          </a:p>
          <a:p>
            <a:pPr marL="1257300" lvl="2" indent="-342900">
              <a:buFont typeface="Arial" panose="020B0604020202020204" pitchFamily="34" charset="0"/>
              <a:buChar char="•"/>
            </a:pPr>
            <a:r>
              <a:rPr lang="en-US" sz="2000" b="1" dirty="0"/>
              <a:t>Total </a:t>
            </a:r>
          </a:p>
          <a:p>
            <a:pPr lvl="1"/>
            <a:r>
              <a:rPr lang="en-US" sz="2000" b="1" dirty="0"/>
              <a:t>}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000" b="1" dirty="0" err="1"/>
              <a:t>auditTrailsSummary</a:t>
            </a:r>
            <a:r>
              <a:rPr lang="en-US" sz="2000" b="1" dirty="0"/>
              <a:t>{</a:t>
            </a:r>
          </a:p>
          <a:p>
            <a:pPr marL="1257300" lvl="2" indent="-342900">
              <a:buFont typeface="Arial" panose="020B0604020202020204" pitchFamily="34" charset="0"/>
              <a:buChar char="•"/>
            </a:pPr>
            <a:r>
              <a:rPr lang="en-US" sz="2000" b="1" dirty="0"/>
              <a:t>List at least 5 </a:t>
            </a:r>
          </a:p>
          <a:p>
            <a:pPr marL="1257300" lvl="2" indent="-342900">
              <a:buFont typeface="Arial" panose="020B0604020202020204" pitchFamily="34" charset="0"/>
              <a:buChar char="•"/>
            </a:pPr>
            <a:r>
              <a:rPr lang="en-US" sz="2000" b="1" dirty="0"/>
              <a:t>Toggle(Admin, Employees or Guest)</a:t>
            </a:r>
          </a:p>
          <a:p>
            <a:pPr marL="1257300" lvl="2" indent="-342900">
              <a:buFont typeface="Arial" panose="020B0604020202020204" pitchFamily="34" charset="0"/>
              <a:buChar char="•"/>
            </a:pPr>
            <a:r>
              <a:rPr lang="en-US" sz="2000" b="1" dirty="0"/>
              <a:t>Table(Ref No., Date &amp; Time, Name, Activity)</a:t>
            </a:r>
          </a:p>
          <a:p>
            <a:pPr lvl="1"/>
            <a:r>
              <a:rPr lang="en-US" sz="2000" b="1" dirty="0"/>
              <a:t>}</a:t>
            </a:r>
          </a:p>
          <a:p>
            <a:r>
              <a:rPr lang="en-US" sz="2000" b="1" dirty="0"/>
              <a:t>}</a:t>
            </a:r>
          </a:p>
        </p:txBody>
      </p:sp>
    </p:spTree>
    <p:extLst>
      <p:ext uri="{BB962C8B-B14F-4D97-AF65-F5344CB8AC3E}">
        <p14:creationId xmlns:p14="http://schemas.microsoft.com/office/powerpoint/2010/main" val="5441053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E094F53A-6361-E94E-5BDE-6B5297C1498E}"/>
              </a:ext>
            </a:extLst>
          </p:cNvPr>
          <p:cNvSpPr txBox="1"/>
          <p:nvPr/>
        </p:nvSpPr>
        <p:spPr>
          <a:xfrm>
            <a:off x="0" y="0"/>
            <a:ext cx="2955636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b="1" dirty="0"/>
              <a:t>adminProfile.html</a:t>
            </a:r>
          </a:p>
        </p:txBody>
      </p:sp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F9ACFF90-048F-320A-A752-8D1492FAD30F}"/>
              </a:ext>
            </a:extLst>
          </p:cNvPr>
          <p:cNvSpPr/>
          <p:nvPr/>
        </p:nvSpPr>
        <p:spPr>
          <a:xfrm>
            <a:off x="2929312" y="1064073"/>
            <a:ext cx="6333375" cy="4729854"/>
          </a:xfrm>
          <a:prstGeom prst="roundRect">
            <a:avLst/>
          </a:prstGeom>
          <a:solidFill>
            <a:schemeClr val="accent6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2000" b="1" dirty="0"/>
              <a:t>Profile{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000" b="1" dirty="0" err="1"/>
              <a:t>EditBtn</a:t>
            </a:r>
            <a:r>
              <a:rPr lang="en-US" sz="2000" b="1" dirty="0"/>
              <a:t> : (adminEditProfile.html)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000" b="1" dirty="0"/>
              <a:t>Profile Picture (onclick (</a:t>
            </a:r>
            <a:r>
              <a:rPr lang="en-US" sz="2000" b="1" dirty="0" err="1"/>
              <a:t>ZoomModal</a:t>
            </a:r>
            <a:r>
              <a:rPr lang="en-US" sz="2000" b="1" dirty="0"/>
              <a:t>))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000" b="1" dirty="0"/>
              <a:t>Full Name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000" b="1" dirty="0"/>
              <a:t>Email</a:t>
            </a:r>
          </a:p>
          <a:p>
            <a:r>
              <a:rPr lang="en-US" sz="2000" b="1" dirty="0"/>
              <a:t>}</a:t>
            </a:r>
          </a:p>
        </p:txBody>
      </p:sp>
    </p:spTree>
    <p:extLst>
      <p:ext uri="{BB962C8B-B14F-4D97-AF65-F5344CB8AC3E}">
        <p14:creationId xmlns:p14="http://schemas.microsoft.com/office/powerpoint/2010/main" val="3833428724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E094F53A-6361-E94E-5BDE-6B5297C1498E}"/>
              </a:ext>
            </a:extLst>
          </p:cNvPr>
          <p:cNvSpPr txBox="1"/>
          <p:nvPr/>
        </p:nvSpPr>
        <p:spPr>
          <a:xfrm>
            <a:off x="0" y="0"/>
            <a:ext cx="2955636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b="1" dirty="0"/>
              <a:t>adminEditProfile.html</a:t>
            </a:r>
          </a:p>
        </p:txBody>
      </p:sp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F9ACFF90-048F-320A-A752-8D1492FAD30F}"/>
              </a:ext>
            </a:extLst>
          </p:cNvPr>
          <p:cNvSpPr/>
          <p:nvPr/>
        </p:nvSpPr>
        <p:spPr>
          <a:xfrm>
            <a:off x="1396075" y="331673"/>
            <a:ext cx="9399849" cy="6194654"/>
          </a:xfrm>
          <a:prstGeom prst="roundRect">
            <a:avLst>
              <a:gd name="adj" fmla="val 8914"/>
            </a:avLst>
          </a:prstGeom>
          <a:solidFill>
            <a:schemeClr val="accent6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2000" b="1" dirty="0" err="1"/>
              <a:t>EditProfileDetails</a:t>
            </a:r>
            <a:r>
              <a:rPr lang="en-US" sz="2000" b="1" dirty="0"/>
              <a:t>{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000" b="1" dirty="0"/>
              <a:t>Auto-fill inputs{</a:t>
            </a:r>
          </a:p>
          <a:p>
            <a:pPr marL="1257300" lvl="2" indent="-342900">
              <a:buFont typeface="Arial" panose="020B0604020202020204" pitchFamily="34" charset="0"/>
              <a:buChar char="•"/>
            </a:pPr>
            <a:r>
              <a:rPr lang="en-US" sz="2000" b="1" dirty="0" err="1"/>
              <a:t>ProfilePictureBtn</a:t>
            </a:r>
            <a:r>
              <a:rPr lang="en-US" sz="2000" b="1" dirty="0"/>
              <a:t> (Upload)</a:t>
            </a:r>
          </a:p>
          <a:p>
            <a:pPr marL="1257300" lvl="2" indent="-342900">
              <a:buFont typeface="Arial" panose="020B0604020202020204" pitchFamily="34" charset="0"/>
              <a:buChar char="•"/>
            </a:pPr>
            <a:r>
              <a:rPr lang="en-US" sz="2000" b="1" dirty="0"/>
              <a:t>Full Name Input</a:t>
            </a:r>
          </a:p>
          <a:p>
            <a:pPr marL="1257300" lvl="2" indent="-342900">
              <a:buFont typeface="Arial" panose="020B0604020202020204" pitchFamily="34" charset="0"/>
              <a:buChar char="•"/>
            </a:pPr>
            <a:r>
              <a:rPr lang="en-US" sz="2000" b="1" dirty="0"/>
              <a:t>Email input</a:t>
            </a:r>
          </a:p>
          <a:p>
            <a:pPr lvl="1"/>
            <a:r>
              <a:rPr lang="en-US" sz="2000" b="1" dirty="0"/>
              <a:t>}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000" b="1" dirty="0" err="1"/>
              <a:t>editPasswordBtn</a:t>
            </a:r>
            <a:r>
              <a:rPr lang="en-US" sz="2000" b="1" dirty="0"/>
              <a:t>{</a:t>
            </a:r>
          </a:p>
          <a:p>
            <a:pPr marL="1257300" lvl="2" indent="-342900">
              <a:buFont typeface="Arial" panose="020B0604020202020204" pitchFamily="34" charset="0"/>
              <a:buChar char="•"/>
            </a:pPr>
            <a:r>
              <a:rPr lang="en-US" sz="2000" b="1" dirty="0" err="1"/>
              <a:t>modalEditPassword</a:t>
            </a:r>
            <a:r>
              <a:rPr lang="en-US" sz="2000" b="1" dirty="0"/>
              <a:t>(</a:t>
            </a:r>
          </a:p>
          <a:p>
            <a:pPr marL="1714500" lvl="3" indent="-342900">
              <a:buFont typeface="Arial" panose="020B0604020202020204" pitchFamily="34" charset="0"/>
              <a:buChar char="•"/>
            </a:pPr>
            <a:r>
              <a:rPr lang="en-US" sz="2000" b="1" dirty="0" err="1"/>
              <a:t>CurrentPasword</a:t>
            </a:r>
            <a:endParaRPr lang="en-US" sz="2000" b="1" dirty="0"/>
          </a:p>
          <a:p>
            <a:pPr marL="1714500" lvl="3" indent="-342900">
              <a:buFont typeface="Arial" panose="020B0604020202020204" pitchFamily="34" charset="0"/>
              <a:buChar char="•"/>
            </a:pPr>
            <a:r>
              <a:rPr lang="en-US" sz="2000" b="1" dirty="0"/>
              <a:t>Enter New Password</a:t>
            </a:r>
          </a:p>
          <a:p>
            <a:pPr marL="1714500" lvl="3" indent="-342900">
              <a:buFont typeface="Arial" panose="020B0604020202020204" pitchFamily="34" charset="0"/>
              <a:buChar char="•"/>
            </a:pPr>
            <a:r>
              <a:rPr lang="en-US" sz="2000" b="1" dirty="0"/>
              <a:t>Confirm Password</a:t>
            </a:r>
          </a:p>
          <a:p>
            <a:pPr marL="1714500" lvl="3" indent="-342900">
              <a:buFont typeface="Arial" panose="020B0604020202020204" pitchFamily="34" charset="0"/>
              <a:buChar char="•"/>
            </a:pPr>
            <a:r>
              <a:rPr lang="en-US" sz="2000" b="1" dirty="0" err="1"/>
              <a:t>forgotPasswordBtn</a:t>
            </a:r>
            <a:r>
              <a:rPr lang="en-US" sz="2000" b="1" dirty="0"/>
              <a:t> : forgotPassword.html</a:t>
            </a:r>
          </a:p>
          <a:p>
            <a:pPr marL="1714500" lvl="3" indent="-342900">
              <a:buFont typeface="Arial" panose="020B0604020202020204" pitchFamily="34" charset="0"/>
              <a:buChar char="•"/>
            </a:pPr>
            <a:r>
              <a:rPr lang="en-US" sz="2000" b="1" dirty="0" err="1"/>
              <a:t>Btnconfirm</a:t>
            </a:r>
            <a:r>
              <a:rPr lang="en-US" sz="2000" b="1" dirty="0"/>
              <a:t>(API update password)</a:t>
            </a:r>
          </a:p>
          <a:p>
            <a:pPr lvl="2"/>
            <a:r>
              <a:rPr lang="en-US" sz="2000" b="1" dirty="0"/>
              <a:t>)</a:t>
            </a:r>
          </a:p>
          <a:p>
            <a:pPr lvl="1"/>
            <a:r>
              <a:rPr lang="en-US" sz="2000" b="1" dirty="0"/>
              <a:t>}</a:t>
            </a:r>
          </a:p>
          <a:p>
            <a:pPr lvl="1"/>
            <a:r>
              <a:rPr lang="en-US" sz="2000" b="1" dirty="0" err="1"/>
              <a:t>Btn</a:t>
            </a:r>
            <a:r>
              <a:rPr lang="en-US" sz="2000" b="1" dirty="0"/>
              <a:t> (Cancel, Update) : message if successful, then go back to Profile</a:t>
            </a:r>
          </a:p>
          <a:p>
            <a:r>
              <a:rPr lang="en-US" sz="2000" b="1" dirty="0"/>
              <a:t>}</a:t>
            </a:r>
          </a:p>
        </p:txBody>
      </p:sp>
    </p:spTree>
    <p:extLst>
      <p:ext uri="{BB962C8B-B14F-4D97-AF65-F5344CB8AC3E}">
        <p14:creationId xmlns:p14="http://schemas.microsoft.com/office/powerpoint/2010/main" val="1755253259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E094F53A-6361-E94E-5BDE-6B5297C1498E}"/>
              </a:ext>
            </a:extLst>
          </p:cNvPr>
          <p:cNvSpPr txBox="1"/>
          <p:nvPr/>
        </p:nvSpPr>
        <p:spPr>
          <a:xfrm>
            <a:off x="0" y="0"/>
            <a:ext cx="2955636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b="1" dirty="0"/>
              <a:t>adminProperty.html</a:t>
            </a:r>
          </a:p>
        </p:txBody>
      </p:sp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F9ACFF90-048F-320A-A752-8D1492FAD30F}"/>
              </a:ext>
            </a:extLst>
          </p:cNvPr>
          <p:cNvSpPr/>
          <p:nvPr/>
        </p:nvSpPr>
        <p:spPr>
          <a:xfrm>
            <a:off x="1718656" y="1895763"/>
            <a:ext cx="8754688" cy="3066473"/>
          </a:xfrm>
          <a:prstGeom prst="roundRect">
            <a:avLst/>
          </a:prstGeom>
          <a:solidFill>
            <a:schemeClr val="accent6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2000" b="1" dirty="0"/>
              <a:t>{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000" b="1" dirty="0" err="1"/>
              <a:t>AddProperty</a:t>
            </a:r>
            <a:r>
              <a:rPr lang="en-US" sz="2000" b="1" dirty="0"/>
              <a:t> (adminAddProperty.html)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000" b="1" dirty="0"/>
              <a:t>Search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000" b="1" dirty="0" err="1"/>
              <a:t>PropertyLists</a:t>
            </a:r>
            <a:r>
              <a:rPr lang="en-US" sz="2000" b="1" dirty="0"/>
              <a:t> in Table or cards (Name, Address, </a:t>
            </a:r>
            <a:r>
              <a:rPr lang="en-US" sz="2000" b="1" dirty="0" err="1"/>
              <a:t>MaxCapacity</a:t>
            </a:r>
            <a:r>
              <a:rPr lang="en-US" sz="2000" b="1" dirty="0"/>
              <a:t>, Price, Price per Pax, Status, </a:t>
            </a:r>
            <a:r>
              <a:rPr lang="en-US" sz="2000" b="1" dirty="0" err="1"/>
              <a:t>ViewDetailsBtn</a:t>
            </a:r>
            <a:r>
              <a:rPr lang="en-US" sz="2000" b="1" dirty="0"/>
              <a:t>(adminViewProperty.html), # of reports </a:t>
            </a:r>
            <a:r>
              <a:rPr lang="en-US" sz="2000" b="1" dirty="0">
                <a:solidFill>
                  <a:srgbClr val="FF0000"/>
                </a:solidFill>
              </a:rPr>
              <a:t>badge</a:t>
            </a:r>
            <a:r>
              <a:rPr lang="en-US" sz="2000" b="1" dirty="0"/>
              <a:t>)</a:t>
            </a:r>
          </a:p>
          <a:p>
            <a:r>
              <a:rPr lang="en-US" sz="2000" b="1" dirty="0"/>
              <a:t>}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3CC03A7F-25C2-6392-D1D3-EA60AD97089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10586" y="5070764"/>
            <a:ext cx="1645050" cy="1588969"/>
          </a:xfrm>
          <a:prstGeom prst="rect">
            <a:avLst/>
          </a:prstGeom>
        </p:spPr>
      </p:pic>
      <p:cxnSp>
        <p:nvCxnSpPr>
          <p:cNvPr id="7" name="Connector: Curved 6">
            <a:extLst>
              <a:ext uri="{FF2B5EF4-FFF2-40B4-BE49-F238E27FC236}">
                <a16:creationId xmlns:a16="http://schemas.microsoft.com/office/drawing/2014/main" id="{6C138DD5-86A7-9683-C8A7-DD49145591A5}"/>
              </a:ext>
            </a:extLst>
          </p:cNvPr>
          <p:cNvCxnSpPr/>
          <p:nvPr/>
        </p:nvCxnSpPr>
        <p:spPr>
          <a:xfrm rot="10800000" flipV="1">
            <a:off x="2955636" y="4193309"/>
            <a:ext cx="1625600" cy="1163782"/>
          </a:xfrm>
          <a:prstGeom prst="curvedConnector3">
            <a:avLst>
              <a:gd name="adj1" fmla="val 568"/>
            </a:avLst>
          </a:prstGeom>
          <a:ln w="19050" cap="flat" cmpd="sng" algn="ctr">
            <a:solidFill>
              <a:schemeClr val="accent4"/>
            </a:solidFill>
            <a:prstDash val="solid"/>
            <a:round/>
            <a:headEnd type="arrow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sp>
        <p:nvSpPr>
          <p:cNvPr id="10" name="TextBox 9">
            <a:extLst>
              <a:ext uri="{FF2B5EF4-FFF2-40B4-BE49-F238E27FC236}">
                <a16:creationId xmlns:a16="http://schemas.microsoft.com/office/drawing/2014/main" id="{55592D73-A0E7-05E6-1326-D208E69DB33F}"/>
              </a:ext>
            </a:extLst>
          </p:cNvPr>
          <p:cNvSpPr txBox="1"/>
          <p:nvPr/>
        </p:nvSpPr>
        <p:spPr>
          <a:xfrm>
            <a:off x="3031837" y="5542082"/>
            <a:ext cx="6906490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Small red circle—that appears in the corner of an icon  to indicate a count of unsolved reports</a:t>
            </a:r>
          </a:p>
        </p:txBody>
      </p:sp>
    </p:spTree>
    <p:extLst>
      <p:ext uri="{BB962C8B-B14F-4D97-AF65-F5344CB8AC3E}">
        <p14:creationId xmlns:p14="http://schemas.microsoft.com/office/powerpoint/2010/main" val="2172945615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E094F53A-6361-E94E-5BDE-6B5297C1498E}"/>
              </a:ext>
            </a:extLst>
          </p:cNvPr>
          <p:cNvSpPr txBox="1"/>
          <p:nvPr/>
        </p:nvSpPr>
        <p:spPr>
          <a:xfrm>
            <a:off x="-1" y="0"/>
            <a:ext cx="3519055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b="1" dirty="0"/>
              <a:t>adminViewProperty.html</a:t>
            </a:r>
          </a:p>
        </p:txBody>
      </p:sp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F9ACFF90-048F-320A-A752-8D1492FAD30F}"/>
              </a:ext>
            </a:extLst>
          </p:cNvPr>
          <p:cNvSpPr/>
          <p:nvPr/>
        </p:nvSpPr>
        <p:spPr>
          <a:xfrm>
            <a:off x="74582" y="400111"/>
            <a:ext cx="7646325" cy="6194654"/>
          </a:xfrm>
          <a:prstGeom prst="roundRect">
            <a:avLst>
              <a:gd name="adj" fmla="val 4031"/>
            </a:avLst>
          </a:prstGeom>
          <a:solidFill>
            <a:schemeClr val="accent6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600" b="1" dirty="0"/>
              <a:t>{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1600" b="1" dirty="0"/>
              <a:t>Property Details {</a:t>
            </a:r>
          </a:p>
          <a:p>
            <a:pPr marL="1257300" lvl="2" indent="-342900">
              <a:buFont typeface="Arial" panose="020B0604020202020204" pitchFamily="34" charset="0"/>
              <a:buChar char="•"/>
            </a:pPr>
            <a:r>
              <a:rPr lang="en-US" sz="1600" b="1" dirty="0"/>
              <a:t>Photos</a:t>
            </a:r>
          </a:p>
          <a:p>
            <a:pPr marL="1257300" lvl="2" indent="-342900">
              <a:buFont typeface="Arial" panose="020B0604020202020204" pitchFamily="34" charset="0"/>
              <a:buChar char="•"/>
            </a:pPr>
            <a:r>
              <a:rPr lang="en-US" sz="1600" b="1" dirty="0"/>
              <a:t>Name</a:t>
            </a:r>
          </a:p>
          <a:p>
            <a:pPr marL="1257300" lvl="2" indent="-342900">
              <a:buFont typeface="Arial" panose="020B0604020202020204" pitchFamily="34" charset="0"/>
              <a:buChar char="•"/>
            </a:pPr>
            <a:r>
              <a:rPr lang="en-US" sz="1600" b="1" dirty="0"/>
              <a:t>Address</a:t>
            </a:r>
          </a:p>
          <a:p>
            <a:pPr marL="1257300" lvl="2" indent="-342900">
              <a:buFont typeface="Arial" panose="020B0604020202020204" pitchFamily="34" charset="0"/>
              <a:buChar char="•"/>
            </a:pPr>
            <a:r>
              <a:rPr lang="en-US" sz="1600" b="1" dirty="0"/>
              <a:t>Display Map Link</a:t>
            </a:r>
          </a:p>
          <a:p>
            <a:pPr marL="1257300" lvl="2" indent="-342900">
              <a:buFont typeface="Arial" panose="020B0604020202020204" pitchFamily="34" charset="0"/>
              <a:buChar char="•"/>
            </a:pPr>
            <a:r>
              <a:rPr lang="en-US" sz="1600" b="1" dirty="0"/>
              <a:t>City</a:t>
            </a:r>
          </a:p>
          <a:p>
            <a:pPr marL="1257300" lvl="2" indent="-342900">
              <a:buFont typeface="Arial" panose="020B0604020202020204" pitchFamily="34" charset="0"/>
              <a:buChar char="•"/>
            </a:pPr>
            <a:r>
              <a:rPr lang="en-US" sz="1600" b="1" dirty="0"/>
              <a:t>Description</a:t>
            </a:r>
          </a:p>
          <a:p>
            <a:pPr marL="1257300" lvl="2" indent="-342900">
              <a:buFont typeface="Arial" panose="020B0604020202020204" pitchFamily="34" charset="0"/>
              <a:buChar char="•"/>
            </a:pPr>
            <a:r>
              <a:rPr lang="en-US" sz="1600" b="1" dirty="0"/>
              <a:t>Package Capacity</a:t>
            </a:r>
          </a:p>
          <a:p>
            <a:pPr marL="1257300" lvl="2" indent="-342900">
              <a:buFont typeface="Arial" panose="020B0604020202020204" pitchFamily="34" charset="0"/>
              <a:buChar char="•"/>
            </a:pPr>
            <a:r>
              <a:rPr lang="en-US" sz="1600" b="1" dirty="0"/>
              <a:t>Maximum Capacity</a:t>
            </a:r>
          </a:p>
          <a:p>
            <a:pPr marL="1257300" lvl="2" indent="-342900">
              <a:buFont typeface="Arial" panose="020B0604020202020204" pitchFamily="34" charset="0"/>
              <a:buChar char="•"/>
            </a:pPr>
            <a:r>
              <a:rPr lang="en-US" sz="1600" b="1" dirty="0"/>
              <a:t>Time of </a:t>
            </a:r>
            <a:r>
              <a:rPr lang="en-US" sz="1600" b="1" dirty="0" err="1"/>
              <a:t>CheckIn&amp;Out</a:t>
            </a:r>
            <a:endParaRPr lang="en-US" sz="1600" b="1" dirty="0"/>
          </a:p>
          <a:p>
            <a:pPr marL="1257300" lvl="2" indent="-342900">
              <a:buFont typeface="Arial" panose="020B0604020202020204" pitchFamily="34" charset="0"/>
              <a:buChar char="•"/>
            </a:pPr>
            <a:r>
              <a:rPr lang="en-US" sz="1600" b="1" dirty="0"/>
              <a:t>Category</a:t>
            </a:r>
          </a:p>
          <a:p>
            <a:pPr marL="1257300" lvl="2" indent="-342900">
              <a:buFont typeface="Arial" panose="020B0604020202020204" pitchFamily="34" charset="0"/>
              <a:buChar char="•"/>
            </a:pPr>
            <a:r>
              <a:rPr lang="en-US" sz="1600" b="1" dirty="0"/>
              <a:t>Package Price</a:t>
            </a:r>
          </a:p>
          <a:p>
            <a:pPr marL="1257300" lvl="2" indent="-342900">
              <a:buFont typeface="Arial" panose="020B0604020202020204" pitchFamily="34" charset="0"/>
              <a:buChar char="•"/>
            </a:pPr>
            <a:r>
              <a:rPr lang="en-US" sz="1600" b="1" dirty="0"/>
              <a:t>Reservation Fee</a:t>
            </a:r>
          </a:p>
          <a:p>
            <a:pPr marL="1257300" lvl="2" indent="-342900">
              <a:buFont typeface="Arial" panose="020B0604020202020204" pitchFamily="34" charset="0"/>
              <a:buChar char="•"/>
            </a:pPr>
            <a:r>
              <a:rPr lang="en-US" sz="1600" b="1" dirty="0"/>
              <a:t>Additional Pax Price</a:t>
            </a:r>
          </a:p>
          <a:p>
            <a:pPr marL="1257300" lvl="2" indent="-342900">
              <a:buFont typeface="Arial" panose="020B0604020202020204" pitchFamily="34" charset="0"/>
              <a:buChar char="•"/>
            </a:pPr>
            <a:r>
              <a:rPr lang="en-US" sz="1600" b="1" dirty="0"/>
              <a:t>Status</a:t>
            </a:r>
          </a:p>
          <a:p>
            <a:pPr marL="1257300" lvl="2" indent="-342900">
              <a:buFont typeface="Arial" panose="020B0604020202020204" pitchFamily="34" charset="0"/>
              <a:buChar char="•"/>
            </a:pPr>
            <a:r>
              <a:rPr lang="en-US" sz="1600" b="1" dirty="0"/>
              <a:t>Amenities{cards or maybe just texts}</a:t>
            </a:r>
          </a:p>
          <a:p>
            <a:pPr marL="1257300" lvl="2" indent="-342900">
              <a:buFont typeface="Arial" panose="020B0604020202020204" pitchFamily="34" charset="0"/>
              <a:buChar char="•"/>
            </a:pPr>
            <a:r>
              <a:rPr lang="en-US" sz="1600" b="1" dirty="0"/>
              <a:t>Other Amenities {cards or maybe texts}</a:t>
            </a:r>
          </a:p>
          <a:p>
            <a:pPr marL="1257300" lvl="2" indent="-342900">
              <a:buFont typeface="Arial" panose="020B0604020202020204" pitchFamily="34" charset="0"/>
              <a:buChar char="•"/>
            </a:pPr>
            <a:r>
              <a:rPr lang="en-US" sz="1600" b="1" dirty="0"/>
              <a:t>Discount</a:t>
            </a:r>
          </a:p>
          <a:p>
            <a:pPr marL="1257300" lvl="2" indent="-342900">
              <a:buFont typeface="Arial" panose="020B0604020202020204" pitchFamily="34" charset="0"/>
              <a:buChar char="•"/>
            </a:pPr>
            <a:r>
              <a:rPr lang="en-US" sz="1600" b="1" dirty="0"/>
              <a:t>Reports: could be modal if clicked. w/ </a:t>
            </a:r>
            <a:r>
              <a:rPr lang="en-US" sz="1600" b="1" dirty="0">
                <a:solidFill>
                  <a:srgbClr val="FF0000"/>
                </a:solidFill>
              </a:rPr>
              <a:t>badge</a:t>
            </a:r>
            <a:r>
              <a:rPr lang="en-US" sz="1600" b="1" dirty="0"/>
              <a:t> # of reports</a:t>
            </a:r>
          </a:p>
          <a:p>
            <a:pPr marL="1257300" lvl="2" indent="-342900">
              <a:buFont typeface="Arial" panose="020B0604020202020204" pitchFamily="34" charset="0"/>
              <a:buChar char="•"/>
            </a:pPr>
            <a:r>
              <a:rPr lang="en-US" sz="1600" b="1" dirty="0"/>
              <a:t>// buttons</a:t>
            </a:r>
          </a:p>
          <a:p>
            <a:pPr marL="1257300" lvl="2" indent="-342900">
              <a:buFont typeface="Arial" panose="020B0604020202020204" pitchFamily="34" charset="0"/>
              <a:buChar char="•"/>
            </a:pPr>
            <a:r>
              <a:rPr lang="en-US" sz="1600" b="1" dirty="0" err="1"/>
              <a:t>DeactivateBtn</a:t>
            </a:r>
            <a:r>
              <a:rPr lang="en-US" sz="1600" b="1" dirty="0"/>
              <a:t> (are you sure you want to deactivate this property? y/n) or </a:t>
            </a:r>
            <a:r>
              <a:rPr lang="en-US" sz="1600" b="1" dirty="0" err="1"/>
              <a:t>EditBtn</a:t>
            </a:r>
            <a:r>
              <a:rPr lang="en-US" sz="1600" b="1" dirty="0"/>
              <a:t> (adminEditProperty.html)</a:t>
            </a:r>
          </a:p>
          <a:p>
            <a:pPr lvl="1"/>
            <a:r>
              <a:rPr lang="en-US" sz="1600" b="1" dirty="0"/>
              <a:t>}</a:t>
            </a:r>
          </a:p>
          <a:p>
            <a:r>
              <a:rPr lang="en-US" sz="1600" b="1" dirty="0"/>
              <a:t>}</a:t>
            </a:r>
          </a:p>
        </p:txBody>
      </p:sp>
      <p:sp>
        <p:nvSpPr>
          <p:cNvPr id="2" name="Rectangle: Rounded Corners 1">
            <a:extLst>
              <a:ext uri="{FF2B5EF4-FFF2-40B4-BE49-F238E27FC236}">
                <a16:creationId xmlns:a16="http://schemas.microsoft.com/office/drawing/2014/main" id="{B98EC357-DD9D-248C-0BE3-81DAB6995BB6}"/>
              </a:ext>
            </a:extLst>
          </p:cNvPr>
          <p:cNvSpPr/>
          <p:nvPr/>
        </p:nvSpPr>
        <p:spPr>
          <a:xfrm>
            <a:off x="8044873" y="400111"/>
            <a:ext cx="4072545" cy="6194654"/>
          </a:xfrm>
          <a:prstGeom prst="roundRect">
            <a:avLst>
              <a:gd name="adj" fmla="val 4031"/>
            </a:avLst>
          </a:prstGeom>
          <a:solidFill>
            <a:schemeClr val="accent6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b="1" dirty="0"/>
              <a:t>Reports{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b="1" dirty="0"/>
              <a:t>toggle(Unsolved | Solved)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dirty="0"/>
              <a:t>Report List(</a:t>
            </a:r>
          </a:p>
          <a:p>
            <a:pPr marL="1200150" lvl="2" indent="-285750">
              <a:buFont typeface="Arial" panose="020B0604020202020204" pitchFamily="34" charset="0"/>
              <a:buChar char="•"/>
            </a:pPr>
            <a:r>
              <a:rPr lang="en-US" b="1" dirty="0"/>
              <a:t>Name of sender</a:t>
            </a:r>
          </a:p>
          <a:p>
            <a:pPr marL="1200150" lvl="2" indent="-285750">
              <a:buFont typeface="Arial" panose="020B0604020202020204" pitchFamily="34" charset="0"/>
              <a:buChar char="•"/>
            </a:pPr>
            <a:r>
              <a:rPr lang="en-US" b="1" dirty="0"/>
              <a:t>Date</a:t>
            </a:r>
          </a:p>
          <a:p>
            <a:pPr marL="1200150" lvl="2" indent="-285750">
              <a:buFont typeface="Arial" panose="020B0604020202020204" pitchFamily="34" charset="0"/>
              <a:buChar char="•"/>
            </a:pPr>
            <a:r>
              <a:rPr lang="en-US" b="1" dirty="0"/>
              <a:t>Transaction No.</a:t>
            </a:r>
          </a:p>
          <a:p>
            <a:pPr marL="1200150" lvl="2" indent="-285750">
              <a:buFont typeface="Arial" panose="020B0604020202020204" pitchFamily="34" charset="0"/>
              <a:buChar char="•"/>
            </a:pPr>
            <a:r>
              <a:rPr lang="en-US" b="1" dirty="0"/>
              <a:t>Report Category</a:t>
            </a:r>
          </a:p>
          <a:p>
            <a:pPr marL="1200150" lvl="2" indent="-285750">
              <a:buFont typeface="Arial" panose="020B0604020202020204" pitchFamily="34" charset="0"/>
              <a:buChar char="•"/>
            </a:pPr>
            <a:r>
              <a:rPr lang="en-US" b="1" dirty="0" err="1"/>
              <a:t>viewBtn</a:t>
            </a:r>
            <a:r>
              <a:rPr lang="en-US" b="1" dirty="0"/>
              <a:t>(</a:t>
            </a:r>
            <a:r>
              <a:rPr lang="en-US" b="1" dirty="0" err="1"/>
              <a:t>ReportView</a:t>
            </a:r>
            <a:r>
              <a:rPr lang="en-US" b="1" dirty="0"/>
              <a:t>)</a:t>
            </a:r>
          </a:p>
          <a:p>
            <a:pPr lvl="1"/>
            <a:r>
              <a:rPr lang="en-US" b="1" dirty="0"/>
              <a:t>)</a:t>
            </a:r>
          </a:p>
          <a:p>
            <a:r>
              <a:rPr lang="en-US" b="1" dirty="0"/>
              <a:t>}</a:t>
            </a:r>
          </a:p>
          <a:p>
            <a:r>
              <a:rPr lang="en-US" b="1" dirty="0" err="1"/>
              <a:t>ReportView</a:t>
            </a:r>
            <a:r>
              <a:rPr lang="en-US" b="1" dirty="0"/>
              <a:t>{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dirty="0"/>
              <a:t>Name of sender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dirty="0"/>
              <a:t>Date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dirty="0"/>
              <a:t>Transaction No.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dirty="0"/>
              <a:t>Report Category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dirty="0"/>
              <a:t>Message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dirty="0"/>
              <a:t>Buttons: </a:t>
            </a:r>
            <a:r>
              <a:rPr lang="en-US" b="1" dirty="0" err="1"/>
              <a:t>backBtn</a:t>
            </a:r>
            <a:r>
              <a:rPr lang="en-US" b="1" dirty="0"/>
              <a:t>, </a:t>
            </a:r>
            <a:r>
              <a:rPr lang="en-US" b="1" dirty="0" err="1"/>
              <a:t>solvedBtn</a:t>
            </a:r>
            <a:endParaRPr lang="en-US" b="1" dirty="0"/>
          </a:p>
          <a:p>
            <a:r>
              <a:rPr lang="en-US" b="1" dirty="0"/>
              <a:t>}</a:t>
            </a:r>
          </a:p>
        </p:txBody>
      </p:sp>
      <p:cxnSp>
        <p:nvCxnSpPr>
          <p:cNvPr id="6" name="Connector: Curved 5">
            <a:extLst>
              <a:ext uri="{FF2B5EF4-FFF2-40B4-BE49-F238E27FC236}">
                <a16:creationId xmlns:a16="http://schemas.microsoft.com/office/drawing/2014/main" id="{8D73B2AC-1E03-0182-70E7-6DA6E39C6E30}"/>
              </a:ext>
            </a:extLst>
          </p:cNvPr>
          <p:cNvCxnSpPr>
            <a:cxnSpLocks/>
          </p:cNvCxnSpPr>
          <p:nvPr/>
        </p:nvCxnSpPr>
        <p:spPr>
          <a:xfrm rot="5400000" flipH="1" flipV="1">
            <a:off x="4765966" y="1681019"/>
            <a:ext cx="3906982" cy="2872508"/>
          </a:xfrm>
          <a:prstGeom prst="curvedConnector3">
            <a:avLst>
              <a:gd name="adj1" fmla="val 50000"/>
            </a:avLst>
          </a:prstGeom>
          <a:ln w="19050" cap="flat" cmpd="sng" algn="ctr">
            <a:solidFill>
              <a:schemeClr val="accent4"/>
            </a:solidFill>
            <a:prstDash val="solid"/>
            <a:round/>
            <a:headEnd type="arrow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9" name="Connector: Curved 8">
            <a:extLst>
              <a:ext uri="{FF2B5EF4-FFF2-40B4-BE49-F238E27FC236}">
                <a16:creationId xmlns:a16="http://schemas.microsoft.com/office/drawing/2014/main" id="{409D6913-C0AC-359E-72F5-7F983F8513EB}"/>
              </a:ext>
            </a:extLst>
          </p:cNvPr>
          <p:cNvCxnSpPr>
            <a:cxnSpLocks/>
          </p:cNvCxnSpPr>
          <p:nvPr/>
        </p:nvCxnSpPr>
        <p:spPr>
          <a:xfrm flipV="1">
            <a:off x="9504218" y="3121891"/>
            <a:ext cx="1653309" cy="803564"/>
          </a:xfrm>
          <a:prstGeom prst="curvedConnector3">
            <a:avLst>
              <a:gd name="adj1" fmla="val 99162"/>
            </a:avLst>
          </a:prstGeom>
          <a:ln w="19050" cap="flat" cmpd="sng" algn="ctr">
            <a:solidFill>
              <a:schemeClr val="accent4"/>
            </a:solidFill>
            <a:prstDash val="solid"/>
            <a:round/>
            <a:headEnd type="arrow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024280893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E094F53A-6361-E94E-5BDE-6B5297C1498E}"/>
              </a:ext>
            </a:extLst>
          </p:cNvPr>
          <p:cNvSpPr txBox="1"/>
          <p:nvPr/>
        </p:nvSpPr>
        <p:spPr>
          <a:xfrm>
            <a:off x="-1" y="0"/>
            <a:ext cx="3519055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b="1" dirty="0"/>
              <a:t>adminEditProperty.html</a:t>
            </a:r>
          </a:p>
        </p:txBody>
      </p:sp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F9ACFF90-048F-320A-A752-8D1492FAD30F}"/>
              </a:ext>
            </a:extLst>
          </p:cNvPr>
          <p:cNvSpPr/>
          <p:nvPr/>
        </p:nvSpPr>
        <p:spPr>
          <a:xfrm>
            <a:off x="102292" y="400110"/>
            <a:ext cx="7730144" cy="6287017"/>
          </a:xfrm>
          <a:prstGeom prst="roundRect">
            <a:avLst>
              <a:gd name="adj" fmla="val 4105"/>
            </a:avLst>
          </a:prstGeom>
          <a:solidFill>
            <a:schemeClr val="accent6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b="1" dirty="0"/>
              <a:t>{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b="1" dirty="0"/>
              <a:t>Property Inputs Auto Fill {</a:t>
            </a:r>
          </a:p>
          <a:p>
            <a:pPr marL="1257300" lvl="2" indent="-342900">
              <a:buFont typeface="Arial" panose="020B0604020202020204" pitchFamily="34" charset="0"/>
              <a:buChar char="•"/>
            </a:pPr>
            <a:r>
              <a:rPr lang="en-US" b="1" dirty="0"/>
              <a:t>Photos (one by one display with delete icon)</a:t>
            </a:r>
          </a:p>
          <a:p>
            <a:pPr marL="1257300" lvl="2" indent="-342900">
              <a:buFont typeface="Arial" panose="020B0604020202020204" pitchFamily="34" charset="0"/>
              <a:buChar char="•"/>
            </a:pPr>
            <a:r>
              <a:rPr lang="en-US" b="1" dirty="0"/>
              <a:t>Name : text</a:t>
            </a:r>
          </a:p>
          <a:p>
            <a:pPr marL="1257300" lvl="2" indent="-342900">
              <a:buFont typeface="Arial" panose="020B0604020202020204" pitchFamily="34" charset="0"/>
              <a:buChar char="•"/>
            </a:pPr>
            <a:r>
              <a:rPr lang="en-US" b="1" dirty="0"/>
              <a:t>Address : text</a:t>
            </a:r>
          </a:p>
          <a:p>
            <a:pPr marL="1257300" lvl="2" indent="-342900">
              <a:buFont typeface="Arial" panose="020B0604020202020204" pitchFamily="34" charset="0"/>
              <a:buChar char="•"/>
            </a:pPr>
            <a:r>
              <a:rPr lang="en-US" b="1" dirty="0" err="1"/>
              <a:t>MapLink</a:t>
            </a:r>
            <a:r>
              <a:rPr lang="en-US" b="1" dirty="0"/>
              <a:t> : text</a:t>
            </a:r>
          </a:p>
          <a:p>
            <a:pPr marL="1257300" lvl="2" indent="-342900">
              <a:buFont typeface="Arial" panose="020B0604020202020204" pitchFamily="34" charset="0"/>
              <a:buChar char="•"/>
            </a:pPr>
            <a:r>
              <a:rPr lang="en-US" b="1" dirty="0"/>
              <a:t>City : select [dropdown all city in the </a:t>
            </a:r>
            <a:r>
              <a:rPr lang="en-US" b="1" dirty="0" err="1"/>
              <a:t>ph</a:t>
            </a:r>
            <a:r>
              <a:rPr lang="en-US" b="1" dirty="0"/>
              <a:t>]</a:t>
            </a:r>
          </a:p>
          <a:p>
            <a:pPr marL="1257300" lvl="2" indent="-342900">
              <a:buFont typeface="Arial" panose="020B0604020202020204" pitchFamily="34" charset="0"/>
              <a:buChar char="•"/>
            </a:pPr>
            <a:r>
              <a:rPr lang="en-US" b="1" dirty="0"/>
              <a:t>Description : text</a:t>
            </a:r>
          </a:p>
          <a:p>
            <a:pPr marL="1257300" lvl="2" indent="-342900">
              <a:buFont typeface="Arial" panose="020B0604020202020204" pitchFamily="34" charset="0"/>
              <a:buChar char="•"/>
            </a:pPr>
            <a:r>
              <a:rPr lang="en-US" b="1" dirty="0"/>
              <a:t>Package Capacity : number</a:t>
            </a:r>
          </a:p>
          <a:p>
            <a:pPr marL="1257300" lvl="2" indent="-342900">
              <a:buFont typeface="Arial" panose="020B0604020202020204" pitchFamily="34" charset="0"/>
              <a:buChar char="•"/>
            </a:pPr>
            <a:r>
              <a:rPr lang="en-US" b="1" dirty="0"/>
              <a:t>Maximum Capacity : number</a:t>
            </a:r>
          </a:p>
          <a:p>
            <a:pPr marL="1257300" lvl="2" indent="-342900">
              <a:buFont typeface="Arial" panose="020B0604020202020204" pitchFamily="34" charset="0"/>
              <a:buChar char="•"/>
            </a:pPr>
            <a:r>
              <a:rPr lang="en-US" b="1" dirty="0"/>
              <a:t>Time of </a:t>
            </a:r>
            <a:r>
              <a:rPr lang="en-US" b="1" dirty="0" err="1"/>
              <a:t>CheckIn&amp;Out</a:t>
            </a:r>
            <a:r>
              <a:rPr lang="en-US" b="1" dirty="0"/>
              <a:t> : Time</a:t>
            </a:r>
          </a:p>
          <a:p>
            <a:pPr marL="1257300" lvl="2" indent="-342900">
              <a:buFont typeface="Arial" panose="020B0604020202020204" pitchFamily="34" charset="0"/>
              <a:buChar char="•"/>
            </a:pPr>
            <a:r>
              <a:rPr lang="en-US" b="1" dirty="0"/>
              <a:t>Category : select (</a:t>
            </a:r>
            <a:r>
              <a:rPr lang="en-US" b="1" dirty="0" err="1"/>
              <a:t>Barkada</a:t>
            </a:r>
            <a:r>
              <a:rPr lang="en-US" b="1" dirty="0"/>
              <a:t>, Couple, Family, Other)</a:t>
            </a:r>
          </a:p>
          <a:p>
            <a:pPr marL="1257300" lvl="2" indent="-342900">
              <a:buFont typeface="Arial" panose="020B0604020202020204" pitchFamily="34" charset="0"/>
              <a:buChar char="•"/>
            </a:pPr>
            <a:r>
              <a:rPr lang="en-US" b="1" dirty="0"/>
              <a:t>Package Price : Currency/Number w/ peso sign </a:t>
            </a:r>
          </a:p>
          <a:p>
            <a:pPr marL="1257300" lvl="2" indent="-342900">
              <a:buFont typeface="Arial" panose="020B0604020202020204" pitchFamily="34" charset="0"/>
              <a:buChar char="•"/>
            </a:pPr>
            <a:r>
              <a:rPr lang="en-US" b="1" dirty="0"/>
              <a:t>Reservation Fee : Currency/Number w/ peso sign </a:t>
            </a:r>
          </a:p>
          <a:p>
            <a:pPr marL="1257300" lvl="2" indent="-342900">
              <a:buFont typeface="Arial" panose="020B0604020202020204" pitchFamily="34" charset="0"/>
              <a:buChar char="•"/>
            </a:pPr>
            <a:r>
              <a:rPr lang="en-US" b="1" dirty="0"/>
              <a:t>Additional Pax Price: Currency/Number w/ peso sign </a:t>
            </a:r>
          </a:p>
          <a:p>
            <a:pPr marL="1257300" lvl="2" indent="-342900">
              <a:buFont typeface="Arial" panose="020B0604020202020204" pitchFamily="34" charset="0"/>
              <a:buChar char="•"/>
            </a:pPr>
            <a:r>
              <a:rPr lang="en-US" b="1" dirty="0"/>
              <a:t>Status : select {available, deactivate}</a:t>
            </a:r>
          </a:p>
          <a:p>
            <a:pPr marL="1257300" lvl="2" indent="-342900">
              <a:buFont typeface="Arial" panose="020B0604020202020204" pitchFamily="34" charset="0"/>
              <a:buChar char="•"/>
            </a:pPr>
            <a:r>
              <a:rPr lang="en-US" b="1" dirty="0"/>
              <a:t>Amenities : checkbox</a:t>
            </a:r>
          </a:p>
          <a:p>
            <a:pPr marL="1257300" lvl="2" indent="-342900">
              <a:buFont typeface="Arial" panose="020B0604020202020204" pitchFamily="34" charset="0"/>
              <a:buChar char="•"/>
            </a:pPr>
            <a:r>
              <a:rPr lang="en-US" b="1" dirty="0"/>
              <a:t>Other Amenities : text</a:t>
            </a:r>
          </a:p>
          <a:p>
            <a:pPr marL="1257300" lvl="2" indent="-342900">
              <a:buFont typeface="Arial" panose="020B0604020202020204" pitchFamily="34" charset="0"/>
              <a:buChar char="•"/>
            </a:pPr>
            <a:r>
              <a:rPr lang="en-US" b="1" dirty="0"/>
              <a:t>Discount : float</a:t>
            </a:r>
          </a:p>
          <a:p>
            <a:pPr marL="1257300" lvl="2" indent="-342900">
              <a:buFont typeface="Arial" panose="020B0604020202020204" pitchFamily="34" charset="0"/>
              <a:buChar char="•"/>
            </a:pPr>
            <a:r>
              <a:rPr lang="en-US" b="1" dirty="0"/>
              <a:t>Calendar</a:t>
            </a:r>
          </a:p>
          <a:p>
            <a:pPr lvl="1"/>
            <a:r>
              <a:rPr lang="en-US" b="1" dirty="0"/>
              <a:t>}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b="1" dirty="0"/>
              <a:t>Buttons : (cancel, save (y/n) message success/err)</a:t>
            </a:r>
          </a:p>
          <a:p>
            <a:r>
              <a:rPr lang="en-US" b="1" dirty="0"/>
              <a:t>}</a:t>
            </a:r>
          </a:p>
        </p:txBody>
      </p:sp>
      <p:sp>
        <p:nvSpPr>
          <p:cNvPr id="2" name="Rectangle: Rounded Corners 1">
            <a:extLst>
              <a:ext uri="{FF2B5EF4-FFF2-40B4-BE49-F238E27FC236}">
                <a16:creationId xmlns:a16="http://schemas.microsoft.com/office/drawing/2014/main" id="{D7576A1A-CDB6-8CCB-6A21-D4F77C2E55D7}"/>
              </a:ext>
            </a:extLst>
          </p:cNvPr>
          <p:cNvSpPr/>
          <p:nvPr/>
        </p:nvSpPr>
        <p:spPr>
          <a:xfrm>
            <a:off x="8072582" y="510307"/>
            <a:ext cx="3888509" cy="6176819"/>
          </a:xfrm>
          <a:prstGeom prst="roundRect">
            <a:avLst>
              <a:gd name="adj" fmla="val 7169"/>
            </a:avLst>
          </a:prstGeom>
          <a:solidFill>
            <a:schemeClr val="accent6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2000" b="1" dirty="0"/>
              <a:t>calendar{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000" b="1" dirty="0"/>
              <a:t>Text : Set maintenance Day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000" b="1" dirty="0"/>
              <a:t>Calendar with bookings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000" b="1" dirty="0"/>
              <a:t>Buttons: set (y/n), revert (clear selected)</a:t>
            </a:r>
          </a:p>
          <a:p>
            <a:r>
              <a:rPr lang="en-US" sz="2000" b="1" dirty="0"/>
              <a:t>}</a:t>
            </a:r>
          </a:p>
        </p:txBody>
      </p:sp>
      <p:cxnSp>
        <p:nvCxnSpPr>
          <p:cNvPr id="6" name="Connector: Curved 5">
            <a:extLst>
              <a:ext uri="{FF2B5EF4-FFF2-40B4-BE49-F238E27FC236}">
                <a16:creationId xmlns:a16="http://schemas.microsoft.com/office/drawing/2014/main" id="{A63A1E50-035E-9A75-D8F4-489017351609}"/>
              </a:ext>
            </a:extLst>
          </p:cNvPr>
          <p:cNvCxnSpPr>
            <a:cxnSpLocks/>
          </p:cNvCxnSpPr>
          <p:nvPr/>
        </p:nvCxnSpPr>
        <p:spPr>
          <a:xfrm rot="10800000" flipV="1">
            <a:off x="2604656" y="2854039"/>
            <a:ext cx="5634181" cy="2881746"/>
          </a:xfrm>
          <a:prstGeom prst="curvedConnector3">
            <a:avLst>
              <a:gd name="adj1" fmla="val 0"/>
            </a:avLst>
          </a:prstGeom>
          <a:ln w="19050" cap="flat" cmpd="sng" algn="ctr">
            <a:solidFill>
              <a:schemeClr val="accent4"/>
            </a:solidFill>
            <a:prstDash val="solid"/>
            <a:round/>
            <a:headEnd type="arrow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145279682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E094F53A-6361-E94E-5BDE-6B5297C1498E}"/>
              </a:ext>
            </a:extLst>
          </p:cNvPr>
          <p:cNvSpPr txBox="1"/>
          <p:nvPr/>
        </p:nvSpPr>
        <p:spPr>
          <a:xfrm>
            <a:off x="-1" y="0"/>
            <a:ext cx="3519055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b="1" dirty="0"/>
              <a:t>adminAddProperty.html</a:t>
            </a:r>
          </a:p>
        </p:txBody>
      </p:sp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F9ACFF90-048F-320A-A752-8D1492FAD30F}"/>
              </a:ext>
            </a:extLst>
          </p:cNvPr>
          <p:cNvSpPr/>
          <p:nvPr/>
        </p:nvSpPr>
        <p:spPr>
          <a:xfrm>
            <a:off x="102292" y="400110"/>
            <a:ext cx="7730144" cy="6287017"/>
          </a:xfrm>
          <a:prstGeom prst="roundRect">
            <a:avLst>
              <a:gd name="adj" fmla="val 4105"/>
            </a:avLst>
          </a:prstGeom>
          <a:solidFill>
            <a:schemeClr val="accent6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b="1" dirty="0"/>
              <a:t>{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b="1" dirty="0"/>
              <a:t>Property Inputs {</a:t>
            </a:r>
          </a:p>
          <a:p>
            <a:pPr marL="1257300" lvl="2" indent="-342900">
              <a:buFont typeface="Arial" panose="020B0604020202020204" pitchFamily="34" charset="0"/>
              <a:buChar char="•"/>
            </a:pPr>
            <a:r>
              <a:rPr lang="en-US" b="1" dirty="0"/>
              <a:t>Photos (one by one display with delete icon)</a:t>
            </a:r>
          </a:p>
          <a:p>
            <a:pPr marL="1257300" lvl="2" indent="-342900">
              <a:buFont typeface="Arial" panose="020B0604020202020204" pitchFamily="34" charset="0"/>
              <a:buChar char="•"/>
            </a:pPr>
            <a:r>
              <a:rPr lang="en-US" b="1" dirty="0"/>
              <a:t>Name : text</a:t>
            </a:r>
          </a:p>
          <a:p>
            <a:pPr marL="1257300" lvl="2" indent="-342900">
              <a:buFont typeface="Arial" panose="020B0604020202020204" pitchFamily="34" charset="0"/>
              <a:buChar char="•"/>
            </a:pPr>
            <a:r>
              <a:rPr lang="en-US" b="1" dirty="0"/>
              <a:t>Address : text</a:t>
            </a:r>
          </a:p>
          <a:p>
            <a:pPr marL="1257300" lvl="2" indent="-342900">
              <a:buFont typeface="Arial" panose="020B0604020202020204" pitchFamily="34" charset="0"/>
              <a:buChar char="•"/>
            </a:pPr>
            <a:r>
              <a:rPr lang="en-US" b="1" dirty="0" err="1"/>
              <a:t>MapLink</a:t>
            </a:r>
            <a:r>
              <a:rPr lang="en-US" b="1" dirty="0"/>
              <a:t> : text</a:t>
            </a:r>
          </a:p>
          <a:p>
            <a:pPr marL="1257300" lvl="2" indent="-342900">
              <a:buFont typeface="Arial" panose="020B0604020202020204" pitchFamily="34" charset="0"/>
              <a:buChar char="•"/>
            </a:pPr>
            <a:r>
              <a:rPr lang="en-US" b="1" dirty="0"/>
              <a:t>City : select [dropdown all city in the </a:t>
            </a:r>
            <a:r>
              <a:rPr lang="en-US" b="1" dirty="0" err="1"/>
              <a:t>ph</a:t>
            </a:r>
            <a:r>
              <a:rPr lang="en-US" b="1" dirty="0"/>
              <a:t>]</a:t>
            </a:r>
          </a:p>
          <a:p>
            <a:pPr marL="1257300" lvl="2" indent="-342900">
              <a:buFont typeface="Arial" panose="020B0604020202020204" pitchFamily="34" charset="0"/>
              <a:buChar char="•"/>
            </a:pPr>
            <a:r>
              <a:rPr lang="en-US" b="1" dirty="0"/>
              <a:t>Description : text</a:t>
            </a:r>
          </a:p>
          <a:p>
            <a:pPr marL="1257300" lvl="2" indent="-342900">
              <a:buFont typeface="Arial" panose="020B0604020202020204" pitchFamily="34" charset="0"/>
              <a:buChar char="•"/>
            </a:pPr>
            <a:r>
              <a:rPr lang="en-US" b="1" dirty="0"/>
              <a:t>Package Capacity : number</a:t>
            </a:r>
          </a:p>
          <a:p>
            <a:pPr marL="1257300" lvl="2" indent="-342900">
              <a:buFont typeface="Arial" panose="020B0604020202020204" pitchFamily="34" charset="0"/>
              <a:buChar char="•"/>
            </a:pPr>
            <a:r>
              <a:rPr lang="en-US" b="1" dirty="0"/>
              <a:t>Maximum Capacity : number</a:t>
            </a:r>
          </a:p>
          <a:p>
            <a:pPr marL="1257300" lvl="2" indent="-342900">
              <a:buFont typeface="Arial" panose="020B0604020202020204" pitchFamily="34" charset="0"/>
              <a:buChar char="•"/>
            </a:pPr>
            <a:r>
              <a:rPr lang="en-US" b="1" dirty="0"/>
              <a:t>Time of </a:t>
            </a:r>
            <a:r>
              <a:rPr lang="en-US" b="1" dirty="0" err="1"/>
              <a:t>CheckIn&amp;Out</a:t>
            </a:r>
            <a:r>
              <a:rPr lang="en-US" b="1" dirty="0"/>
              <a:t> : Time</a:t>
            </a:r>
          </a:p>
          <a:p>
            <a:pPr marL="1257300" lvl="2" indent="-342900">
              <a:buFont typeface="Arial" panose="020B0604020202020204" pitchFamily="34" charset="0"/>
              <a:buChar char="•"/>
            </a:pPr>
            <a:r>
              <a:rPr lang="en-US" b="1" dirty="0"/>
              <a:t>Category : select (</a:t>
            </a:r>
            <a:r>
              <a:rPr lang="en-US" b="1" dirty="0" err="1"/>
              <a:t>Barkada</a:t>
            </a:r>
            <a:r>
              <a:rPr lang="en-US" b="1" dirty="0"/>
              <a:t>, Couple, Family, Other)</a:t>
            </a:r>
          </a:p>
          <a:p>
            <a:pPr marL="1257300" lvl="2" indent="-342900">
              <a:buFont typeface="Arial" panose="020B0604020202020204" pitchFamily="34" charset="0"/>
              <a:buChar char="•"/>
            </a:pPr>
            <a:r>
              <a:rPr lang="en-US" b="1" dirty="0"/>
              <a:t>Package Price : Currency/Number w/ peso sign </a:t>
            </a:r>
          </a:p>
          <a:p>
            <a:pPr marL="1257300" lvl="2" indent="-342900">
              <a:buFont typeface="Arial" panose="020B0604020202020204" pitchFamily="34" charset="0"/>
              <a:buChar char="•"/>
            </a:pPr>
            <a:r>
              <a:rPr lang="en-US" b="1" dirty="0"/>
              <a:t>Reservation Fee : Currency/Number w/ peso sign </a:t>
            </a:r>
          </a:p>
          <a:p>
            <a:pPr marL="1257300" lvl="2" indent="-342900">
              <a:buFont typeface="Arial" panose="020B0604020202020204" pitchFamily="34" charset="0"/>
              <a:buChar char="•"/>
            </a:pPr>
            <a:r>
              <a:rPr lang="en-US" b="1" dirty="0"/>
              <a:t>Additional Pax Price: Currency/Number w/ peso sign </a:t>
            </a:r>
          </a:p>
          <a:p>
            <a:pPr marL="1257300" lvl="2" indent="-342900">
              <a:buFont typeface="Arial" panose="020B0604020202020204" pitchFamily="34" charset="0"/>
              <a:buChar char="•"/>
            </a:pPr>
            <a:r>
              <a:rPr lang="en-US" b="1" dirty="0"/>
              <a:t>Status : select {available, deactivate}</a:t>
            </a:r>
          </a:p>
          <a:p>
            <a:pPr marL="1257300" lvl="2" indent="-342900">
              <a:buFont typeface="Arial" panose="020B0604020202020204" pitchFamily="34" charset="0"/>
              <a:buChar char="•"/>
            </a:pPr>
            <a:r>
              <a:rPr lang="en-US" b="1" dirty="0"/>
              <a:t>Amenities : checkbox</a:t>
            </a:r>
          </a:p>
          <a:p>
            <a:pPr marL="1257300" lvl="2" indent="-342900">
              <a:buFont typeface="Arial" panose="020B0604020202020204" pitchFamily="34" charset="0"/>
              <a:buChar char="•"/>
            </a:pPr>
            <a:r>
              <a:rPr lang="en-US" b="1" dirty="0"/>
              <a:t>Other Amenities : text</a:t>
            </a:r>
          </a:p>
          <a:p>
            <a:pPr marL="1257300" lvl="2" indent="-342900">
              <a:buFont typeface="Arial" panose="020B0604020202020204" pitchFamily="34" charset="0"/>
              <a:buChar char="•"/>
            </a:pPr>
            <a:r>
              <a:rPr lang="en-US" b="1" dirty="0"/>
              <a:t>Discount : float</a:t>
            </a:r>
          </a:p>
          <a:p>
            <a:pPr marL="1257300" lvl="2" indent="-342900">
              <a:buFont typeface="Arial" panose="020B0604020202020204" pitchFamily="34" charset="0"/>
              <a:buChar char="•"/>
            </a:pPr>
            <a:r>
              <a:rPr lang="en-US" b="1" dirty="0"/>
              <a:t>Calendar</a:t>
            </a:r>
          </a:p>
          <a:p>
            <a:pPr lvl="1"/>
            <a:r>
              <a:rPr lang="en-US" b="1" dirty="0"/>
              <a:t>}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b="1" dirty="0"/>
              <a:t>Buttons : (cancel, save (y/n) message success/err)</a:t>
            </a:r>
          </a:p>
          <a:p>
            <a:r>
              <a:rPr lang="en-US" b="1" dirty="0"/>
              <a:t>}</a:t>
            </a:r>
          </a:p>
        </p:txBody>
      </p:sp>
      <p:sp>
        <p:nvSpPr>
          <p:cNvPr id="2" name="Rectangle: Rounded Corners 1">
            <a:extLst>
              <a:ext uri="{FF2B5EF4-FFF2-40B4-BE49-F238E27FC236}">
                <a16:creationId xmlns:a16="http://schemas.microsoft.com/office/drawing/2014/main" id="{D7576A1A-CDB6-8CCB-6A21-D4F77C2E55D7}"/>
              </a:ext>
            </a:extLst>
          </p:cNvPr>
          <p:cNvSpPr/>
          <p:nvPr/>
        </p:nvSpPr>
        <p:spPr>
          <a:xfrm>
            <a:off x="8072582" y="510307"/>
            <a:ext cx="3888509" cy="6176819"/>
          </a:xfrm>
          <a:prstGeom prst="roundRect">
            <a:avLst>
              <a:gd name="adj" fmla="val 7169"/>
            </a:avLst>
          </a:prstGeom>
          <a:solidFill>
            <a:schemeClr val="accent6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2000" b="1" dirty="0"/>
              <a:t>calendar{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000" b="1" dirty="0"/>
              <a:t>Text : Set maintenance Day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000" b="1" dirty="0"/>
              <a:t>Calendar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000" b="1" dirty="0"/>
              <a:t>Buttons: set (y/n), revert (clear selected)</a:t>
            </a:r>
          </a:p>
          <a:p>
            <a:r>
              <a:rPr lang="en-US" sz="2000" b="1" dirty="0"/>
              <a:t>}</a:t>
            </a:r>
          </a:p>
        </p:txBody>
      </p:sp>
      <p:cxnSp>
        <p:nvCxnSpPr>
          <p:cNvPr id="8" name="Connector: Curved 7">
            <a:extLst>
              <a:ext uri="{FF2B5EF4-FFF2-40B4-BE49-F238E27FC236}">
                <a16:creationId xmlns:a16="http://schemas.microsoft.com/office/drawing/2014/main" id="{6D8DEA2B-8BA7-4E28-9960-EDBB638E5558}"/>
              </a:ext>
            </a:extLst>
          </p:cNvPr>
          <p:cNvCxnSpPr>
            <a:cxnSpLocks/>
          </p:cNvCxnSpPr>
          <p:nvPr/>
        </p:nvCxnSpPr>
        <p:spPr>
          <a:xfrm rot="10800000" flipV="1">
            <a:off x="2604656" y="2844796"/>
            <a:ext cx="5634181" cy="2881746"/>
          </a:xfrm>
          <a:prstGeom prst="curvedConnector3">
            <a:avLst>
              <a:gd name="adj1" fmla="val 0"/>
            </a:avLst>
          </a:prstGeom>
          <a:ln w="19050" cap="flat" cmpd="sng" algn="ctr">
            <a:solidFill>
              <a:schemeClr val="accent4"/>
            </a:solidFill>
            <a:prstDash val="solid"/>
            <a:round/>
            <a:headEnd type="arrow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075102221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E094F53A-6361-E94E-5BDE-6B5297C1498E}"/>
              </a:ext>
            </a:extLst>
          </p:cNvPr>
          <p:cNvSpPr txBox="1"/>
          <p:nvPr/>
        </p:nvSpPr>
        <p:spPr>
          <a:xfrm>
            <a:off x="-1" y="0"/>
            <a:ext cx="3519055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b="1" dirty="0"/>
              <a:t>adminCustomer.html</a:t>
            </a:r>
          </a:p>
        </p:txBody>
      </p:sp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E84989AE-1420-7CFC-7A33-B4FACAA95828}"/>
              </a:ext>
            </a:extLst>
          </p:cNvPr>
          <p:cNvSpPr/>
          <p:nvPr/>
        </p:nvSpPr>
        <p:spPr>
          <a:xfrm>
            <a:off x="112221" y="718993"/>
            <a:ext cx="5374179" cy="4810414"/>
          </a:xfrm>
          <a:prstGeom prst="roundRect">
            <a:avLst>
              <a:gd name="adj" fmla="val 3063"/>
            </a:avLst>
          </a:prstGeom>
          <a:solidFill>
            <a:schemeClr val="accent6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2000" b="1" dirty="0"/>
              <a:t>{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000" b="1" dirty="0"/>
              <a:t>Search input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000" b="1" dirty="0"/>
              <a:t>Search </a:t>
            </a:r>
            <a:r>
              <a:rPr lang="en-US" sz="2000" b="1" dirty="0" err="1"/>
              <a:t>btn</a:t>
            </a:r>
            <a:endParaRPr lang="en-US" sz="2000" b="1" dirty="0"/>
          </a:p>
          <a:p>
            <a:r>
              <a:rPr lang="en-US" sz="2000" b="1" dirty="0"/>
              <a:t>}</a:t>
            </a:r>
          </a:p>
          <a:p>
            <a:endParaRPr lang="en-US" sz="2000" b="1" dirty="0"/>
          </a:p>
          <a:p>
            <a:r>
              <a:rPr lang="en-US" sz="2000" b="1" dirty="0"/>
              <a:t>Customer Lists (Deactivated/Active toggle){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000" b="1" dirty="0"/>
              <a:t>First, Last Name,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000" b="1" dirty="0"/>
              <a:t>Email,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000" b="1" dirty="0"/>
              <a:t>Violations: Integer{</a:t>
            </a:r>
          </a:p>
          <a:p>
            <a:pPr marL="1257300" lvl="2" indent="-342900">
              <a:buFont typeface="Arial" panose="020B0604020202020204" pitchFamily="34" charset="0"/>
              <a:buChar char="•"/>
            </a:pPr>
            <a:r>
              <a:rPr lang="en-US" sz="2000" b="1" dirty="0"/>
              <a:t>If more than 1 : color yellow</a:t>
            </a:r>
          </a:p>
          <a:p>
            <a:pPr marL="1257300" lvl="2" indent="-342900">
              <a:buFont typeface="Arial" panose="020B0604020202020204" pitchFamily="34" charset="0"/>
              <a:buChar char="•"/>
            </a:pPr>
            <a:r>
              <a:rPr lang="en-US" sz="2000" b="1" dirty="0"/>
              <a:t>If more than 3 : Red</a:t>
            </a:r>
          </a:p>
          <a:p>
            <a:pPr lvl="1"/>
            <a:r>
              <a:rPr lang="en-US" sz="2000" b="1" dirty="0"/>
              <a:t>}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000" b="1" dirty="0" err="1"/>
              <a:t>ViewViolationBtn</a:t>
            </a:r>
            <a:r>
              <a:rPr lang="en-US" sz="2000" b="1" dirty="0"/>
              <a:t> : modal</a:t>
            </a:r>
          </a:p>
          <a:p>
            <a:r>
              <a:rPr lang="en-US" sz="2000" b="1" dirty="0"/>
              <a:t>}</a:t>
            </a:r>
          </a:p>
          <a:p>
            <a:endParaRPr lang="en-US" sz="2000" b="1" dirty="0"/>
          </a:p>
        </p:txBody>
      </p:sp>
      <p:sp>
        <p:nvSpPr>
          <p:cNvPr id="2" name="Rectangle: Rounded Corners 1">
            <a:extLst>
              <a:ext uri="{FF2B5EF4-FFF2-40B4-BE49-F238E27FC236}">
                <a16:creationId xmlns:a16="http://schemas.microsoft.com/office/drawing/2014/main" id="{53EECA4E-EA2E-8B17-6C2B-12466435E058}"/>
              </a:ext>
            </a:extLst>
          </p:cNvPr>
          <p:cNvSpPr/>
          <p:nvPr/>
        </p:nvSpPr>
        <p:spPr>
          <a:xfrm>
            <a:off x="5917275" y="718993"/>
            <a:ext cx="5374179" cy="4810414"/>
          </a:xfrm>
          <a:prstGeom prst="roundRect">
            <a:avLst>
              <a:gd name="adj" fmla="val 3063"/>
            </a:avLst>
          </a:prstGeom>
          <a:solidFill>
            <a:schemeClr val="accent6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2000" b="1" dirty="0"/>
              <a:t>Modal{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000" b="1" dirty="0" err="1"/>
              <a:t>DeactivateUserBtn</a:t>
            </a:r>
            <a:r>
              <a:rPr lang="en-US" sz="2000" b="1" dirty="0"/>
              <a:t> : “y/n”</a:t>
            </a:r>
          </a:p>
          <a:p>
            <a:r>
              <a:rPr lang="en-US" sz="2000" b="1" dirty="0"/>
              <a:t>// could be card or table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000" b="1" dirty="0" err="1"/>
              <a:t>ListofViolation</a:t>
            </a:r>
            <a:r>
              <a:rPr lang="en-US" sz="2000" b="1" dirty="0"/>
              <a:t>{</a:t>
            </a:r>
          </a:p>
          <a:p>
            <a:pPr marL="1257300" lvl="2" indent="-342900">
              <a:buFont typeface="Arial" panose="020B0604020202020204" pitchFamily="34" charset="0"/>
              <a:buChar char="•"/>
            </a:pPr>
            <a:r>
              <a:rPr lang="en-US" sz="2000" b="1" dirty="0"/>
              <a:t>Reason</a:t>
            </a:r>
          </a:p>
          <a:p>
            <a:pPr marL="1257300" lvl="2" indent="-342900">
              <a:buFont typeface="Arial" panose="020B0604020202020204" pitchFamily="34" charset="0"/>
              <a:buChar char="•"/>
            </a:pPr>
            <a:r>
              <a:rPr lang="en-US" sz="2000" b="1" dirty="0"/>
              <a:t>Date</a:t>
            </a:r>
          </a:p>
          <a:p>
            <a:pPr marL="1257300" lvl="2" indent="-342900">
              <a:buFont typeface="Arial" panose="020B0604020202020204" pitchFamily="34" charset="0"/>
              <a:buChar char="•"/>
            </a:pPr>
            <a:r>
              <a:rPr lang="en-US" sz="2000" b="1" dirty="0"/>
              <a:t>Transaction #</a:t>
            </a:r>
          </a:p>
          <a:p>
            <a:pPr marL="1257300" lvl="2" indent="-342900">
              <a:buFont typeface="Arial" panose="020B0604020202020204" pitchFamily="34" charset="0"/>
              <a:buChar char="•"/>
            </a:pPr>
            <a:r>
              <a:rPr lang="en-US" sz="2000" b="1" dirty="0" err="1"/>
              <a:t>ReportedBy</a:t>
            </a:r>
            <a:endParaRPr lang="en-US" sz="2000" b="1" dirty="0"/>
          </a:p>
          <a:p>
            <a:pPr lvl="1"/>
            <a:r>
              <a:rPr lang="en-US" sz="2000" b="1" dirty="0"/>
              <a:t>}</a:t>
            </a:r>
          </a:p>
          <a:p>
            <a:r>
              <a:rPr lang="en-US" sz="2000" b="1" dirty="0"/>
              <a:t>}</a:t>
            </a:r>
          </a:p>
          <a:p>
            <a:endParaRPr lang="en-US" sz="2000" b="1" dirty="0"/>
          </a:p>
        </p:txBody>
      </p:sp>
      <p:cxnSp>
        <p:nvCxnSpPr>
          <p:cNvPr id="5" name="Connector: Curved 4">
            <a:extLst>
              <a:ext uri="{FF2B5EF4-FFF2-40B4-BE49-F238E27FC236}">
                <a16:creationId xmlns:a16="http://schemas.microsoft.com/office/drawing/2014/main" id="{B79ECDB9-9D0A-5FF8-0777-A8B4A36186C3}"/>
              </a:ext>
            </a:extLst>
          </p:cNvPr>
          <p:cNvCxnSpPr>
            <a:cxnSpLocks/>
          </p:cNvCxnSpPr>
          <p:nvPr/>
        </p:nvCxnSpPr>
        <p:spPr>
          <a:xfrm rot="5400000">
            <a:off x="3556002" y="2124365"/>
            <a:ext cx="2964873" cy="2115125"/>
          </a:xfrm>
          <a:prstGeom prst="curvedConnector3">
            <a:avLst>
              <a:gd name="adj1" fmla="val 50000"/>
            </a:avLst>
          </a:prstGeom>
          <a:ln w="19050" cap="flat" cmpd="sng" algn="ctr">
            <a:solidFill>
              <a:schemeClr val="accent4"/>
            </a:solidFill>
            <a:prstDash val="solid"/>
            <a:round/>
            <a:headEnd type="arrow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258476187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E094F53A-6361-E94E-5BDE-6B5297C1498E}"/>
              </a:ext>
            </a:extLst>
          </p:cNvPr>
          <p:cNvSpPr txBox="1"/>
          <p:nvPr/>
        </p:nvSpPr>
        <p:spPr>
          <a:xfrm>
            <a:off x="-1" y="0"/>
            <a:ext cx="3519055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b="1" dirty="0"/>
              <a:t>adminEmpoyee.html</a:t>
            </a:r>
          </a:p>
        </p:txBody>
      </p:sp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E84989AE-1420-7CFC-7A33-B4FACAA95828}"/>
              </a:ext>
            </a:extLst>
          </p:cNvPr>
          <p:cNvSpPr/>
          <p:nvPr/>
        </p:nvSpPr>
        <p:spPr>
          <a:xfrm>
            <a:off x="2328948" y="1216313"/>
            <a:ext cx="7534103" cy="4425374"/>
          </a:xfrm>
          <a:prstGeom prst="roundRect">
            <a:avLst>
              <a:gd name="adj" fmla="val 8439"/>
            </a:avLst>
          </a:prstGeom>
          <a:solidFill>
            <a:schemeClr val="accent6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2000" b="1" dirty="0"/>
              <a:t>{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000" b="1" dirty="0" err="1"/>
              <a:t>addEmployeeBtn</a:t>
            </a:r>
            <a:r>
              <a:rPr lang="en-US" sz="2000" b="1" dirty="0"/>
              <a:t> (adminAddEmployee.html)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000" b="1" dirty="0"/>
              <a:t>Search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000" b="1" dirty="0" err="1"/>
              <a:t>RolesBtn</a:t>
            </a:r>
            <a:r>
              <a:rPr lang="en-US" sz="2000" b="1" dirty="0"/>
              <a:t> (Roles.html)</a:t>
            </a:r>
          </a:p>
          <a:p>
            <a:pPr lvl="1"/>
            <a:endParaRPr lang="en-US" sz="2000" b="1" dirty="0"/>
          </a:p>
          <a:p>
            <a:pPr lvl="1"/>
            <a:r>
              <a:rPr lang="en-US" sz="2000" b="1" dirty="0"/>
              <a:t>Category of lists (Available List, Deactivated List)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000" b="1" dirty="0"/>
              <a:t>List table or cards{</a:t>
            </a:r>
          </a:p>
          <a:p>
            <a:pPr marL="1257300" lvl="2" indent="-342900">
              <a:buFont typeface="Arial" panose="020B0604020202020204" pitchFamily="34" charset="0"/>
              <a:buChar char="•"/>
            </a:pPr>
            <a:r>
              <a:rPr lang="en-US" sz="2000" b="1" dirty="0"/>
              <a:t>First, Last Name,</a:t>
            </a:r>
          </a:p>
          <a:p>
            <a:pPr marL="1257300" lvl="2" indent="-342900">
              <a:buFont typeface="Arial" panose="020B0604020202020204" pitchFamily="34" charset="0"/>
              <a:buChar char="•"/>
            </a:pPr>
            <a:r>
              <a:rPr lang="en-US" sz="2000" b="1" dirty="0"/>
              <a:t>Email,</a:t>
            </a:r>
          </a:p>
          <a:p>
            <a:pPr marL="1257300" lvl="2" indent="-342900">
              <a:buFont typeface="Arial" panose="020B0604020202020204" pitchFamily="34" charset="0"/>
              <a:buChar char="•"/>
            </a:pPr>
            <a:r>
              <a:rPr lang="en-US" sz="2000" b="1" dirty="0"/>
              <a:t>Roles</a:t>
            </a:r>
          </a:p>
          <a:p>
            <a:pPr marL="1257300" lvl="2" indent="-342900">
              <a:buFont typeface="Arial" panose="020B0604020202020204" pitchFamily="34" charset="0"/>
              <a:buChar char="•"/>
            </a:pPr>
            <a:r>
              <a:rPr lang="en-US" sz="2000" b="1" dirty="0" err="1"/>
              <a:t>viewDetailsBtn</a:t>
            </a:r>
            <a:r>
              <a:rPr lang="en-US" sz="2000" b="1" dirty="0"/>
              <a:t> (adminViewEmployee.html)</a:t>
            </a:r>
          </a:p>
          <a:p>
            <a:pPr lvl="1"/>
            <a:r>
              <a:rPr lang="en-US" sz="2000" b="1" dirty="0"/>
              <a:t>	}</a:t>
            </a:r>
          </a:p>
          <a:p>
            <a:r>
              <a:rPr lang="en-US" sz="2000" b="1" dirty="0"/>
              <a:t>}</a:t>
            </a:r>
          </a:p>
        </p:txBody>
      </p:sp>
    </p:spTree>
    <p:extLst>
      <p:ext uri="{BB962C8B-B14F-4D97-AF65-F5344CB8AC3E}">
        <p14:creationId xmlns:p14="http://schemas.microsoft.com/office/powerpoint/2010/main" val="3842427226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E094F53A-6361-E94E-5BDE-6B5297C1498E}"/>
              </a:ext>
            </a:extLst>
          </p:cNvPr>
          <p:cNvSpPr txBox="1"/>
          <p:nvPr/>
        </p:nvSpPr>
        <p:spPr>
          <a:xfrm>
            <a:off x="-1" y="0"/>
            <a:ext cx="3519055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b="1" dirty="0"/>
              <a:t>adminEmpoyee.html</a:t>
            </a:r>
          </a:p>
        </p:txBody>
      </p:sp>
      <p:pic>
        <p:nvPicPr>
          <p:cNvPr id="1026" name="Picture 2">
            <a:extLst>
              <a:ext uri="{FF2B5EF4-FFF2-40B4-BE49-F238E27FC236}">
                <a16:creationId xmlns:a16="http://schemas.microsoft.com/office/drawing/2014/main" id="{D3E9C7C1-FDB4-331F-AAE9-4D082154570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43333" y="1675732"/>
            <a:ext cx="5210200" cy="39076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28" name="Picture 4" descr="Display SharePoint List Data In Jquery Data Table">
            <a:extLst>
              <a:ext uri="{FF2B5EF4-FFF2-40B4-BE49-F238E27FC236}">
                <a16:creationId xmlns:a16="http://schemas.microsoft.com/office/drawing/2014/main" id="{E0175198-BF3C-4F38-5D31-6D8F728CDB6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975927" y="2141906"/>
            <a:ext cx="5872740" cy="257418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CB57B67A-3875-1D25-90D6-8C08E14D9A9C}"/>
              </a:ext>
            </a:extLst>
          </p:cNvPr>
          <p:cNvSpPr txBox="1"/>
          <p:nvPr/>
        </p:nvSpPr>
        <p:spPr>
          <a:xfrm>
            <a:off x="4726708" y="6008254"/>
            <a:ext cx="2498437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000" b="1" dirty="0"/>
              <a:t>Cards VS Table</a:t>
            </a:r>
          </a:p>
        </p:txBody>
      </p:sp>
    </p:spTree>
    <p:extLst>
      <p:ext uri="{BB962C8B-B14F-4D97-AF65-F5344CB8AC3E}">
        <p14:creationId xmlns:p14="http://schemas.microsoft.com/office/powerpoint/2010/main" val="3506066305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E094F53A-6361-E94E-5BDE-6B5297C1498E}"/>
              </a:ext>
            </a:extLst>
          </p:cNvPr>
          <p:cNvSpPr txBox="1"/>
          <p:nvPr/>
        </p:nvSpPr>
        <p:spPr>
          <a:xfrm>
            <a:off x="-1" y="0"/>
            <a:ext cx="3519055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b="1" dirty="0"/>
              <a:t>adminViewEmpoyee.html</a:t>
            </a:r>
          </a:p>
        </p:txBody>
      </p:sp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E84989AE-1420-7CFC-7A33-B4FACAA95828}"/>
              </a:ext>
            </a:extLst>
          </p:cNvPr>
          <p:cNvSpPr/>
          <p:nvPr/>
        </p:nvSpPr>
        <p:spPr>
          <a:xfrm>
            <a:off x="2328948" y="1216313"/>
            <a:ext cx="7534103" cy="4425374"/>
          </a:xfrm>
          <a:prstGeom prst="roundRect">
            <a:avLst>
              <a:gd name="adj" fmla="val 8439"/>
            </a:avLst>
          </a:prstGeom>
          <a:solidFill>
            <a:schemeClr val="accent6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2000" b="1" dirty="0"/>
              <a:t>{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000" b="1" dirty="0"/>
              <a:t>Employee Name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000" b="1" dirty="0"/>
              <a:t>Picture of Employee (has default </a:t>
            </a:r>
            <a:r>
              <a:rPr lang="en-US" sz="2000" b="1" dirty="0" err="1"/>
              <a:t>pfp</a:t>
            </a:r>
            <a:r>
              <a:rPr lang="en-US" sz="2000" b="1" dirty="0"/>
              <a:t> if no picture)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000" b="1" dirty="0"/>
              <a:t>Email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000" b="1" dirty="0"/>
              <a:t>Roles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000" b="1" dirty="0"/>
              <a:t>Privileges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000" b="1" dirty="0"/>
              <a:t>Scope Properties List (Picture?, Name, Address)</a:t>
            </a:r>
          </a:p>
          <a:p>
            <a:pPr lvl="1"/>
            <a:endParaRPr lang="en-US" sz="2000" b="1" dirty="0"/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000" b="1" dirty="0"/>
              <a:t>Buttons : </a:t>
            </a:r>
            <a:r>
              <a:rPr lang="en-US" sz="2000" b="1" dirty="0" err="1"/>
              <a:t>DeactivateBtn</a:t>
            </a:r>
            <a:r>
              <a:rPr lang="en-US" sz="2000" b="1" dirty="0"/>
              <a:t>, </a:t>
            </a:r>
            <a:r>
              <a:rPr lang="en-US" sz="2000" b="1" dirty="0" err="1"/>
              <a:t>EditBtn</a:t>
            </a:r>
            <a:r>
              <a:rPr lang="en-US" sz="2000" b="1" dirty="0"/>
              <a:t> (y/n)</a:t>
            </a:r>
          </a:p>
          <a:p>
            <a:r>
              <a:rPr lang="en-US" sz="2000" b="1" dirty="0"/>
              <a:t>}</a:t>
            </a:r>
          </a:p>
        </p:txBody>
      </p:sp>
    </p:spTree>
    <p:extLst>
      <p:ext uri="{BB962C8B-B14F-4D97-AF65-F5344CB8AC3E}">
        <p14:creationId xmlns:p14="http://schemas.microsoft.com/office/powerpoint/2010/main" val="255895874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E094F53A-6361-E94E-5BDE-6B5297C1498E}"/>
              </a:ext>
            </a:extLst>
          </p:cNvPr>
          <p:cNvSpPr txBox="1"/>
          <p:nvPr/>
        </p:nvSpPr>
        <p:spPr>
          <a:xfrm>
            <a:off x="-1" y="0"/>
            <a:ext cx="3519055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b="1" dirty="0"/>
              <a:t>adminAddEmpoyee.html</a:t>
            </a:r>
          </a:p>
        </p:txBody>
      </p:sp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E84989AE-1420-7CFC-7A33-B4FACAA95828}"/>
              </a:ext>
            </a:extLst>
          </p:cNvPr>
          <p:cNvSpPr/>
          <p:nvPr/>
        </p:nvSpPr>
        <p:spPr>
          <a:xfrm>
            <a:off x="766618" y="1216313"/>
            <a:ext cx="10658764" cy="4425374"/>
          </a:xfrm>
          <a:prstGeom prst="roundRect">
            <a:avLst>
              <a:gd name="adj" fmla="val 8439"/>
            </a:avLst>
          </a:prstGeom>
          <a:solidFill>
            <a:schemeClr val="accent6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2000" b="1" dirty="0"/>
              <a:t>Input{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000" b="1" dirty="0"/>
              <a:t>F,L Name : text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000" b="1" dirty="0"/>
              <a:t>Email : email text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endParaRPr lang="en-US" sz="2000" b="1" dirty="0"/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000" b="1" dirty="0"/>
              <a:t>Add Roles : text with dropdown 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000" b="1" dirty="0"/>
              <a:t>Roles (Name of role) : cards  with button for delete role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endParaRPr lang="en-US" sz="2000" b="1" dirty="0"/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000" b="1" dirty="0"/>
              <a:t>Add Properties : text with dropdown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000" b="1" dirty="0"/>
              <a:t>Properties (Name of Property, Address): cards with button for delete property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endParaRPr lang="en-US" sz="2000" b="1" dirty="0"/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000" b="1" dirty="0"/>
              <a:t>Buttons : </a:t>
            </a:r>
            <a:r>
              <a:rPr lang="en-US" sz="2000" b="1" dirty="0" err="1"/>
              <a:t>DeactivateBtn</a:t>
            </a:r>
            <a:r>
              <a:rPr lang="en-US" sz="2000" b="1" dirty="0"/>
              <a:t>, </a:t>
            </a:r>
            <a:r>
              <a:rPr lang="en-US" sz="2000" b="1" dirty="0" err="1"/>
              <a:t>EditBtn</a:t>
            </a:r>
            <a:r>
              <a:rPr lang="en-US" sz="2000" b="1" dirty="0"/>
              <a:t> (y/n)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000" b="1" dirty="0"/>
              <a:t>// if role and properties is empty, don’t proceed to edit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000" b="1" dirty="0"/>
              <a:t>// the privilege is ONLY PSR, No Add Properties &amp; Properties.</a:t>
            </a:r>
          </a:p>
          <a:p>
            <a:r>
              <a:rPr lang="en-US" sz="2000" b="1" dirty="0"/>
              <a:t>}</a:t>
            </a:r>
          </a:p>
        </p:txBody>
      </p:sp>
    </p:spTree>
    <p:extLst>
      <p:ext uri="{BB962C8B-B14F-4D97-AF65-F5344CB8AC3E}">
        <p14:creationId xmlns:p14="http://schemas.microsoft.com/office/powerpoint/2010/main" val="1436565911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E094F53A-6361-E94E-5BDE-6B5297C1498E}"/>
              </a:ext>
            </a:extLst>
          </p:cNvPr>
          <p:cNvSpPr txBox="1"/>
          <p:nvPr/>
        </p:nvSpPr>
        <p:spPr>
          <a:xfrm>
            <a:off x="-1" y="0"/>
            <a:ext cx="3519055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b="1" dirty="0"/>
              <a:t>adminEditEmpoyee.html</a:t>
            </a:r>
          </a:p>
        </p:txBody>
      </p:sp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E84989AE-1420-7CFC-7A33-B4FACAA95828}"/>
              </a:ext>
            </a:extLst>
          </p:cNvPr>
          <p:cNvSpPr/>
          <p:nvPr/>
        </p:nvSpPr>
        <p:spPr>
          <a:xfrm>
            <a:off x="766618" y="1216313"/>
            <a:ext cx="10658764" cy="4425374"/>
          </a:xfrm>
          <a:prstGeom prst="roundRect">
            <a:avLst>
              <a:gd name="adj" fmla="val 8439"/>
            </a:avLst>
          </a:prstGeom>
          <a:solidFill>
            <a:schemeClr val="accent6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2000" b="1" dirty="0"/>
              <a:t>Input-Autofill{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000" b="1" dirty="0"/>
              <a:t>F,L Name : text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000" b="1" dirty="0"/>
              <a:t>Email : email text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endParaRPr lang="en-US" sz="2000" b="1" dirty="0"/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000" b="1" dirty="0"/>
              <a:t>Add Roles : text with dropdown 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000" b="1" dirty="0"/>
              <a:t>Roles (Name of role) : cards  with button for delete role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endParaRPr lang="en-US" sz="2000" b="1" dirty="0"/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000" b="1" dirty="0"/>
              <a:t>Add Properties : text with dropdown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000" b="1" dirty="0"/>
              <a:t>Properties (Name of Property, Address): cards with button for delete property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endParaRPr lang="en-US" sz="2000" b="1" dirty="0"/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000" b="1" dirty="0"/>
              <a:t>Buttons : </a:t>
            </a:r>
            <a:r>
              <a:rPr lang="en-US" sz="2000" b="1" dirty="0" err="1"/>
              <a:t>DeactivateBtn</a:t>
            </a:r>
            <a:r>
              <a:rPr lang="en-US" sz="2000" b="1" dirty="0"/>
              <a:t>, </a:t>
            </a:r>
            <a:r>
              <a:rPr lang="en-US" sz="2000" b="1" dirty="0" err="1"/>
              <a:t>EditBtn</a:t>
            </a:r>
            <a:r>
              <a:rPr lang="en-US" sz="2000" b="1" dirty="0"/>
              <a:t> (y/n)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000" b="1" dirty="0"/>
              <a:t>// if role and properties is empty, don’t proceed to edit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000" b="1" dirty="0"/>
              <a:t>// the privilege is ONLY PSR, No Add Properties.</a:t>
            </a:r>
          </a:p>
          <a:p>
            <a:r>
              <a:rPr lang="en-US" sz="2000" b="1" dirty="0"/>
              <a:t>}</a:t>
            </a:r>
          </a:p>
        </p:txBody>
      </p:sp>
    </p:spTree>
    <p:extLst>
      <p:ext uri="{BB962C8B-B14F-4D97-AF65-F5344CB8AC3E}">
        <p14:creationId xmlns:p14="http://schemas.microsoft.com/office/powerpoint/2010/main" val="2488963663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E094F53A-6361-E94E-5BDE-6B5297C1498E}"/>
              </a:ext>
            </a:extLst>
          </p:cNvPr>
          <p:cNvSpPr txBox="1"/>
          <p:nvPr/>
        </p:nvSpPr>
        <p:spPr>
          <a:xfrm>
            <a:off x="-1" y="0"/>
            <a:ext cx="3519055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b="1" dirty="0"/>
              <a:t>adminRoles.html</a:t>
            </a:r>
          </a:p>
        </p:txBody>
      </p:sp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E84989AE-1420-7CFC-7A33-B4FACAA95828}"/>
              </a:ext>
            </a:extLst>
          </p:cNvPr>
          <p:cNvSpPr/>
          <p:nvPr/>
        </p:nvSpPr>
        <p:spPr>
          <a:xfrm>
            <a:off x="2932891" y="1479549"/>
            <a:ext cx="6326217" cy="3898901"/>
          </a:xfrm>
          <a:prstGeom prst="roundRect">
            <a:avLst>
              <a:gd name="adj" fmla="val 8439"/>
            </a:avLst>
          </a:prstGeom>
          <a:solidFill>
            <a:schemeClr val="accent6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2000" b="1" dirty="0"/>
              <a:t>Roles{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000" b="1" dirty="0"/>
              <a:t>Add Roles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000" b="1" dirty="0"/>
              <a:t>Search Roles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endParaRPr lang="en-US" sz="2000" b="1" dirty="0"/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000" b="1" dirty="0"/>
              <a:t>List of Roles (table or cards) {</a:t>
            </a:r>
          </a:p>
          <a:p>
            <a:pPr marL="1257300" lvl="2" indent="-342900">
              <a:buFont typeface="Arial" panose="020B0604020202020204" pitchFamily="34" charset="0"/>
              <a:buChar char="•"/>
            </a:pPr>
            <a:r>
              <a:rPr lang="en-US" sz="2000" b="1" dirty="0"/>
              <a:t>Role name</a:t>
            </a:r>
          </a:p>
          <a:p>
            <a:pPr marL="1257300" lvl="2" indent="-342900">
              <a:buFont typeface="Arial" panose="020B0604020202020204" pitchFamily="34" charset="0"/>
              <a:buChar char="•"/>
            </a:pPr>
            <a:r>
              <a:rPr lang="en-US" sz="2000" b="1" dirty="0" err="1"/>
              <a:t>viewRoleDetails</a:t>
            </a:r>
            <a:r>
              <a:rPr lang="en-US" sz="2000" b="1" dirty="0"/>
              <a:t>(adminViewRoles.html)</a:t>
            </a:r>
          </a:p>
          <a:p>
            <a:pPr lvl="1"/>
            <a:r>
              <a:rPr lang="en-US" sz="2000" b="1" dirty="0"/>
              <a:t>}</a:t>
            </a:r>
          </a:p>
          <a:p>
            <a:r>
              <a:rPr lang="en-US" sz="2000" b="1" dirty="0"/>
              <a:t>}</a:t>
            </a:r>
          </a:p>
        </p:txBody>
      </p:sp>
    </p:spTree>
    <p:extLst>
      <p:ext uri="{BB962C8B-B14F-4D97-AF65-F5344CB8AC3E}">
        <p14:creationId xmlns:p14="http://schemas.microsoft.com/office/powerpoint/2010/main" val="2787946736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E094F53A-6361-E94E-5BDE-6B5297C1498E}"/>
              </a:ext>
            </a:extLst>
          </p:cNvPr>
          <p:cNvSpPr txBox="1"/>
          <p:nvPr/>
        </p:nvSpPr>
        <p:spPr>
          <a:xfrm>
            <a:off x="-1" y="0"/>
            <a:ext cx="3519055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b="1" dirty="0"/>
              <a:t>adminViewRole.html</a:t>
            </a:r>
          </a:p>
        </p:txBody>
      </p:sp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E84989AE-1420-7CFC-7A33-B4FACAA95828}"/>
              </a:ext>
            </a:extLst>
          </p:cNvPr>
          <p:cNvSpPr/>
          <p:nvPr/>
        </p:nvSpPr>
        <p:spPr>
          <a:xfrm>
            <a:off x="3332191" y="1859682"/>
            <a:ext cx="5527618" cy="3138635"/>
          </a:xfrm>
          <a:prstGeom prst="roundRect">
            <a:avLst>
              <a:gd name="adj" fmla="val 6434"/>
            </a:avLst>
          </a:prstGeom>
          <a:solidFill>
            <a:schemeClr val="accent6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2000" b="1" dirty="0" err="1"/>
              <a:t>viewRole</a:t>
            </a:r>
            <a:r>
              <a:rPr lang="en-US" sz="2000" b="1" dirty="0"/>
              <a:t>{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000" b="1" dirty="0"/>
              <a:t>Name of role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000" b="1" dirty="0"/>
              <a:t>Privileges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endParaRPr lang="en-US" sz="2000" b="1" dirty="0"/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000" b="1" dirty="0"/>
              <a:t>Buttons : edit delete (y/n)</a:t>
            </a:r>
          </a:p>
          <a:p>
            <a:r>
              <a:rPr lang="en-US" sz="2000" b="1" dirty="0"/>
              <a:t>}</a:t>
            </a:r>
          </a:p>
        </p:txBody>
      </p:sp>
    </p:spTree>
    <p:extLst>
      <p:ext uri="{BB962C8B-B14F-4D97-AF65-F5344CB8AC3E}">
        <p14:creationId xmlns:p14="http://schemas.microsoft.com/office/powerpoint/2010/main" val="767044390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E094F53A-6361-E94E-5BDE-6B5297C1498E}"/>
              </a:ext>
            </a:extLst>
          </p:cNvPr>
          <p:cNvSpPr txBox="1"/>
          <p:nvPr/>
        </p:nvSpPr>
        <p:spPr>
          <a:xfrm>
            <a:off x="-1" y="0"/>
            <a:ext cx="3519055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b="1" dirty="0"/>
              <a:t>adminAddRole.html</a:t>
            </a:r>
          </a:p>
        </p:txBody>
      </p:sp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E84989AE-1420-7CFC-7A33-B4FACAA95828}"/>
              </a:ext>
            </a:extLst>
          </p:cNvPr>
          <p:cNvSpPr/>
          <p:nvPr/>
        </p:nvSpPr>
        <p:spPr>
          <a:xfrm>
            <a:off x="1916891" y="1017729"/>
            <a:ext cx="8358217" cy="4754997"/>
          </a:xfrm>
          <a:prstGeom prst="roundRect">
            <a:avLst>
              <a:gd name="adj" fmla="val 6434"/>
            </a:avLst>
          </a:prstGeom>
          <a:solidFill>
            <a:schemeClr val="accent6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2000" b="1" dirty="0" err="1"/>
              <a:t>addRoleInput</a:t>
            </a:r>
            <a:r>
              <a:rPr lang="en-US" sz="2000" b="1" dirty="0"/>
              <a:t>{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000" b="1" dirty="0"/>
              <a:t>Name of role : text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000" b="1" dirty="0"/>
              <a:t>Privileges: {</a:t>
            </a:r>
          </a:p>
          <a:p>
            <a:pPr marL="1257300" lvl="2" indent="-342900">
              <a:buFont typeface="Arial" panose="020B0604020202020204" pitchFamily="34" charset="0"/>
              <a:buChar char="•"/>
            </a:pPr>
            <a:r>
              <a:rPr lang="en-US" sz="2000" b="1" dirty="0"/>
              <a:t>(PSR) Property Summary Report</a:t>
            </a:r>
          </a:p>
          <a:p>
            <a:pPr marL="1257300" lvl="2" indent="-342900">
              <a:buFont typeface="Arial" panose="020B0604020202020204" pitchFamily="34" charset="0"/>
              <a:buChar char="•"/>
            </a:pPr>
            <a:r>
              <a:rPr lang="en-US" sz="2000" b="1" dirty="0"/>
              <a:t>(TS) Transactions</a:t>
            </a:r>
          </a:p>
          <a:p>
            <a:pPr marL="1257300" lvl="2" indent="-342900">
              <a:buFont typeface="Arial" panose="020B0604020202020204" pitchFamily="34" charset="0"/>
              <a:buChar char="•"/>
            </a:pPr>
            <a:r>
              <a:rPr lang="en-US" sz="2000" b="1" dirty="0"/>
              <a:t>(TK) Ticketing</a:t>
            </a:r>
          </a:p>
          <a:p>
            <a:pPr marL="1257300" lvl="2" indent="-342900">
              <a:buFont typeface="Arial" panose="020B0604020202020204" pitchFamily="34" charset="0"/>
              <a:buChar char="•"/>
            </a:pPr>
            <a:r>
              <a:rPr lang="en-US" sz="2000" b="1" dirty="0"/>
              <a:t>(PM) Property Monitoring</a:t>
            </a:r>
          </a:p>
          <a:p>
            <a:pPr lvl="1"/>
            <a:r>
              <a:rPr lang="en-US" sz="2000" b="1" dirty="0"/>
              <a:t>}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000" b="1" dirty="0">
                <a:solidFill>
                  <a:schemeClr val="bg1"/>
                </a:solidFill>
              </a:rPr>
              <a:t>Buttons : Add, Cancel (y/n)</a:t>
            </a:r>
          </a:p>
          <a:p>
            <a:r>
              <a:rPr lang="en-US" sz="2000" b="1" dirty="0"/>
              <a:t>}</a:t>
            </a:r>
          </a:p>
        </p:txBody>
      </p:sp>
    </p:spTree>
    <p:extLst>
      <p:ext uri="{BB962C8B-B14F-4D97-AF65-F5344CB8AC3E}">
        <p14:creationId xmlns:p14="http://schemas.microsoft.com/office/powerpoint/2010/main" val="1786946379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E094F53A-6361-E94E-5BDE-6B5297C1498E}"/>
              </a:ext>
            </a:extLst>
          </p:cNvPr>
          <p:cNvSpPr txBox="1"/>
          <p:nvPr/>
        </p:nvSpPr>
        <p:spPr>
          <a:xfrm>
            <a:off x="-1" y="0"/>
            <a:ext cx="3519055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b="1" dirty="0"/>
              <a:t>adminEditRole.html</a:t>
            </a:r>
          </a:p>
        </p:txBody>
      </p:sp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E84989AE-1420-7CFC-7A33-B4FACAA95828}"/>
              </a:ext>
            </a:extLst>
          </p:cNvPr>
          <p:cNvSpPr/>
          <p:nvPr/>
        </p:nvSpPr>
        <p:spPr>
          <a:xfrm>
            <a:off x="1916891" y="1017729"/>
            <a:ext cx="8358217" cy="4754997"/>
          </a:xfrm>
          <a:prstGeom prst="roundRect">
            <a:avLst>
              <a:gd name="adj" fmla="val 6434"/>
            </a:avLst>
          </a:prstGeom>
          <a:solidFill>
            <a:schemeClr val="accent6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2000" b="1" dirty="0" err="1"/>
              <a:t>editRoleInput</a:t>
            </a:r>
            <a:r>
              <a:rPr lang="en-US" sz="2000" b="1" dirty="0"/>
              <a:t> Auto Fill{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000" b="1" dirty="0"/>
              <a:t>Name of role : text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000" b="1" dirty="0"/>
              <a:t>Privileges: {</a:t>
            </a:r>
          </a:p>
          <a:p>
            <a:pPr marL="1257300" lvl="2" indent="-342900">
              <a:buFont typeface="Arial" panose="020B0604020202020204" pitchFamily="34" charset="0"/>
              <a:buChar char="•"/>
            </a:pPr>
            <a:r>
              <a:rPr lang="en-US" sz="2000" b="1" dirty="0"/>
              <a:t>(PSR) Property Summary Report</a:t>
            </a:r>
          </a:p>
          <a:p>
            <a:pPr marL="1257300" lvl="2" indent="-342900">
              <a:buFont typeface="Arial" panose="020B0604020202020204" pitchFamily="34" charset="0"/>
              <a:buChar char="•"/>
            </a:pPr>
            <a:r>
              <a:rPr lang="en-US" sz="2000" b="1" dirty="0"/>
              <a:t>(TS) Transactions</a:t>
            </a:r>
          </a:p>
          <a:p>
            <a:pPr marL="1257300" lvl="2" indent="-342900">
              <a:buFont typeface="Arial" panose="020B0604020202020204" pitchFamily="34" charset="0"/>
              <a:buChar char="•"/>
            </a:pPr>
            <a:r>
              <a:rPr lang="en-US" sz="2000" b="1" dirty="0"/>
              <a:t>(TK) Ticketing</a:t>
            </a:r>
          </a:p>
          <a:p>
            <a:pPr marL="1257300" lvl="2" indent="-342900">
              <a:buFont typeface="Arial" panose="020B0604020202020204" pitchFamily="34" charset="0"/>
              <a:buChar char="•"/>
            </a:pPr>
            <a:r>
              <a:rPr lang="en-US" sz="2000" b="1" dirty="0"/>
              <a:t>(PM) Property Monitoring</a:t>
            </a:r>
          </a:p>
          <a:p>
            <a:pPr lvl="1"/>
            <a:r>
              <a:rPr lang="en-US" sz="2000" b="1" dirty="0"/>
              <a:t>}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000" b="1" dirty="0">
                <a:solidFill>
                  <a:schemeClr val="bg1"/>
                </a:solidFill>
              </a:rPr>
              <a:t>Buttons : Save, Cancel (y/n)</a:t>
            </a:r>
          </a:p>
          <a:p>
            <a:r>
              <a:rPr lang="en-US" sz="2000" b="1" dirty="0"/>
              <a:t>}</a:t>
            </a:r>
          </a:p>
        </p:txBody>
      </p:sp>
    </p:spTree>
    <p:extLst>
      <p:ext uri="{BB962C8B-B14F-4D97-AF65-F5344CB8AC3E}">
        <p14:creationId xmlns:p14="http://schemas.microsoft.com/office/powerpoint/2010/main" val="4239146291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E094F53A-6361-E94E-5BDE-6B5297C1498E}"/>
              </a:ext>
            </a:extLst>
          </p:cNvPr>
          <p:cNvSpPr txBox="1"/>
          <p:nvPr/>
        </p:nvSpPr>
        <p:spPr>
          <a:xfrm>
            <a:off x="-1" y="0"/>
            <a:ext cx="3519055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b="1" dirty="0"/>
              <a:t>adminFAQs.html</a:t>
            </a:r>
          </a:p>
        </p:txBody>
      </p:sp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E84989AE-1420-7CFC-7A33-B4FACAA95828}"/>
              </a:ext>
            </a:extLst>
          </p:cNvPr>
          <p:cNvSpPr/>
          <p:nvPr/>
        </p:nvSpPr>
        <p:spPr>
          <a:xfrm>
            <a:off x="226636" y="1007684"/>
            <a:ext cx="8270819" cy="4293989"/>
          </a:xfrm>
          <a:prstGeom prst="roundRect">
            <a:avLst>
              <a:gd name="adj" fmla="val 6434"/>
            </a:avLst>
          </a:prstGeom>
          <a:solidFill>
            <a:schemeClr val="accent6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2000" b="1" dirty="0"/>
              <a:t>{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000" b="1" dirty="0"/>
              <a:t>List{(Question, Answer), (Buttons : </a:t>
            </a:r>
            <a:r>
              <a:rPr lang="en-US" sz="2000" b="1" dirty="0" err="1"/>
              <a:t>deleteBtn</a:t>
            </a:r>
            <a:r>
              <a:rPr lang="en-US" sz="2000" b="1" dirty="0"/>
              <a:t>, </a:t>
            </a:r>
            <a:r>
              <a:rPr lang="en-US" sz="2000" b="1" dirty="0" err="1"/>
              <a:t>editBtn</a:t>
            </a:r>
            <a:r>
              <a:rPr lang="en-US" sz="2000" b="1" dirty="0"/>
              <a:t> (y/n))}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000" b="1" dirty="0" err="1"/>
              <a:t>AddFAQs</a:t>
            </a:r>
            <a:r>
              <a:rPr lang="en-US" sz="2000" b="1" dirty="0"/>
              <a:t>{</a:t>
            </a:r>
          </a:p>
          <a:p>
            <a:pPr lvl="2"/>
            <a:r>
              <a:rPr lang="en-US" sz="2000" b="1" dirty="0"/>
              <a:t>(</a:t>
            </a:r>
          </a:p>
          <a:p>
            <a:pPr marL="1714500" lvl="3" indent="-342900">
              <a:buFont typeface="Arial" panose="020B0604020202020204" pitchFamily="34" charset="0"/>
              <a:buChar char="•"/>
            </a:pPr>
            <a:r>
              <a:rPr lang="en-US" sz="2000" b="1" dirty="0"/>
              <a:t>Question : text</a:t>
            </a:r>
          </a:p>
          <a:p>
            <a:pPr marL="1714500" lvl="3" indent="-342900">
              <a:buFont typeface="Arial" panose="020B0604020202020204" pitchFamily="34" charset="0"/>
              <a:buChar char="•"/>
            </a:pPr>
            <a:r>
              <a:rPr lang="en-US" sz="2000" b="1" dirty="0"/>
              <a:t>Answer : text</a:t>
            </a:r>
          </a:p>
          <a:p>
            <a:pPr marL="1714500" lvl="3" indent="-342900">
              <a:buFont typeface="Arial" panose="020B0604020202020204" pitchFamily="34" charset="0"/>
              <a:buChar char="•"/>
            </a:pPr>
            <a:r>
              <a:rPr lang="en-US" sz="2000" b="1" dirty="0"/>
              <a:t>Save : button (y/n)</a:t>
            </a:r>
          </a:p>
          <a:p>
            <a:pPr marL="1714500" lvl="3" indent="-342900">
              <a:buFont typeface="Arial" panose="020B0604020202020204" pitchFamily="34" charset="0"/>
              <a:buChar char="•"/>
            </a:pPr>
            <a:r>
              <a:rPr lang="en-US" sz="2000" b="1" dirty="0"/>
              <a:t>Cancel : button (y/n)</a:t>
            </a:r>
          </a:p>
          <a:p>
            <a:pPr lvl="2"/>
            <a:r>
              <a:rPr lang="en-US" sz="2000" b="1" dirty="0"/>
              <a:t>)</a:t>
            </a:r>
          </a:p>
          <a:p>
            <a:pPr lvl="1"/>
            <a:r>
              <a:rPr lang="en-US" sz="2000" b="1" dirty="0"/>
              <a:t>}</a:t>
            </a:r>
          </a:p>
          <a:p>
            <a:r>
              <a:rPr lang="en-US" sz="2000" b="1" dirty="0"/>
              <a:t>}</a:t>
            </a:r>
          </a:p>
        </p:txBody>
      </p:sp>
      <p:sp>
        <p:nvSpPr>
          <p:cNvPr id="2" name="Rectangle: Rounded Corners 1">
            <a:extLst>
              <a:ext uri="{FF2B5EF4-FFF2-40B4-BE49-F238E27FC236}">
                <a16:creationId xmlns:a16="http://schemas.microsoft.com/office/drawing/2014/main" id="{90B540D9-8496-05FF-AC7C-C72B3E708394}"/>
              </a:ext>
            </a:extLst>
          </p:cNvPr>
          <p:cNvSpPr/>
          <p:nvPr/>
        </p:nvSpPr>
        <p:spPr>
          <a:xfrm>
            <a:off x="8672946" y="1838983"/>
            <a:ext cx="3292418" cy="2631389"/>
          </a:xfrm>
          <a:prstGeom prst="roundRect">
            <a:avLst>
              <a:gd name="adj" fmla="val 6434"/>
            </a:avLst>
          </a:prstGeom>
          <a:solidFill>
            <a:schemeClr val="accent6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2000" b="1" dirty="0" err="1"/>
              <a:t>editBtn</a:t>
            </a:r>
            <a:r>
              <a:rPr lang="en-US" sz="2000" b="1" dirty="0"/>
              <a:t> =&gt; {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000" b="1" dirty="0"/>
              <a:t>Modal autofill(</a:t>
            </a:r>
          </a:p>
          <a:p>
            <a:pPr marL="1257300" lvl="2" indent="-342900">
              <a:buFont typeface="Arial" panose="020B0604020202020204" pitchFamily="34" charset="0"/>
              <a:buChar char="•"/>
            </a:pPr>
            <a:r>
              <a:rPr lang="en-US" sz="2000" b="1" dirty="0"/>
              <a:t>Question</a:t>
            </a:r>
          </a:p>
          <a:p>
            <a:pPr marL="1257300" lvl="2" indent="-342900">
              <a:buFont typeface="Arial" panose="020B0604020202020204" pitchFamily="34" charset="0"/>
              <a:buChar char="•"/>
            </a:pPr>
            <a:r>
              <a:rPr lang="en-US" sz="2000" b="1" dirty="0"/>
              <a:t>Answer</a:t>
            </a:r>
          </a:p>
          <a:p>
            <a:pPr marL="1257300" lvl="2" indent="-342900">
              <a:buFont typeface="Arial" panose="020B0604020202020204" pitchFamily="34" charset="0"/>
              <a:buChar char="•"/>
            </a:pPr>
            <a:r>
              <a:rPr lang="en-US" sz="2000" b="1" dirty="0"/>
              <a:t>Save</a:t>
            </a:r>
          </a:p>
          <a:p>
            <a:pPr marL="1257300" lvl="2" indent="-342900">
              <a:buFont typeface="Arial" panose="020B0604020202020204" pitchFamily="34" charset="0"/>
              <a:buChar char="•"/>
            </a:pPr>
            <a:r>
              <a:rPr lang="en-US" sz="2000" b="1" dirty="0"/>
              <a:t>Cancel</a:t>
            </a:r>
          </a:p>
          <a:p>
            <a:pPr lvl="1"/>
            <a:r>
              <a:rPr lang="en-US" sz="2000" b="1" dirty="0"/>
              <a:t>)</a:t>
            </a:r>
          </a:p>
          <a:p>
            <a:r>
              <a:rPr lang="en-US" sz="2000" b="1" dirty="0"/>
              <a:t>}</a:t>
            </a:r>
          </a:p>
        </p:txBody>
      </p:sp>
      <p:sp>
        <p:nvSpPr>
          <p:cNvPr id="10" name="Freeform: Shape 9">
            <a:extLst>
              <a:ext uri="{FF2B5EF4-FFF2-40B4-BE49-F238E27FC236}">
                <a16:creationId xmlns:a16="http://schemas.microsoft.com/office/drawing/2014/main" id="{9BBA1B9C-D5AD-B5A3-AF4F-A9C6460918A1}"/>
              </a:ext>
            </a:extLst>
          </p:cNvPr>
          <p:cNvSpPr/>
          <p:nvPr/>
        </p:nvSpPr>
        <p:spPr>
          <a:xfrm>
            <a:off x="6918036" y="1357745"/>
            <a:ext cx="2410700" cy="637310"/>
          </a:xfrm>
          <a:custGeom>
            <a:avLst/>
            <a:gdLst>
              <a:gd name="connsiteX0" fmla="*/ 0 w 2410700"/>
              <a:gd name="connsiteY0" fmla="*/ 314037 h 637310"/>
              <a:gd name="connsiteX1" fmla="*/ 18473 w 2410700"/>
              <a:gd name="connsiteY1" fmla="*/ 267855 h 637310"/>
              <a:gd name="connsiteX2" fmla="*/ 895928 w 2410700"/>
              <a:gd name="connsiteY2" fmla="*/ 0 h 637310"/>
              <a:gd name="connsiteX3" fmla="*/ 1865746 w 2410700"/>
              <a:gd name="connsiteY3" fmla="*/ 64655 h 637310"/>
              <a:gd name="connsiteX4" fmla="*/ 2032000 w 2410700"/>
              <a:gd name="connsiteY4" fmla="*/ 157019 h 637310"/>
              <a:gd name="connsiteX5" fmla="*/ 2318328 w 2410700"/>
              <a:gd name="connsiteY5" fmla="*/ 443346 h 637310"/>
              <a:gd name="connsiteX6" fmla="*/ 2410691 w 2410700"/>
              <a:gd name="connsiteY6" fmla="*/ 637310 h 63731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2410700" h="637310">
                <a:moveTo>
                  <a:pt x="0" y="314037"/>
                </a:moveTo>
                <a:cubicBezTo>
                  <a:pt x="6158" y="298643"/>
                  <a:pt x="5125" y="277690"/>
                  <a:pt x="18473" y="267855"/>
                </a:cubicBezTo>
                <a:cubicBezTo>
                  <a:pt x="429837" y="-35255"/>
                  <a:pt x="324260" y="58137"/>
                  <a:pt x="895928" y="0"/>
                </a:cubicBezTo>
                <a:cubicBezTo>
                  <a:pt x="1219201" y="21552"/>
                  <a:pt x="1544807" y="20297"/>
                  <a:pt x="1865746" y="64655"/>
                </a:cubicBezTo>
                <a:cubicBezTo>
                  <a:pt x="1928545" y="73335"/>
                  <a:pt x="1981142" y="119171"/>
                  <a:pt x="2032000" y="157019"/>
                </a:cubicBezTo>
                <a:cubicBezTo>
                  <a:pt x="2167416" y="257794"/>
                  <a:pt x="2245173" y="315325"/>
                  <a:pt x="2318328" y="443346"/>
                </a:cubicBezTo>
                <a:cubicBezTo>
                  <a:pt x="2413559" y="610000"/>
                  <a:pt x="2410691" y="554063"/>
                  <a:pt x="2410691" y="637310"/>
                </a:cubicBezTo>
              </a:path>
            </a:pathLst>
          </a:custGeom>
          <a:ln w="19050" cap="flat" cmpd="sng" algn="ctr">
            <a:solidFill>
              <a:schemeClr val="accent4"/>
            </a:solidFill>
            <a:prstDash val="solid"/>
            <a:round/>
            <a:headEnd type="arrow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8470993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E094F53A-6361-E94E-5BDE-6B5297C1498E}"/>
              </a:ext>
            </a:extLst>
          </p:cNvPr>
          <p:cNvSpPr txBox="1"/>
          <p:nvPr/>
        </p:nvSpPr>
        <p:spPr>
          <a:xfrm>
            <a:off x="-1" y="0"/>
            <a:ext cx="3519055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b="1" dirty="0"/>
              <a:t>adminFAQs.html</a:t>
            </a:r>
          </a:p>
        </p:txBody>
      </p:sp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E84989AE-1420-7CFC-7A33-B4FACAA95828}"/>
              </a:ext>
            </a:extLst>
          </p:cNvPr>
          <p:cNvSpPr/>
          <p:nvPr/>
        </p:nvSpPr>
        <p:spPr>
          <a:xfrm>
            <a:off x="226636" y="1007684"/>
            <a:ext cx="8270819" cy="4293989"/>
          </a:xfrm>
          <a:prstGeom prst="roundRect">
            <a:avLst>
              <a:gd name="adj" fmla="val 6434"/>
            </a:avLst>
          </a:prstGeom>
          <a:solidFill>
            <a:schemeClr val="accent6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2000" b="1" dirty="0"/>
              <a:t>{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000" b="1" dirty="0"/>
              <a:t>List{(Question, Answer), (Buttons : </a:t>
            </a:r>
            <a:r>
              <a:rPr lang="en-US" sz="2000" b="1" dirty="0" err="1"/>
              <a:t>deleteBtn</a:t>
            </a:r>
            <a:r>
              <a:rPr lang="en-US" sz="2000" b="1" dirty="0"/>
              <a:t>, </a:t>
            </a:r>
            <a:r>
              <a:rPr lang="en-US" sz="2000" b="1" dirty="0" err="1"/>
              <a:t>editBtn</a:t>
            </a:r>
            <a:r>
              <a:rPr lang="en-US" sz="2000" b="1" dirty="0"/>
              <a:t> (y/n))}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000" b="1" dirty="0" err="1"/>
              <a:t>AddFAQs</a:t>
            </a:r>
            <a:r>
              <a:rPr lang="en-US" sz="2000" b="1" dirty="0"/>
              <a:t>{</a:t>
            </a:r>
          </a:p>
          <a:p>
            <a:pPr lvl="2"/>
            <a:r>
              <a:rPr lang="en-US" sz="2000" b="1" dirty="0"/>
              <a:t>(</a:t>
            </a:r>
          </a:p>
          <a:p>
            <a:pPr marL="1714500" lvl="3" indent="-342900">
              <a:buFont typeface="Arial" panose="020B0604020202020204" pitchFamily="34" charset="0"/>
              <a:buChar char="•"/>
            </a:pPr>
            <a:r>
              <a:rPr lang="en-US" sz="2000" b="1" dirty="0"/>
              <a:t>Question : text</a:t>
            </a:r>
          </a:p>
          <a:p>
            <a:pPr marL="1714500" lvl="3" indent="-342900">
              <a:buFont typeface="Arial" panose="020B0604020202020204" pitchFamily="34" charset="0"/>
              <a:buChar char="•"/>
            </a:pPr>
            <a:r>
              <a:rPr lang="en-US" sz="2000" b="1" dirty="0"/>
              <a:t>Answer : text</a:t>
            </a:r>
          </a:p>
          <a:p>
            <a:pPr marL="1714500" lvl="3" indent="-342900">
              <a:buFont typeface="Arial" panose="020B0604020202020204" pitchFamily="34" charset="0"/>
              <a:buChar char="•"/>
            </a:pPr>
            <a:r>
              <a:rPr lang="en-US" sz="2000" b="1" dirty="0"/>
              <a:t>Save : button (y/n)</a:t>
            </a:r>
          </a:p>
          <a:p>
            <a:pPr marL="1714500" lvl="3" indent="-342900">
              <a:buFont typeface="Arial" panose="020B0604020202020204" pitchFamily="34" charset="0"/>
              <a:buChar char="•"/>
            </a:pPr>
            <a:r>
              <a:rPr lang="en-US" sz="2000" b="1" dirty="0"/>
              <a:t>Cancel : button (y/n)</a:t>
            </a:r>
          </a:p>
          <a:p>
            <a:pPr lvl="2"/>
            <a:r>
              <a:rPr lang="en-US" sz="2000" b="1" dirty="0"/>
              <a:t>)</a:t>
            </a:r>
          </a:p>
          <a:p>
            <a:pPr lvl="1"/>
            <a:r>
              <a:rPr lang="en-US" sz="2000" b="1" dirty="0"/>
              <a:t>}</a:t>
            </a:r>
          </a:p>
          <a:p>
            <a:r>
              <a:rPr lang="en-US" sz="2000" b="1" dirty="0"/>
              <a:t>}</a:t>
            </a:r>
          </a:p>
        </p:txBody>
      </p:sp>
      <p:sp>
        <p:nvSpPr>
          <p:cNvPr id="2" name="Rectangle: Rounded Corners 1">
            <a:extLst>
              <a:ext uri="{FF2B5EF4-FFF2-40B4-BE49-F238E27FC236}">
                <a16:creationId xmlns:a16="http://schemas.microsoft.com/office/drawing/2014/main" id="{90B540D9-8496-05FF-AC7C-C72B3E708394}"/>
              </a:ext>
            </a:extLst>
          </p:cNvPr>
          <p:cNvSpPr/>
          <p:nvPr/>
        </p:nvSpPr>
        <p:spPr>
          <a:xfrm>
            <a:off x="8672946" y="1838983"/>
            <a:ext cx="3292418" cy="2631389"/>
          </a:xfrm>
          <a:prstGeom prst="roundRect">
            <a:avLst>
              <a:gd name="adj" fmla="val 6434"/>
            </a:avLst>
          </a:prstGeom>
          <a:solidFill>
            <a:schemeClr val="accent6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2000" b="1" dirty="0" err="1"/>
              <a:t>editBtn</a:t>
            </a:r>
            <a:r>
              <a:rPr lang="en-US" sz="2000" b="1" dirty="0"/>
              <a:t> =&gt; {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000" b="1" dirty="0"/>
              <a:t>Modal autofill(</a:t>
            </a:r>
          </a:p>
          <a:p>
            <a:pPr marL="1257300" lvl="2" indent="-342900">
              <a:buFont typeface="Arial" panose="020B0604020202020204" pitchFamily="34" charset="0"/>
              <a:buChar char="•"/>
            </a:pPr>
            <a:r>
              <a:rPr lang="en-US" sz="2000" b="1" dirty="0"/>
              <a:t>Question</a:t>
            </a:r>
          </a:p>
          <a:p>
            <a:pPr marL="1257300" lvl="2" indent="-342900">
              <a:buFont typeface="Arial" panose="020B0604020202020204" pitchFamily="34" charset="0"/>
              <a:buChar char="•"/>
            </a:pPr>
            <a:r>
              <a:rPr lang="en-US" sz="2000" b="1" dirty="0"/>
              <a:t>Answer</a:t>
            </a:r>
          </a:p>
          <a:p>
            <a:pPr marL="1257300" lvl="2" indent="-342900">
              <a:buFont typeface="Arial" panose="020B0604020202020204" pitchFamily="34" charset="0"/>
              <a:buChar char="•"/>
            </a:pPr>
            <a:r>
              <a:rPr lang="en-US" sz="2000" b="1" dirty="0"/>
              <a:t>Save</a:t>
            </a:r>
          </a:p>
          <a:p>
            <a:pPr marL="1257300" lvl="2" indent="-342900">
              <a:buFont typeface="Arial" panose="020B0604020202020204" pitchFamily="34" charset="0"/>
              <a:buChar char="•"/>
            </a:pPr>
            <a:r>
              <a:rPr lang="en-US" sz="2000" b="1" dirty="0"/>
              <a:t>Cancel</a:t>
            </a:r>
          </a:p>
          <a:p>
            <a:pPr lvl="1"/>
            <a:r>
              <a:rPr lang="en-US" sz="2000" b="1" dirty="0"/>
              <a:t>)</a:t>
            </a:r>
          </a:p>
          <a:p>
            <a:r>
              <a:rPr lang="en-US" sz="2000" b="1" dirty="0"/>
              <a:t>}</a:t>
            </a:r>
          </a:p>
        </p:txBody>
      </p:sp>
      <p:sp>
        <p:nvSpPr>
          <p:cNvPr id="10" name="Freeform: Shape 9">
            <a:extLst>
              <a:ext uri="{FF2B5EF4-FFF2-40B4-BE49-F238E27FC236}">
                <a16:creationId xmlns:a16="http://schemas.microsoft.com/office/drawing/2014/main" id="{9BBA1B9C-D5AD-B5A3-AF4F-A9C6460918A1}"/>
              </a:ext>
            </a:extLst>
          </p:cNvPr>
          <p:cNvSpPr/>
          <p:nvPr/>
        </p:nvSpPr>
        <p:spPr>
          <a:xfrm>
            <a:off x="6918036" y="1357745"/>
            <a:ext cx="2410700" cy="637310"/>
          </a:xfrm>
          <a:custGeom>
            <a:avLst/>
            <a:gdLst>
              <a:gd name="connsiteX0" fmla="*/ 0 w 2410700"/>
              <a:gd name="connsiteY0" fmla="*/ 314037 h 637310"/>
              <a:gd name="connsiteX1" fmla="*/ 18473 w 2410700"/>
              <a:gd name="connsiteY1" fmla="*/ 267855 h 637310"/>
              <a:gd name="connsiteX2" fmla="*/ 895928 w 2410700"/>
              <a:gd name="connsiteY2" fmla="*/ 0 h 637310"/>
              <a:gd name="connsiteX3" fmla="*/ 1865746 w 2410700"/>
              <a:gd name="connsiteY3" fmla="*/ 64655 h 637310"/>
              <a:gd name="connsiteX4" fmla="*/ 2032000 w 2410700"/>
              <a:gd name="connsiteY4" fmla="*/ 157019 h 637310"/>
              <a:gd name="connsiteX5" fmla="*/ 2318328 w 2410700"/>
              <a:gd name="connsiteY5" fmla="*/ 443346 h 637310"/>
              <a:gd name="connsiteX6" fmla="*/ 2410691 w 2410700"/>
              <a:gd name="connsiteY6" fmla="*/ 637310 h 63731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2410700" h="637310">
                <a:moveTo>
                  <a:pt x="0" y="314037"/>
                </a:moveTo>
                <a:cubicBezTo>
                  <a:pt x="6158" y="298643"/>
                  <a:pt x="5125" y="277690"/>
                  <a:pt x="18473" y="267855"/>
                </a:cubicBezTo>
                <a:cubicBezTo>
                  <a:pt x="429837" y="-35255"/>
                  <a:pt x="324260" y="58137"/>
                  <a:pt x="895928" y="0"/>
                </a:cubicBezTo>
                <a:cubicBezTo>
                  <a:pt x="1219201" y="21552"/>
                  <a:pt x="1544807" y="20297"/>
                  <a:pt x="1865746" y="64655"/>
                </a:cubicBezTo>
                <a:cubicBezTo>
                  <a:pt x="1928545" y="73335"/>
                  <a:pt x="1981142" y="119171"/>
                  <a:pt x="2032000" y="157019"/>
                </a:cubicBezTo>
                <a:cubicBezTo>
                  <a:pt x="2167416" y="257794"/>
                  <a:pt x="2245173" y="315325"/>
                  <a:pt x="2318328" y="443346"/>
                </a:cubicBezTo>
                <a:cubicBezTo>
                  <a:pt x="2413559" y="610000"/>
                  <a:pt x="2410691" y="554063"/>
                  <a:pt x="2410691" y="637310"/>
                </a:cubicBezTo>
              </a:path>
            </a:pathLst>
          </a:custGeom>
          <a:ln w="19050" cap="flat" cmpd="sng" algn="ctr">
            <a:solidFill>
              <a:schemeClr val="accent4"/>
            </a:solidFill>
            <a:prstDash val="solid"/>
            <a:round/>
            <a:headEnd type="arrow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07420509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E094F53A-6361-E94E-5BDE-6B5297C1498E}"/>
              </a:ext>
            </a:extLst>
          </p:cNvPr>
          <p:cNvSpPr txBox="1"/>
          <p:nvPr/>
        </p:nvSpPr>
        <p:spPr>
          <a:xfrm>
            <a:off x="-1" y="0"/>
            <a:ext cx="4341092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b="1" dirty="0"/>
              <a:t>adminLandingPage.html</a:t>
            </a:r>
          </a:p>
        </p:txBody>
      </p:sp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E84989AE-1420-7CFC-7A33-B4FACAA95828}"/>
              </a:ext>
            </a:extLst>
          </p:cNvPr>
          <p:cNvSpPr/>
          <p:nvPr/>
        </p:nvSpPr>
        <p:spPr>
          <a:xfrm>
            <a:off x="263582" y="1687019"/>
            <a:ext cx="5056564" cy="3483959"/>
          </a:xfrm>
          <a:prstGeom prst="roundRect">
            <a:avLst>
              <a:gd name="adj" fmla="val 6434"/>
            </a:avLst>
          </a:prstGeom>
          <a:solidFill>
            <a:schemeClr val="accent6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2000" b="1" dirty="0"/>
              <a:t>Landing </a:t>
            </a:r>
            <a:r>
              <a:rPr lang="en-US" sz="2000" b="1" dirty="0" err="1"/>
              <a:t>PageView</a:t>
            </a:r>
            <a:r>
              <a:rPr lang="en-US" sz="2000" b="1" dirty="0"/>
              <a:t>{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000" b="1" dirty="0"/>
              <a:t>Seasonal Texts{</a:t>
            </a:r>
          </a:p>
          <a:p>
            <a:pPr marL="1257300" lvl="2" indent="-342900">
              <a:buFont typeface="Arial" panose="020B0604020202020204" pitchFamily="34" charset="0"/>
              <a:buChar char="•"/>
            </a:pPr>
            <a:r>
              <a:rPr lang="en-US" sz="2000" b="1" dirty="0"/>
              <a:t>Title</a:t>
            </a:r>
          </a:p>
          <a:p>
            <a:pPr marL="1257300" lvl="2" indent="-342900">
              <a:buFont typeface="Arial" panose="020B0604020202020204" pitchFamily="34" charset="0"/>
              <a:buChar char="•"/>
            </a:pPr>
            <a:r>
              <a:rPr lang="en-US" sz="2000" b="1" dirty="0"/>
              <a:t>Content</a:t>
            </a:r>
          </a:p>
          <a:p>
            <a:pPr lvl="1"/>
            <a:r>
              <a:rPr lang="en-US" sz="2000" b="1" dirty="0"/>
              <a:t>}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000" b="1" dirty="0"/>
              <a:t>Featured Units (6) cards (photo?, Name, Address)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endParaRPr lang="en-US" sz="2000" b="1" dirty="0"/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000" b="1" dirty="0"/>
              <a:t>Button : </a:t>
            </a:r>
            <a:r>
              <a:rPr lang="en-US" sz="2000" b="1" dirty="0" err="1"/>
              <a:t>editBtn</a:t>
            </a:r>
            <a:r>
              <a:rPr lang="en-US" sz="2000" b="1" dirty="0"/>
              <a:t> (</a:t>
            </a:r>
            <a:r>
              <a:rPr lang="en-US" sz="2000" b="1" dirty="0" err="1"/>
              <a:t>modalEdit</a:t>
            </a:r>
            <a:r>
              <a:rPr lang="en-US" sz="2000" b="1" dirty="0"/>
              <a:t>)</a:t>
            </a:r>
          </a:p>
          <a:p>
            <a:r>
              <a:rPr lang="en-US" sz="2000" b="1" dirty="0"/>
              <a:t>}</a:t>
            </a:r>
          </a:p>
        </p:txBody>
      </p:sp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6DCD3C21-5D70-6C2B-2F8B-8FD929B6ABEE}"/>
              </a:ext>
            </a:extLst>
          </p:cNvPr>
          <p:cNvSpPr/>
          <p:nvPr/>
        </p:nvSpPr>
        <p:spPr>
          <a:xfrm>
            <a:off x="5606126" y="914401"/>
            <a:ext cx="6253364" cy="4661594"/>
          </a:xfrm>
          <a:prstGeom prst="roundRect">
            <a:avLst>
              <a:gd name="adj" fmla="val 6434"/>
            </a:avLst>
          </a:prstGeom>
          <a:solidFill>
            <a:schemeClr val="accent6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2000" b="1" dirty="0" err="1"/>
              <a:t>modalEdit</a:t>
            </a:r>
            <a:r>
              <a:rPr lang="en-US" sz="2000" b="1" dirty="0"/>
              <a:t> auto fill{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000" b="1" dirty="0"/>
              <a:t>Seasonal Texts{</a:t>
            </a:r>
          </a:p>
          <a:p>
            <a:pPr marL="1257300" lvl="2" indent="-342900">
              <a:buFont typeface="Arial" panose="020B0604020202020204" pitchFamily="34" charset="0"/>
              <a:buChar char="•"/>
            </a:pPr>
            <a:r>
              <a:rPr lang="en-US" sz="2000" b="1" dirty="0"/>
              <a:t>Title : text input (min char)</a:t>
            </a:r>
          </a:p>
          <a:p>
            <a:pPr marL="1257300" lvl="2" indent="-342900">
              <a:buFont typeface="Arial" panose="020B0604020202020204" pitchFamily="34" charset="0"/>
              <a:buChar char="•"/>
            </a:pPr>
            <a:r>
              <a:rPr lang="en-US" sz="2000" b="1" dirty="0"/>
              <a:t>Content : text input (min char)</a:t>
            </a:r>
          </a:p>
          <a:p>
            <a:pPr marL="1257300" lvl="2" indent="-342900">
              <a:buFont typeface="Arial" panose="020B0604020202020204" pitchFamily="34" charset="0"/>
              <a:buChar char="•"/>
            </a:pPr>
            <a:r>
              <a:rPr lang="en-US" sz="2000" b="1" dirty="0"/>
              <a:t>Upload: </a:t>
            </a:r>
            <a:r>
              <a:rPr lang="en-US" sz="2000" b="1" dirty="0" err="1"/>
              <a:t>BgImage</a:t>
            </a:r>
            <a:r>
              <a:rPr lang="en-US" sz="2000" b="1" dirty="0"/>
              <a:t> (set a mins-max size of image required)</a:t>
            </a:r>
          </a:p>
          <a:p>
            <a:pPr lvl="1"/>
            <a:r>
              <a:rPr lang="en-US" sz="2000" b="1" dirty="0"/>
              <a:t>}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000" b="1" dirty="0"/>
              <a:t>Edit Featured Units {</a:t>
            </a:r>
          </a:p>
          <a:p>
            <a:pPr marL="1257300" lvl="2" indent="-342900">
              <a:buFont typeface="Arial" panose="020B0604020202020204" pitchFamily="34" charset="0"/>
              <a:buChar char="•"/>
            </a:pPr>
            <a:r>
              <a:rPr lang="en-US" sz="2000" b="1" dirty="0"/>
              <a:t>Text Input w/ dropdown suggestion: (Name, Address)</a:t>
            </a:r>
          </a:p>
          <a:p>
            <a:pPr marL="1257300" lvl="2" indent="-342900">
              <a:buFont typeface="Arial" panose="020B0604020202020204" pitchFamily="34" charset="0"/>
              <a:buChar char="•"/>
            </a:pPr>
            <a:endParaRPr lang="en-US" sz="2000" b="1" dirty="0"/>
          </a:p>
          <a:p>
            <a:pPr marL="1257300" lvl="2" indent="-342900">
              <a:buFont typeface="Arial" panose="020B0604020202020204" pitchFamily="34" charset="0"/>
              <a:buChar char="•"/>
            </a:pPr>
            <a:r>
              <a:rPr lang="en-US" sz="2000" b="1" dirty="0"/>
              <a:t>List of selected Featured units{</a:t>
            </a:r>
          </a:p>
          <a:p>
            <a:pPr marL="1257300" lvl="2" indent="-342900">
              <a:buFont typeface="Arial" panose="020B0604020202020204" pitchFamily="34" charset="0"/>
              <a:buChar char="•"/>
            </a:pPr>
            <a:r>
              <a:rPr lang="en-US" sz="2000" b="1" dirty="0"/>
              <a:t>Photo?, Name, Address</a:t>
            </a:r>
          </a:p>
          <a:p>
            <a:pPr lvl="2"/>
            <a:r>
              <a:rPr lang="en-US" sz="2000" b="1" dirty="0"/>
              <a:t>}</a:t>
            </a:r>
          </a:p>
          <a:p>
            <a:pPr lvl="1"/>
            <a:r>
              <a:rPr lang="en-US" sz="2000" b="1" dirty="0"/>
              <a:t>}</a:t>
            </a:r>
          </a:p>
        </p:txBody>
      </p:sp>
      <p:cxnSp>
        <p:nvCxnSpPr>
          <p:cNvPr id="7" name="Connector: Curved 6">
            <a:extLst>
              <a:ext uri="{FF2B5EF4-FFF2-40B4-BE49-F238E27FC236}">
                <a16:creationId xmlns:a16="http://schemas.microsoft.com/office/drawing/2014/main" id="{840C349B-D7EC-59DE-D294-E747E8EB5A29}"/>
              </a:ext>
            </a:extLst>
          </p:cNvPr>
          <p:cNvCxnSpPr/>
          <p:nvPr/>
        </p:nvCxnSpPr>
        <p:spPr>
          <a:xfrm rot="5400000" flipH="1" flipV="1">
            <a:off x="3652982" y="2008910"/>
            <a:ext cx="2678545" cy="2207491"/>
          </a:xfrm>
          <a:prstGeom prst="curvedConnector3">
            <a:avLst>
              <a:gd name="adj1" fmla="val 26207"/>
            </a:avLst>
          </a:prstGeom>
          <a:ln w="19050" cap="flat" cmpd="sng" algn="ctr">
            <a:solidFill>
              <a:schemeClr val="accent4"/>
            </a:solidFill>
            <a:prstDash val="solid"/>
            <a:round/>
            <a:headEnd type="arrow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394748394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E094F53A-6361-E94E-5BDE-6B5297C1498E}"/>
              </a:ext>
            </a:extLst>
          </p:cNvPr>
          <p:cNvSpPr txBox="1"/>
          <p:nvPr/>
        </p:nvSpPr>
        <p:spPr>
          <a:xfrm>
            <a:off x="-1" y="0"/>
            <a:ext cx="4341092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b="1" dirty="0"/>
              <a:t>adminAuditTrails.html</a:t>
            </a:r>
          </a:p>
        </p:txBody>
      </p:sp>
      <p:sp>
        <p:nvSpPr>
          <p:cNvPr id="2" name="Rectangle: Rounded Corners 1">
            <a:extLst>
              <a:ext uri="{FF2B5EF4-FFF2-40B4-BE49-F238E27FC236}">
                <a16:creationId xmlns:a16="http://schemas.microsoft.com/office/drawing/2014/main" id="{68BB174B-DA6B-6E0E-C5DD-0A4E7C8FC9F6}"/>
              </a:ext>
            </a:extLst>
          </p:cNvPr>
          <p:cNvSpPr/>
          <p:nvPr/>
        </p:nvSpPr>
        <p:spPr>
          <a:xfrm>
            <a:off x="2426768" y="1374369"/>
            <a:ext cx="7338464" cy="3751813"/>
          </a:xfrm>
          <a:prstGeom prst="roundRect">
            <a:avLst>
              <a:gd name="adj" fmla="val 6434"/>
            </a:avLst>
          </a:prstGeom>
          <a:solidFill>
            <a:schemeClr val="accent6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2000" b="1" dirty="0"/>
              <a:t>Toggle By: (</a:t>
            </a:r>
            <a:r>
              <a:rPr lang="en-US" sz="2000" b="1" dirty="0" err="1"/>
              <a:t>Admin,Employee</a:t>
            </a:r>
            <a:r>
              <a:rPr lang="en-US" sz="2000" b="1" dirty="0"/>
              <a:t>, Guest)</a:t>
            </a:r>
          </a:p>
          <a:p>
            <a:r>
              <a:rPr lang="en-US" sz="2000" b="1" dirty="0"/>
              <a:t>Search (By: Date &amp; time, Query(Name, Activity, Role))</a:t>
            </a:r>
          </a:p>
          <a:p>
            <a:endParaRPr lang="en-US" sz="2000" b="1" dirty="0"/>
          </a:p>
          <a:p>
            <a:r>
              <a:rPr lang="en-US" sz="2000" b="1" dirty="0"/>
              <a:t>List(Ref No., </a:t>
            </a:r>
            <a:r>
              <a:rPr lang="en-US" sz="2000" b="1" dirty="0" err="1"/>
              <a:t>Date&amp;Time</a:t>
            </a:r>
            <a:r>
              <a:rPr lang="en-US" sz="2000" b="1" dirty="0"/>
              <a:t>, Name, Activity, Role)</a:t>
            </a:r>
          </a:p>
        </p:txBody>
      </p:sp>
    </p:spTree>
    <p:extLst>
      <p:ext uri="{BB962C8B-B14F-4D97-AF65-F5344CB8AC3E}">
        <p14:creationId xmlns:p14="http://schemas.microsoft.com/office/powerpoint/2010/main" val="158124031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E094F53A-6361-E94E-5BDE-6B5297C1498E}"/>
              </a:ext>
            </a:extLst>
          </p:cNvPr>
          <p:cNvSpPr txBox="1"/>
          <p:nvPr/>
        </p:nvSpPr>
        <p:spPr>
          <a:xfrm>
            <a:off x="-1" y="0"/>
            <a:ext cx="3519055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b="1" dirty="0"/>
              <a:t>adminPayment.html</a:t>
            </a:r>
          </a:p>
        </p:txBody>
      </p:sp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E84989AE-1420-7CFC-7A33-B4FACAA95828}"/>
              </a:ext>
            </a:extLst>
          </p:cNvPr>
          <p:cNvSpPr/>
          <p:nvPr/>
        </p:nvSpPr>
        <p:spPr>
          <a:xfrm>
            <a:off x="2328948" y="1216313"/>
            <a:ext cx="7534103" cy="4425374"/>
          </a:xfrm>
          <a:prstGeom prst="roundRect">
            <a:avLst>
              <a:gd name="adj" fmla="val 8439"/>
            </a:avLst>
          </a:prstGeom>
          <a:solidFill>
            <a:schemeClr val="accent6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2000" b="1" dirty="0"/>
              <a:t>Button : Add Payment (adminAddPayment.html)</a:t>
            </a:r>
          </a:p>
          <a:p>
            <a:r>
              <a:rPr lang="en-US" sz="2000" b="1" dirty="0" err="1"/>
              <a:t>PaymentList</a:t>
            </a:r>
            <a:r>
              <a:rPr lang="en-US" sz="2000" b="1" dirty="0"/>
              <a:t>{</a:t>
            </a:r>
          </a:p>
          <a:p>
            <a:r>
              <a:rPr lang="en-US" sz="2000" b="1" dirty="0"/>
              <a:t>// card or table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000" b="1" dirty="0"/>
              <a:t>Payment Platform Name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000" b="1" dirty="0"/>
              <a:t>Button : edit (adminEditPayment.html)</a:t>
            </a:r>
          </a:p>
          <a:p>
            <a:r>
              <a:rPr lang="en-US" sz="2000" b="1" dirty="0"/>
              <a:t>}</a:t>
            </a:r>
          </a:p>
        </p:txBody>
      </p:sp>
    </p:spTree>
    <p:extLst>
      <p:ext uri="{BB962C8B-B14F-4D97-AF65-F5344CB8AC3E}">
        <p14:creationId xmlns:p14="http://schemas.microsoft.com/office/powerpoint/2010/main" val="2608960860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E094F53A-6361-E94E-5BDE-6B5297C1498E}"/>
              </a:ext>
            </a:extLst>
          </p:cNvPr>
          <p:cNvSpPr txBox="1"/>
          <p:nvPr/>
        </p:nvSpPr>
        <p:spPr>
          <a:xfrm>
            <a:off x="-1" y="0"/>
            <a:ext cx="3519055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b="1" dirty="0"/>
              <a:t>adminPayment.html</a:t>
            </a:r>
          </a:p>
        </p:txBody>
      </p:sp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E84989AE-1420-7CFC-7A33-B4FACAA95828}"/>
              </a:ext>
            </a:extLst>
          </p:cNvPr>
          <p:cNvSpPr/>
          <p:nvPr/>
        </p:nvSpPr>
        <p:spPr>
          <a:xfrm>
            <a:off x="2328948" y="1216313"/>
            <a:ext cx="7534103" cy="4425374"/>
          </a:xfrm>
          <a:prstGeom prst="roundRect">
            <a:avLst>
              <a:gd name="adj" fmla="val 8439"/>
            </a:avLst>
          </a:prstGeom>
          <a:solidFill>
            <a:schemeClr val="accent6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2000" b="1" dirty="0"/>
              <a:t>Button : Add Payment (adminAddPayment.html)</a:t>
            </a:r>
          </a:p>
          <a:p>
            <a:r>
              <a:rPr lang="en-US" sz="2000" b="1" dirty="0" err="1"/>
              <a:t>PaymentList</a:t>
            </a:r>
            <a:r>
              <a:rPr lang="en-US" sz="2000" b="1" dirty="0"/>
              <a:t>{</a:t>
            </a:r>
          </a:p>
          <a:p>
            <a:r>
              <a:rPr lang="en-US" sz="2000" b="1" dirty="0"/>
              <a:t>// card or table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000" b="1" dirty="0"/>
              <a:t>Payment Platform Name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000" b="1" dirty="0"/>
              <a:t>Button : view details (adminViewPayment.html)</a:t>
            </a:r>
          </a:p>
          <a:p>
            <a:r>
              <a:rPr lang="en-US" sz="2000" b="1" dirty="0"/>
              <a:t>}</a:t>
            </a:r>
          </a:p>
        </p:txBody>
      </p:sp>
    </p:spTree>
    <p:extLst>
      <p:ext uri="{BB962C8B-B14F-4D97-AF65-F5344CB8AC3E}">
        <p14:creationId xmlns:p14="http://schemas.microsoft.com/office/powerpoint/2010/main" val="2484489619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E094F53A-6361-E94E-5BDE-6B5297C1498E}"/>
              </a:ext>
            </a:extLst>
          </p:cNvPr>
          <p:cNvSpPr txBox="1"/>
          <p:nvPr/>
        </p:nvSpPr>
        <p:spPr>
          <a:xfrm>
            <a:off x="-1" y="0"/>
            <a:ext cx="3519055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b="1" dirty="0"/>
              <a:t>adminViewPayment.html</a:t>
            </a:r>
          </a:p>
        </p:txBody>
      </p:sp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E84989AE-1420-7CFC-7A33-B4FACAA95828}"/>
              </a:ext>
            </a:extLst>
          </p:cNvPr>
          <p:cNvSpPr/>
          <p:nvPr/>
        </p:nvSpPr>
        <p:spPr>
          <a:xfrm>
            <a:off x="2328948" y="1216313"/>
            <a:ext cx="7534103" cy="4425374"/>
          </a:xfrm>
          <a:prstGeom prst="roundRect">
            <a:avLst>
              <a:gd name="adj" fmla="val 8439"/>
            </a:avLst>
          </a:prstGeom>
          <a:solidFill>
            <a:schemeClr val="accent6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2000" b="1" dirty="0" err="1"/>
              <a:t>PaymentDetails</a:t>
            </a:r>
            <a:r>
              <a:rPr lang="en-US" sz="2000" b="1" dirty="0"/>
              <a:t>{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000" b="1" dirty="0"/>
              <a:t>Payment Platform Name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000" b="1" dirty="0"/>
              <a:t>Date created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000" b="1" dirty="0" err="1"/>
              <a:t>Img</a:t>
            </a:r>
            <a:r>
              <a:rPr lang="en-US" sz="2000" b="1" dirty="0"/>
              <a:t>: </a:t>
            </a:r>
            <a:r>
              <a:rPr lang="en-US" sz="2000" b="1" dirty="0" err="1"/>
              <a:t>Qr</a:t>
            </a:r>
            <a:r>
              <a:rPr lang="en-US" sz="2000" b="1" dirty="0"/>
              <a:t> code image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000" b="1" dirty="0"/>
              <a:t>Button : edit (admineditPayment.html), Delete</a:t>
            </a:r>
          </a:p>
          <a:p>
            <a:r>
              <a:rPr lang="en-US" sz="2000" b="1" dirty="0"/>
              <a:t>}</a:t>
            </a:r>
          </a:p>
        </p:txBody>
      </p:sp>
    </p:spTree>
    <p:extLst>
      <p:ext uri="{BB962C8B-B14F-4D97-AF65-F5344CB8AC3E}">
        <p14:creationId xmlns:p14="http://schemas.microsoft.com/office/powerpoint/2010/main" val="4175991990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E094F53A-6361-E94E-5BDE-6B5297C1498E}"/>
              </a:ext>
            </a:extLst>
          </p:cNvPr>
          <p:cNvSpPr txBox="1"/>
          <p:nvPr/>
        </p:nvSpPr>
        <p:spPr>
          <a:xfrm>
            <a:off x="-1" y="0"/>
            <a:ext cx="3519055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b="1" dirty="0"/>
              <a:t>adminViewPayment.html</a:t>
            </a:r>
          </a:p>
        </p:txBody>
      </p:sp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E84989AE-1420-7CFC-7A33-B4FACAA95828}"/>
              </a:ext>
            </a:extLst>
          </p:cNvPr>
          <p:cNvSpPr/>
          <p:nvPr/>
        </p:nvSpPr>
        <p:spPr>
          <a:xfrm>
            <a:off x="2328948" y="1216313"/>
            <a:ext cx="7534103" cy="4425374"/>
          </a:xfrm>
          <a:prstGeom prst="roundRect">
            <a:avLst>
              <a:gd name="adj" fmla="val 8439"/>
            </a:avLst>
          </a:prstGeom>
          <a:solidFill>
            <a:schemeClr val="accent6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2000" b="1" dirty="0" err="1"/>
              <a:t>PaymentEdit</a:t>
            </a:r>
            <a:r>
              <a:rPr lang="en-US" sz="2000" b="1" dirty="0"/>
              <a:t>{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000" b="1" dirty="0"/>
              <a:t>Payment Platform Name : auto fill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000" b="1" dirty="0"/>
              <a:t>Date created : auto fill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000" b="1" dirty="0" err="1"/>
              <a:t>Img</a:t>
            </a:r>
            <a:r>
              <a:rPr lang="en-US" sz="2000" b="1" dirty="0"/>
              <a:t>: </a:t>
            </a:r>
            <a:r>
              <a:rPr lang="en-US" sz="2000" b="1" dirty="0" err="1"/>
              <a:t>Qr</a:t>
            </a:r>
            <a:r>
              <a:rPr lang="en-US" sz="2000" b="1" dirty="0"/>
              <a:t> code image : auto fill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000" b="1" dirty="0"/>
              <a:t>Input: image </a:t>
            </a:r>
            <a:r>
              <a:rPr lang="en-US" sz="2000" b="1" dirty="0" err="1"/>
              <a:t>qr</a:t>
            </a:r>
            <a:r>
              <a:rPr lang="en-US" sz="2000" b="1" dirty="0"/>
              <a:t> code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000" b="1" dirty="0"/>
              <a:t>Button : save, cancel</a:t>
            </a:r>
          </a:p>
          <a:p>
            <a:r>
              <a:rPr lang="en-US" sz="2000" b="1" dirty="0"/>
              <a:t>}</a:t>
            </a:r>
          </a:p>
        </p:txBody>
      </p:sp>
      <p:cxnSp>
        <p:nvCxnSpPr>
          <p:cNvPr id="2" name="Connector: Curved 1">
            <a:extLst>
              <a:ext uri="{FF2B5EF4-FFF2-40B4-BE49-F238E27FC236}">
                <a16:creationId xmlns:a16="http://schemas.microsoft.com/office/drawing/2014/main" id="{FBF2BCD9-0C2E-FEBC-83D6-2497A2A7C16D}"/>
              </a:ext>
            </a:extLst>
          </p:cNvPr>
          <p:cNvCxnSpPr>
            <a:cxnSpLocks/>
          </p:cNvCxnSpPr>
          <p:nvPr/>
        </p:nvCxnSpPr>
        <p:spPr>
          <a:xfrm rot="10800000" flipV="1">
            <a:off x="5680365" y="3429000"/>
            <a:ext cx="849744" cy="311724"/>
          </a:xfrm>
          <a:prstGeom prst="curvedConnector3">
            <a:avLst>
              <a:gd name="adj1" fmla="val 11956"/>
            </a:avLst>
          </a:prstGeom>
          <a:ln w="19050" cap="flat" cmpd="sng" algn="ctr">
            <a:solidFill>
              <a:schemeClr val="accent4"/>
            </a:solidFill>
            <a:prstDash val="solid"/>
            <a:round/>
            <a:headEnd type="arrow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089885084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E094F53A-6361-E94E-5BDE-6B5297C1498E}"/>
              </a:ext>
            </a:extLst>
          </p:cNvPr>
          <p:cNvSpPr txBox="1"/>
          <p:nvPr/>
        </p:nvSpPr>
        <p:spPr>
          <a:xfrm>
            <a:off x="-1" y="0"/>
            <a:ext cx="3519055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b="1" dirty="0"/>
              <a:t>adminAddPayment.html</a:t>
            </a:r>
          </a:p>
        </p:txBody>
      </p:sp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E84989AE-1420-7CFC-7A33-B4FACAA95828}"/>
              </a:ext>
            </a:extLst>
          </p:cNvPr>
          <p:cNvSpPr/>
          <p:nvPr/>
        </p:nvSpPr>
        <p:spPr>
          <a:xfrm>
            <a:off x="2328948" y="1216313"/>
            <a:ext cx="7534103" cy="4425374"/>
          </a:xfrm>
          <a:prstGeom prst="roundRect">
            <a:avLst>
              <a:gd name="adj" fmla="val 8439"/>
            </a:avLst>
          </a:prstGeom>
          <a:solidFill>
            <a:schemeClr val="accent6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2000" b="1" dirty="0" err="1"/>
              <a:t>PaymentAdd</a:t>
            </a:r>
            <a:r>
              <a:rPr lang="en-US" sz="2000" b="1" dirty="0"/>
              <a:t>{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000" b="1" dirty="0"/>
              <a:t>Payment Platform Name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000" b="1" dirty="0"/>
              <a:t>Date created 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000" b="1" dirty="0" err="1"/>
              <a:t>Img</a:t>
            </a:r>
            <a:r>
              <a:rPr lang="en-US" sz="2000" b="1" dirty="0"/>
              <a:t>: </a:t>
            </a:r>
            <a:r>
              <a:rPr lang="en-US" sz="2000" b="1" dirty="0" err="1"/>
              <a:t>Qr</a:t>
            </a:r>
            <a:r>
              <a:rPr lang="en-US" sz="2000" b="1" dirty="0"/>
              <a:t> code image : auto fill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000" b="1" dirty="0"/>
              <a:t>Input: image </a:t>
            </a:r>
            <a:r>
              <a:rPr lang="en-US" sz="2000" b="1" dirty="0" err="1"/>
              <a:t>qr</a:t>
            </a:r>
            <a:r>
              <a:rPr lang="en-US" sz="2000" b="1" dirty="0"/>
              <a:t> code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000" b="1" dirty="0"/>
              <a:t>Button : Create, Cancel</a:t>
            </a:r>
          </a:p>
          <a:p>
            <a:r>
              <a:rPr lang="en-US" sz="2000" b="1" dirty="0"/>
              <a:t>}</a:t>
            </a:r>
          </a:p>
        </p:txBody>
      </p:sp>
      <p:cxnSp>
        <p:nvCxnSpPr>
          <p:cNvPr id="2" name="Connector: Curved 1">
            <a:extLst>
              <a:ext uri="{FF2B5EF4-FFF2-40B4-BE49-F238E27FC236}">
                <a16:creationId xmlns:a16="http://schemas.microsoft.com/office/drawing/2014/main" id="{FBF2BCD9-0C2E-FEBC-83D6-2497A2A7C16D}"/>
              </a:ext>
            </a:extLst>
          </p:cNvPr>
          <p:cNvCxnSpPr>
            <a:cxnSpLocks/>
          </p:cNvCxnSpPr>
          <p:nvPr/>
        </p:nvCxnSpPr>
        <p:spPr>
          <a:xfrm rot="10800000" flipV="1">
            <a:off x="5680365" y="3429000"/>
            <a:ext cx="849744" cy="311724"/>
          </a:xfrm>
          <a:prstGeom prst="curvedConnector3">
            <a:avLst>
              <a:gd name="adj1" fmla="val 11956"/>
            </a:avLst>
          </a:prstGeom>
          <a:ln w="19050" cap="flat" cmpd="sng" algn="ctr">
            <a:solidFill>
              <a:schemeClr val="accent4"/>
            </a:solidFill>
            <a:prstDash val="solid"/>
            <a:round/>
            <a:headEnd type="arrow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661493376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2D24CF71-0CBF-A8FF-E77D-A0FDFC9E3345}"/>
              </a:ext>
            </a:extLst>
          </p:cNvPr>
          <p:cNvSpPr txBox="1"/>
          <p:nvPr/>
        </p:nvSpPr>
        <p:spPr>
          <a:xfrm>
            <a:off x="4149899" y="3172508"/>
            <a:ext cx="3670530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4000" b="1" dirty="0"/>
              <a:t>EMPLOYEE</a:t>
            </a:r>
          </a:p>
        </p:txBody>
      </p:sp>
    </p:spTree>
    <p:extLst>
      <p:ext uri="{BB962C8B-B14F-4D97-AF65-F5344CB8AC3E}">
        <p14:creationId xmlns:p14="http://schemas.microsoft.com/office/powerpoint/2010/main" val="4025225356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2B4939D4-239C-5B9C-6BE9-1DAD39EEA367}"/>
              </a:ext>
            </a:extLst>
          </p:cNvPr>
          <p:cNvSpPr/>
          <p:nvPr/>
        </p:nvSpPr>
        <p:spPr>
          <a:xfrm>
            <a:off x="252614" y="502260"/>
            <a:ext cx="5492404" cy="3256940"/>
          </a:xfrm>
          <a:prstGeom prst="roundRect">
            <a:avLst>
              <a:gd name="adj" fmla="val 5607"/>
            </a:avLst>
          </a:prstGeom>
          <a:solidFill>
            <a:schemeClr val="accent6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2000" b="1" dirty="0"/>
              <a:t>nav-bar{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000" b="1" dirty="0" err="1"/>
              <a:t>logoBtn</a:t>
            </a:r>
            <a:r>
              <a:rPr lang="en-US" sz="2000" b="1" dirty="0"/>
              <a:t> : (employeeDashboard.html);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endParaRPr lang="en-US" sz="2000" b="1" dirty="0"/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000" b="1" dirty="0"/>
              <a:t>Notification : (</a:t>
            </a:r>
            <a:r>
              <a:rPr lang="en-US" sz="2000" b="1" dirty="0" err="1"/>
              <a:t>modalNotif</a:t>
            </a:r>
            <a:r>
              <a:rPr lang="en-US" sz="2000" b="1" dirty="0"/>
              <a:t>)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000" b="1" dirty="0" err="1"/>
              <a:t>ProfilePic</a:t>
            </a:r>
            <a:r>
              <a:rPr lang="en-US" sz="2000" b="1" dirty="0"/>
              <a:t>{</a:t>
            </a:r>
          </a:p>
          <a:p>
            <a:pPr marL="1257300" lvl="2" indent="-342900">
              <a:buFont typeface="Arial" panose="020B0604020202020204" pitchFamily="34" charset="0"/>
              <a:buChar char="•"/>
            </a:pPr>
            <a:r>
              <a:rPr lang="en-US" sz="2000" b="1" dirty="0"/>
              <a:t>Profile : (employeeProfile.html)</a:t>
            </a:r>
          </a:p>
          <a:p>
            <a:pPr marL="1257300" lvl="2" indent="-342900">
              <a:buFont typeface="Arial" panose="020B0604020202020204" pitchFamily="34" charset="0"/>
              <a:buChar char="•"/>
            </a:pPr>
            <a:r>
              <a:rPr lang="en-US" sz="2000" b="1" dirty="0" err="1"/>
              <a:t>Darkmode</a:t>
            </a:r>
            <a:r>
              <a:rPr lang="en-US" sz="2000" b="1" dirty="0"/>
              <a:t> toggle</a:t>
            </a:r>
          </a:p>
          <a:p>
            <a:pPr marL="1257300" lvl="2" indent="-342900">
              <a:buFont typeface="Arial" panose="020B0604020202020204" pitchFamily="34" charset="0"/>
              <a:buChar char="•"/>
            </a:pPr>
            <a:r>
              <a:rPr lang="en-US" sz="2000" b="1" dirty="0"/>
              <a:t>logout</a:t>
            </a:r>
          </a:p>
          <a:p>
            <a:pPr lvl="1"/>
            <a:r>
              <a:rPr lang="en-US" sz="2000" b="1" dirty="0"/>
              <a:t>	}</a:t>
            </a:r>
          </a:p>
          <a:p>
            <a:pPr lvl="1"/>
            <a:r>
              <a:rPr lang="en-US" sz="2000" b="1" dirty="0"/>
              <a:t>}</a:t>
            </a:r>
          </a:p>
        </p:txBody>
      </p:sp>
      <p:sp>
        <p:nvSpPr>
          <p:cNvPr id="2" name="Rectangle: Rounded Corners 1">
            <a:extLst>
              <a:ext uri="{FF2B5EF4-FFF2-40B4-BE49-F238E27FC236}">
                <a16:creationId xmlns:a16="http://schemas.microsoft.com/office/drawing/2014/main" id="{FE390974-8558-DA6F-6031-617A7F4876E4}"/>
              </a:ext>
            </a:extLst>
          </p:cNvPr>
          <p:cNvSpPr/>
          <p:nvPr/>
        </p:nvSpPr>
        <p:spPr>
          <a:xfrm>
            <a:off x="252614" y="4083595"/>
            <a:ext cx="5853084" cy="2272145"/>
          </a:xfrm>
          <a:prstGeom prst="roundRect">
            <a:avLst/>
          </a:prstGeom>
          <a:solidFill>
            <a:schemeClr val="accent6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2000" b="1" dirty="0" err="1"/>
              <a:t>modalNotif</a:t>
            </a:r>
            <a:r>
              <a:rPr lang="en-US" sz="2000" b="1" dirty="0"/>
              <a:t>(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000" b="1" dirty="0" err="1"/>
              <a:t>senderName</a:t>
            </a:r>
            <a:endParaRPr lang="en-US" sz="2000" b="1" dirty="0"/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000" b="1" dirty="0"/>
              <a:t>Date and time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000" b="1" dirty="0"/>
              <a:t>Message</a:t>
            </a:r>
          </a:p>
          <a:p>
            <a:r>
              <a:rPr lang="en-US" sz="2000" b="1" dirty="0"/>
              <a:t>)</a:t>
            </a:r>
          </a:p>
        </p:txBody>
      </p:sp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C4F9E9BD-FF05-2483-CCF3-4EB48DF5692D}"/>
              </a:ext>
            </a:extLst>
          </p:cNvPr>
          <p:cNvSpPr/>
          <p:nvPr/>
        </p:nvSpPr>
        <p:spPr>
          <a:xfrm>
            <a:off x="5855855" y="553340"/>
            <a:ext cx="6302895" cy="3154780"/>
          </a:xfrm>
          <a:prstGeom prst="roundRect">
            <a:avLst>
              <a:gd name="adj" fmla="val 8857"/>
            </a:avLst>
          </a:prstGeom>
          <a:solidFill>
            <a:schemeClr val="accent6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2000" b="1" dirty="0"/>
              <a:t>sidebar{</a:t>
            </a:r>
          </a:p>
          <a:p>
            <a:pPr lvl="1"/>
            <a:r>
              <a:rPr lang="en-US" sz="2000" b="1" dirty="0"/>
              <a:t>// these are the dynamic modules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000" b="1" dirty="0"/>
              <a:t>employeePSR.html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000" b="1" dirty="0"/>
              <a:t>employeeTS.html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000" b="1" dirty="0"/>
              <a:t>employeeTK.html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000" b="1" dirty="0"/>
              <a:t>employeePM.html</a:t>
            </a:r>
          </a:p>
          <a:p>
            <a:r>
              <a:rPr lang="en-US" sz="2000" b="1" dirty="0"/>
              <a:t>}</a:t>
            </a:r>
          </a:p>
        </p:txBody>
      </p:sp>
      <p:cxnSp>
        <p:nvCxnSpPr>
          <p:cNvPr id="7" name="Connector: Curved 6">
            <a:extLst>
              <a:ext uri="{FF2B5EF4-FFF2-40B4-BE49-F238E27FC236}">
                <a16:creationId xmlns:a16="http://schemas.microsoft.com/office/drawing/2014/main" id="{D94A55A5-4240-A486-7635-1AE372F55C6A}"/>
              </a:ext>
            </a:extLst>
          </p:cNvPr>
          <p:cNvCxnSpPr>
            <a:cxnSpLocks/>
          </p:cNvCxnSpPr>
          <p:nvPr/>
        </p:nvCxnSpPr>
        <p:spPr>
          <a:xfrm rot="5400000">
            <a:off x="-651163" y="2951018"/>
            <a:ext cx="2669309" cy="461818"/>
          </a:xfrm>
          <a:prstGeom prst="curvedConnector3">
            <a:avLst>
              <a:gd name="adj1" fmla="val 173"/>
            </a:avLst>
          </a:prstGeom>
          <a:ln w="19050" cap="flat" cmpd="sng" algn="ctr">
            <a:solidFill>
              <a:schemeClr val="accent4"/>
            </a:solidFill>
            <a:prstDash val="solid"/>
            <a:round/>
            <a:headEnd type="arrow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sp>
        <p:nvSpPr>
          <p:cNvPr id="9" name="TextBox 8">
            <a:extLst>
              <a:ext uri="{FF2B5EF4-FFF2-40B4-BE49-F238E27FC236}">
                <a16:creationId xmlns:a16="http://schemas.microsoft.com/office/drawing/2014/main" id="{FC770D13-D7BF-5BC1-2E30-33E11120A8F2}"/>
              </a:ext>
            </a:extLst>
          </p:cNvPr>
          <p:cNvSpPr txBox="1"/>
          <p:nvPr/>
        </p:nvSpPr>
        <p:spPr>
          <a:xfrm>
            <a:off x="8407862" y="5647854"/>
            <a:ext cx="3670530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2000" b="1" dirty="0"/>
              <a:t>This is reusable for every page in Employee User Level</a:t>
            </a:r>
          </a:p>
        </p:txBody>
      </p:sp>
    </p:spTree>
    <p:extLst>
      <p:ext uri="{BB962C8B-B14F-4D97-AF65-F5344CB8AC3E}">
        <p14:creationId xmlns:p14="http://schemas.microsoft.com/office/powerpoint/2010/main" val="883846208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2B4939D4-239C-5B9C-6BE9-1DAD39EEA367}"/>
              </a:ext>
            </a:extLst>
          </p:cNvPr>
          <p:cNvSpPr/>
          <p:nvPr/>
        </p:nvSpPr>
        <p:spPr>
          <a:xfrm>
            <a:off x="4128654" y="200055"/>
            <a:ext cx="3463637" cy="862127"/>
          </a:xfrm>
          <a:prstGeom prst="roundRect">
            <a:avLst>
              <a:gd name="adj" fmla="val 6458"/>
            </a:avLst>
          </a:prstGeom>
          <a:solidFill>
            <a:schemeClr val="accent6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1"/>
            <a:r>
              <a:rPr lang="en-US" sz="2000" b="1" dirty="0"/>
              <a:t>Dynamic Dashboard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5334CD5D-0501-F20B-E8F8-6EA1A7ED9283}"/>
              </a:ext>
            </a:extLst>
          </p:cNvPr>
          <p:cNvSpPr txBox="1"/>
          <p:nvPr/>
        </p:nvSpPr>
        <p:spPr>
          <a:xfrm>
            <a:off x="-1" y="0"/>
            <a:ext cx="4341092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b="1" dirty="0"/>
              <a:t>employeeDashboard.html</a:t>
            </a:r>
          </a:p>
        </p:txBody>
      </p:sp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6E73A897-5450-4344-36D1-BCA0733CCBFC}"/>
              </a:ext>
            </a:extLst>
          </p:cNvPr>
          <p:cNvSpPr/>
          <p:nvPr/>
        </p:nvSpPr>
        <p:spPr>
          <a:xfrm>
            <a:off x="101602" y="1208139"/>
            <a:ext cx="3805380" cy="4062878"/>
          </a:xfrm>
          <a:prstGeom prst="roundRect">
            <a:avLst>
              <a:gd name="adj" fmla="val 5218"/>
            </a:avLst>
          </a:prstGeom>
          <a:solidFill>
            <a:schemeClr val="accent6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600" b="1" dirty="0">
                <a:solidFill>
                  <a:srgbClr val="FF0000"/>
                </a:solidFill>
              </a:rPr>
              <a:t>If</a:t>
            </a:r>
            <a:r>
              <a:rPr lang="en-US" sz="1600" b="1" dirty="0"/>
              <a:t> PSR Summary{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1600" b="1" dirty="0"/>
              <a:t>Total earnings this Week,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1600" b="1" dirty="0"/>
              <a:t>Month,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1600" b="1" dirty="0"/>
              <a:t>Year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endParaRPr lang="en-US" sz="1600" b="1" dirty="0"/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1600" b="1" dirty="0"/>
              <a:t>Most Peak Booking Day this (Toggle):</a:t>
            </a:r>
          </a:p>
          <a:p>
            <a:pPr marL="1257300" lvl="2" indent="-342900">
              <a:buFont typeface="Arial" panose="020B0604020202020204" pitchFamily="34" charset="0"/>
              <a:buChar char="•"/>
            </a:pPr>
            <a:r>
              <a:rPr lang="en-US" sz="1600" b="1" dirty="0"/>
              <a:t>Month</a:t>
            </a:r>
          </a:p>
          <a:p>
            <a:pPr marL="1257300" lvl="2" indent="-342900">
              <a:buFont typeface="Arial" panose="020B0604020202020204" pitchFamily="34" charset="0"/>
              <a:buChar char="•"/>
            </a:pPr>
            <a:r>
              <a:rPr lang="en-US" sz="1600" b="1" dirty="0"/>
              <a:t>Year</a:t>
            </a:r>
          </a:p>
          <a:p>
            <a:pPr marL="1257300" lvl="2" indent="-342900">
              <a:buFont typeface="Arial" panose="020B0604020202020204" pitchFamily="34" charset="0"/>
              <a:buChar char="•"/>
            </a:pPr>
            <a:r>
              <a:rPr lang="en-US" sz="1600" b="1" dirty="0"/>
              <a:t>Week</a:t>
            </a:r>
          </a:p>
          <a:p>
            <a:pPr marL="1257300" lvl="2" indent="-342900">
              <a:buFont typeface="Arial" panose="020B0604020202020204" pitchFamily="34" charset="0"/>
              <a:buChar char="•"/>
            </a:pPr>
            <a:endParaRPr lang="en-US" sz="1600" b="1" dirty="0"/>
          </a:p>
          <a:p>
            <a:pPr marL="1257300" lvl="2" indent="-342900">
              <a:buFont typeface="Arial" panose="020B0604020202020204" pitchFamily="34" charset="0"/>
              <a:buChar char="•"/>
            </a:pPr>
            <a:r>
              <a:rPr lang="en-US" sz="1600" b="1" dirty="0"/>
              <a:t>Result: `This Week: Jan 01, 2025 - 25 bookings`</a:t>
            </a:r>
          </a:p>
          <a:p>
            <a:r>
              <a:rPr lang="en-US" sz="1600" b="1" dirty="0"/>
              <a:t>}</a:t>
            </a:r>
          </a:p>
        </p:txBody>
      </p:sp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11334219-EC65-8579-7B34-4A0572271D99}"/>
              </a:ext>
            </a:extLst>
          </p:cNvPr>
          <p:cNvSpPr/>
          <p:nvPr/>
        </p:nvSpPr>
        <p:spPr>
          <a:xfrm>
            <a:off x="4001654" y="1187282"/>
            <a:ext cx="6841837" cy="1380428"/>
          </a:xfrm>
          <a:prstGeom prst="roundRect">
            <a:avLst>
              <a:gd name="adj" fmla="val 6069"/>
            </a:avLst>
          </a:prstGeom>
          <a:solidFill>
            <a:schemeClr val="accent6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600" b="1" dirty="0">
                <a:solidFill>
                  <a:srgbClr val="FF0000"/>
                </a:solidFill>
              </a:rPr>
              <a:t>If</a:t>
            </a:r>
            <a:r>
              <a:rPr lang="en-US" sz="1600" b="1" dirty="0"/>
              <a:t> TS{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1600" b="1" dirty="0"/>
              <a:t>Display (5) transactions of a property that assigned to them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1600" b="1" dirty="0"/>
              <a:t>Trans#, Name of  guest, Name of property, Date of booking)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1600" b="1" dirty="0"/>
              <a:t>Button : Go to (employeeTS.html)</a:t>
            </a:r>
          </a:p>
          <a:p>
            <a:pPr lvl="1"/>
            <a:r>
              <a:rPr lang="en-US" sz="1600" b="1" dirty="0"/>
              <a:t>}</a:t>
            </a:r>
          </a:p>
        </p:txBody>
      </p:sp>
      <p:sp>
        <p:nvSpPr>
          <p:cNvPr id="11" name="Rectangle: Rounded Corners 10">
            <a:extLst>
              <a:ext uri="{FF2B5EF4-FFF2-40B4-BE49-F238E27FC236}">
                <a16:creationId xmlns:a16="http://schemas.microsoft.com/office/drawing/2014/main" id="{97464B1F-9722-7A05-DF07-5B6C01B4D2D5}"/>
              </a:ext>
            </a:extLst>
          </p:cNvPr>
          <p:cNvSpPr/>
          <p:nvPr/>
        </p:nvSpPr>
        <p:spPr>
          <a:xfrm>
            <a:off x="4001653" y="2665254"/>
            <a:ext cx="6841837" cy="1177074"/>
          </a:xfrm>
          <a:prstGeom prst="roundRect">
            <a:avLst>
              <a:gd name="adj" fmla="val 6069"/>
            </a:avLst>
          </a:prstGeom>
          <a:solidFill>
            <a:schemeClr val="accent6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600" b="1" dirty="0">
                <a:solidFill>
                  <a:srgbClr val="FF0000"/>
                </a:solidFill>
              </a:rPr>
              <a:t>If</a:t>
            </a:r>
            <a:r>
              <a:rPr lang="en-US" sz="1600" b="1" dirty="0"/>
              <a:t> TK{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1600" b="1" dirty="0"/>
              <a:t>Display (5) Queue List of concerns.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1600" b="1" dirty="0"/>
              <a:t>List (# of queue, Name, Concern category, Button : </a:t>
            </a:r>
            <a:r>
              <a:rPr lang="en-US" sz="1600" b="1" dirty="0" err="1"/>
              <a:t>handleBtn</a:t>
            </a:r>
            <a:r>
              <a:rPr lang="en-US" sz="1600" b="1" dirty="0"/>
              <a:t>(will start the conversation)) }</a:t>
            </a:r>
          </a:p>
        </p:txBody>
      </p:sp>
      <p:sp>
        <p:nvSpPr>
          <p:cNvPr id="12" name="Rectangle: Rounded Corners 11">
            <a:extLst>
              <a:ext uri="{FF2B5EF4-FFF2-40B4-BE49-F238E27FC236}">
                <a16:creationId xmlns:a16="http://schemas.microsoft.com/office/drawing/2014/main" id="{DFFD2777-5D18-1E81-A8FD-BD870FD4F98B}"/>
              </a:ext>
            </a:extLst>
          </p:cNvPr>
          <p:cNvSpPr/>
          <p:nvPr/>
        </p:nvSpPr>
        <p:spPr>
          <a:xfrm>
            <a:off x="4001652" y="4004117"/>
            <a:ext cx="7765475" cy="1666601"/>
          </a:xfrm>
          <a:prstGeom prst="roundRect">
            <a:avLst>
              <a:gd name="adj" fmla="val 6069"/>
            </a:avLst>
          </a:prstGeom>
          <a:solidFill>
            <a:schemeClr val="accent6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600" b="1" dirty="0">
                <a:solidFill>
                  <a:srgbClr val="FF0000"/>
                </a:solidFill>
              </a:rPr>
              <a:t>If </a:t>
            </a:r>
            <a:r>
              <a:rPr lang="en-US" sz="1600" b="1" dirty="0">
                <a:solidFill>
                  <a:schemeClr val="bg1">
                    <a:lumMod val="95000"/>
                  </a:schemeClr>
                </a:solidFill>
              </a:rPr>
              <a:t>PM {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sz="1600" b="1" dirty="0">
                <a:solidFill>
                  <a:schemeClr val="bg1">
                    <a:lumMod val="95000"/>
                  </a:schemeClr>
                </a:solidFill>
              </a:rPr>
              <a:t>List of bookings today. cards or list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sz="1600" b="1" dirty="0">
                <a:solidFill>
                  <a:schemeClr val="bg1">
                    <a:lumMod val="95000"/>
                  </a:schemeClr>
                </a:solidFill>
              </a:rPr>
              <a:t>Max of 5 list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sz="1600" b="1" dirty="0">
                <a:solidFill>
                  <a:schemeClr val="bg1">
                    <a:lumMod val="95000"/>
                  </a:schemeClr>
                </a:solidFill>
              </a:rPr>
              <a:t>(Name of guest, Time &amp; date of checking in/out, property name )</a:t>
            </a:r>
          </a:p>
          <a:p>
            <a:r>
              <a:rPr lang="en-US" sz="1600" b="1" dirty="0">
                <a:solidFill>
                  <a:schemeClr val="bg1">
                    <a:lumMod val="95000"/>
                  </a:schemeClr>
                </a:solidFill>
              </a:rPr>
              <a:t>}</a:t>
            </a:r>
          </a:p>
        </p:txBody>
      </p:sp>
    </p:spTree>
    <p:extLst>
      <p:ext uri="{BB962C8B-B14F-4D97-AF65-F5344CB8AC3E}">
        <p14:creationId xmlns:p14="http://schemas.microsoft.com/office/powerpoint/2010/main" val="1689077144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E094F53A-6361-E94E-5BDE-6B5297C1498E}"/>
              </a:ext>
            </a:extLst>
          </p:cNvPr>
          <p:cNvSpPr txBox="1"/>
          <p:nvPr/>
        </p:nvSpPr>
        <p:spPr>
          <a:xfrm>
            <a:off x="0" y="0"/>
            <a:ext cx="2955636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b="1" dirty="0"/>
              <a:t>employeeProfile.html</a:t>
            </a:r>
          </a:p>
        </p:txBody>
      </p:sp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F9ACFF90-048F-320A-A752-8D1492FAD30F}"/>
              </a:ext>
            </a:extLst>
          </p:cNvPr>
          <p:cNvSpPr/>
          <p:nvPr/>
        </p:nvSpPr>
        <p:spPr>
          <a:xfrm>
            <a:off x="2929312" y="1064073"/>
            <a:ext cx="6333375" cy="4729854"/>
          </a:xfrm>
          <a:prstGeom prst="roundRect">
            <a:avLst/>
          </a:prstGeom>
          <a:solidFill>
            <a:schemeClr val="accent6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2000" b="1" dirty="0"/>
              <a:t>Profile{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000" b="1" dirty="0" err="1"/>
              <a:t>EditBtn</a:t>
            </a:r>
            <a:r>
              <a:rPr lang="en-US" sz="2000" b="1" dirty="0"/>
              <a:t> : (employeeEditProfile.html)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000" b="1" dirty="0"/>
              <a:t>Profile Picture (onclick (</a:t>
            </a:r>
            <a:r>
              <a:rPr lang="en-US" sz="2000" b="1" dirty="0" err="1"/>
              <a:t>ZoomModal</a:t>
            </a:r>
            <a:r>
              <a:rPr lang="en-US" sz="2000" b="1" dirty="0"/>
              <a:t>))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000" b="1" dirty="0"/>
              <a:t>Full Name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000" b="1" dirty="0"/>
              <a:t>Email</a:t>
            </a:r>
          </a:p>
          <a:p>
            <a:r>
              <a:rPr lang="en-US" sz="2000" b="1" dirty="0"/>
              <a:t>}</a:t>
            </a:r>
          </a:p>
        </p:txBody>
      </p:sp>
    </p:spTree>
    <p:extLst>
      <p:ext uri="{BB962C8B-B14F-4D97-AF65-F5344CB8AC3E}">
        <p14:creationId xmlns:p14="http://schemas.microsoft.com/office/powerpoint/2010/main" val="2315336884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E094F53A-6361-E94E-5BDE-6B5297C1498E}"/>
              </a:ext>
            </a:extLst>
          </p:cNvPr>
          <p:cNvSpPr txBox="1"/>
          <p:nvPr/>
        </p:nvSpPr>
        <p:spPr>
          <a:xfrm>
            <a:off x="0" y="0"/>
            <a:ext cx="3565236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b="1" dirty="0"/>
              <a:t>employeeEditProfile.html</a:t>
            </a:r>
          </a:p>
        </p:txBody>
      </p:sp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F9ACFF90-048F-320A-A752-8D1492FAD30F}"/>
              </a:ext>
            </a:extLst>
          </p:cNvPr>
          <p:cNvSpPr/>
          <p:nvPr/>
        </p:nvSpPr>
        <p:spPr>
          <a:xfrm>
            <a:off x="1396075" y="331673"/>
            <a:ext cx="9399849" cy="6194654"/>
          </a:xfrm>
          <a:prstGeom prst="roundRect">
            <a:avLst>
              <a:gd name="adj" fmla="val 8914"/>
            </a:avLst>
          </a:prstGeom>
          <a:solidFill>
            <a:schemeClr val="accent6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2000" b="1" dirty="0" err="1"/>
              <a:t>EditProfileDetails</a:t>
            </a:r>
            <a:r>
              <a:rPr lang="en-US" sz="2000" b="1" dirty="0"/>
              <a:t>{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000" b="1" dirty="0"/>
              <a:t>Auto-fill inputs{</a:t>
            </a:r>
          </a:p>
          <a:p>
            <a:pPr marL="1257300" lvl="2" indent="-342900">
              <a:buFont typeface="Arial" panose="020B0604020202020204" pitchFamily="34" charset="0"/>
              <a:buChar char="•"/>
            </a:pPr>
            <a:r>
              <a:rPr lang="en-US" sz="2000" b="1" dirty="0" err="1"/>
              <a:t>ProfilePictureBtn</a:t>
            </a:r>
            <a:r>
              <a:rPr lang="en-US" sz="2000" b="1" dirty="0"/>
              <a:t> (Upload)</a:t>
            </a:r>
          </a:p>
          <a:p>
            <a:pPr marL="1257300" lvl="2" indent="-342900">
              <a:buFont typeface="Arial" panose="020B0604020202020204" pitchFamily="34" charset="0"/>
              <a:buChar char="•"/>
            </a:pPr>
            <a:r>
              <a:rPr lang="en-US" sz="2000" b="1" dirty="0" err="1"/>
              <a:t>Fullname</a:t>
            </a:r>
            <a:endParaRPr lang="en-US" sz="2000" b="1" dirty="0"/>
          </a:p>
          <a:p>
            <a:pPr lvl="1"/>
            <a:r>
              <a:rPr lang="en-US" sz="2000" b="1" dirty="0"/>
              <a:t>}</a:t>
            </a:r>
          </a:p>
          <a:p>
            <a:pPr lvl="1"/>
            <a:r>
              <a:rPr lang="en-US" sz="2000" b="1" dirty="0" err="1"/>
              <a:t>Btn</a:t>
            </a:r>
            <a:r>
              <a:rPr lang="en-US" sz="2000" b="1" dirty="0"/>
              <a:t> (Cancel, Update) : message if successful, then go back to Profile</a:t>
            </a:r>
          </a:p>
          <a:p>
            <a:r>
              <a:rPr lang="en-US" sz="2000" b="1" dirty="0"/>
              <a:t>}</a:t>
            </a:r>
          </a:p>
        </p:txBody>
      </p:sp>
    </p:spTree>
    <p:extLst>
      <p:ext uri="{BB962C8B-B14F-4D97-AF65-F5344CB8AC3E}">
        <p14:creationId xmlns:p14="http://schemas.microsoft.com/office/powerpoint/2010/main" val="3604726696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5334CD5D-0501-F20B-E8F8-6EA1A7ED9283}"/>
              </a:ext>
            </a:extLst>
          </p:cNvPr>
          <p:cNvSpPr txBox="1"/>
          <p:nvPr/>
        </p:nvSpPr>
        <p:spPr>
          <a:xfrm>
            <a:off x="-1" y="0"/>
            <a:ext cx="4341092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b="1" dirty="0"/>
              <a:t>employeePSR.html</a:t>
            </a:r>
          </a:p>
        </p:txBody>
      </p:sp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6E73A897-5450-4344-36D1-BCA0733CCBFC}"/>
              </a:ext>
            </a:extLst>
          </p:cNvPr>
          <p:cNvSpPr/>
          <p:nvPr/>
        </p:nvSpPr>
        <p:spPr>
          <a:xfrm>
            <a:off x="683490" y="1314571"/>
            <a:ext cx="4729017" cy="4228858"/>
          </a:xfrm>
          <a:prstGeom prst="roundRect">
            <a:avLst>
              <a:gd name="adj" fmla="val 5218"/>
            </a:avLst>
          </a:prstGeom>
          <a:solidFill>
            <a:schemeClr val="accent6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b="1" dirty="0"/>
              <a:t>1{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b="1" dirty="0"/>
              <a:t>Total earnings this Week,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b="1" dirty="0"/>
              <a:t>Month,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b="1" dirty="0"/>
              <a:t>Year</a:t>
            </a:r>
          </a:p>
          <a:p>
            <a:r>
              <a:rPr lang="en-US" b="1" dirty="0"/>
              <a:t>}</a:t>
            </a:r>
          </a:p>
          <a:p>
            <a:r>
              <a:rPr lang="en-US" b="1" dirty="0"/>
              <a:t>2{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b="1" dirty="0"/>
              <a:t>Most Peak Booking Day this: (Toggle):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dirty="0"/>
              <a:t>Month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dirty="0"/>
              <a:t>Year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dirty="0"/>
              <a:t>Week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dirty="0"/>
              <a:t>Result: `This Week/Month/Year: Jan 01, 2025 - 25 bookings`</a:t>
            </a:r>
          </a:p>
          <a:p>
            <a:r>
              <a:rPr lang="en-US" b="1" dirty="0"/>
              <a:t>}</a:t>
            </a:r>
          </a:p>
        </p:txBody>
      </p:sp>
      <p:sp>
        <p:nvSpPr>
          <p:cNvPr id="2" name="Rectangle: Rounded Corners 1">
            <a:extLst>
              <a:ext uri="{FF2B5EF4-FFF2-40B4-BE49-F238E27FC236}">
                <a16:creationId xmlns:a16="http://schemas.microsoft.com/office/drawing/2014/main" id="{F8C9AA7C-5BE7-F80A-DA64-C8ADAFE4EE90}"/>
              </a:ext>
            </a:extLst>
          </p:cNvPr>
          <p:cNvSpPr/>
          <p:nvPr/>
        </p:nvSpPr>
        <p:spPr>
          <a:xfrm>
            <a:off x="5541819" y="796234"/>
            <a:ext cx="6326908" cy="5265532"/>
          </a:xfrm>
          <a:prstGeom prst="roundRect">
            <a:avLst>
              <a:gd name="adj" fmla="val 5218"/>
            </a:avLst>
          </a:prstGeom>
          <a:solidFill>
            <a:schemeClr val="accent6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b="1" dirty="0"/>
              <a:t>3{</a:t>
            </a:r>
          </a:p>
          <a:p>
            <a:r>
              <a:rPr lang="en-US" b="1" dirty="0"/>
              <a:t>List of all successful Transaction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b="1" dirty="0"/>
              <a:t>(Trans#, Property Name, Date of Booking, Amount)</a:t>
            </a:r>
          </a:p>
          <a:p>
            <a:r>
              <a:rPr lang="en-US" b="1" dirty="0"/>
              <a:t>}</a:t>
            </a:r>
          </a:p>
          <a:p>
            <a:r>
              <a:rPr lang="en-US" b="1" dirty="0"/>
              <a:t>4{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dirty="0"/>
              <a:t>Button : export =&gt;(employeeGeneratePSR.html)</a:t>
            </a:r>
          </a:p>
          <a:p>
            <a:r>
              <a:rPr lang="en-US" b="1" dirty="0"/>
              <a:t>}</a:t>
            </a:r>
          </a:p>
          <a:p>
            <a:r>
              <a:rPr lang="en-US" b="1" dirty="0"/>
              <a:t>employeeGeneratePSR.html{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dirty="0"/>
              <a:t>Select : {</a:t>
            </a:r>
          </a:p>
          <a:p>
            <a:pPr marL="1200150" lvl="2" indent="-285750">
              <a:buFont typeface="Arial" panose="020B0604020202020204" pitchFamily="34" charset="0"/>
              <a:buChar char="•"/>
            </a:pPr>
            <a:r>
              <a:rPr lang="en-US" b="1" dirty="0"/>
              <a:t>Month (year), quarterly (year), semi-annual (year) , annual (year)</a:t>
            </a:r>
          </a:p>
          <a:p>
            <a:pPr lvl="1"/>
            <a:r>
              <a:rPr lang="en-US" b="1" dirty="0"/>
              <a:t>}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dirty="0"/>
              <a:t>HTML Table preview {</a:t>
            </a:r>
          </a:p>
          <a:p>
            <a:pPr marL="1200150" lvl="2" indent="-285750">
              <a:buFont typeface="Arial" panose="020B0604020202020204" pitchFamily="34" charset="0"/>
              <a:buChar char="•"/>
            </a:pPr>
            <a:r>
              <a:rPr lang="en-US" b="1" dirty="0"/>
              <a:t>M/Q/SA/A (year) </a:t>
            </a:r>
          </a:p>
          <a:p>
            <a:pPr marL="1200150" lvl="2" indent="-285750">
              <a:buFont typeface="Arial" panose="020B0604020202020204" pitchFamily="34" charset="0"/>
              <a:buChar char="•"/>
            </a:pPr>
            <a:r>
              <a:rPr lang="en-US" b="1" dirty="0"/>
              <a:t>Table (see next page for example)</a:t>
            </a:r>
          </a:p>
          <a:p>
            <a:pPr lvl="1"/>
            <a:r>
              <a:rPr lang="en-US" b="1" dirty="0"/>
              <a:t>}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dirty="0"/>
              <a:t>Button : Generate (download pdf or excel) || Back</a:t>
            </a:r>
          </a:p>
          <a:p>
            <a:r>
              <a:rPr lang="en-US" b="1" dirty="0"/>
              <a:t>}</a:t>
            </a:r>
          </a:p>
        </p:txBody>
      </p:sp>
      <p:cxnSp>
        <p:nvCxnSpPr>
          <p:cNvPr id="3" name="Connector: Curved 2">
            <a:extLst>
              <a:ext uri="{FF2B5EF4-FFF2-40B4-BE49-F238E27FC236}">
                <a16:creationId xmlns:a16="http://schemas.microsoft.com/office/drawing/2014/main" id="{708E1A5F-CFB7-389A-8B04-6F98F9228E9D}"/>
              </a:ext>
            </a:extLst>
          </p:cNvPr>
          <p:cNvCxnSpPr>
            <a:cxnSpLocks/>
          </p:cNvCxnSpPr>
          <p:nvPr/>
        </p:nvCxnSpPr>
        <p:spPr>
          <a:xfrm rot="16200000" flipH="1">
            <a:off x="6137565" y="2627746"/>
            <a:ext cx="517238" cy="138541"/>
          </a:xfrm>
          <a:prstGeom prst="curvedConnector3">
            <a:avLst>
              <a:gd name="adj1" fmla="val 50000"/>
            </a:avLst>
          </a:prstGeom>
          <a:ln w="19050" cap="flat" cmpd="sng" algn="ctr">
            <a:solidFill>
              <a:schemeClr val="accent4"/>
            </a:solidFill>
            <a:prstDash val="solid"/>
            <a:round/>
            <a:headEnd type="arrow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72841080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5334CD5D-0501-F20B-E8F8-6EA1A7ED9283}"/>
              </a:ext>
            </a:extLst>
          </p:cNvPr>
          <p:cNvSpPr txBox="1"/>
          <p:nvPr/>
        </p:nvSpPr>
        <p:spPr>
          <a:xfrm>
            <a:off x="-1" y="0"/>
            <a:ext cx="4341092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b="1" dirty="0"/>
              <a:t>employeeGeneratePSR.html</a:t>
            </a:r>
          </a:p>
        </p:txBody>
      </p:sp>
      <p:graphicFrame>
        <p:nvGraphicFramePr>
          <p:cNvPr id="5" name="Table 4">
            <a:extLst>
              <a:ext uri="{FF2B5EF4-FFF2-40B4-BE49-F238E27FC236}">
                <a16:creationId xmlns:a16="http://schemas.microsoft.com/office/drawing/2014/main" id="{FB31F375-881E-9846-AD98-DCFAD872717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862674773"/>
              </p:ext>
            </p:extLst>
          </p:nvPr>
        </p:nvGraphicFramePr>
        <p:xfrm>
          <a:off x="274226" y="1611240"/>
          <a:ext cx="2503054" cy="97823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76180">
                  <a:extLst>
                    <a:ext uri="{9D8B030D-6E8A-4147-A177-3AD203B41FA5}">
                      <a16:colId xmlns:a16="http://schemas.microsoft.com/office/drawing/2014/main" val="3731313920"/>
                    </a:ext>
                  </a:extLst>
                </a:gridCol>
                <a:gridCol w="1226874">
                  <a:extLst>
                    <a:ext uri="{9D8B030D-6E8A-4147-A177-3AD203B41FA5}">
                      <a16:colId xmlns:a16="http://schemas.microsoft.com/office/drawing/2014/main" val="947986631"/>
                    </a:ext>
                  </a:extLst>
                </a:gridCol>
              </a:tblGrid>
              <a:tr h="244559">
                <a:tc>
                  <a:txBody>
                    <a:bodyPr/>
                    <a:lstStyle/>
                    <a:p>
                      <a:r>
                        <a:rPr lang="en-US" sz="1000" dirty="0"/>
                        <a:t>Property Name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000" dirty="0"/>
                        <a:t>Earned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88197724"/>
                  </a:ext>
                </a:extLst>
              </a:tr>
              <a:tr h="244559">
                <a:tc>
                  <a:txBody>
                    <a:bodyPr/>
                    <a:lstStyle/>
                    <a:p>
                      <a:r>
                        <a:rPr lang="en-US" sz="1000" dirty="0"/>
                        <a:t>P1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000" dirty="0"/>
                        <a:t>6,000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125870186"/>
                  </a:ext>
                </a:extLst>
              </a:tr>
              <a:tr h="244559">
                <a:tc>
                  <a:txBody>
                    <a:bodyPr/>
                    <a:lstStyle/>
                    <a:p>
                      <a:r>
                        <a:rPr lang="en-US" sz="1000" dirty="0"/>
                        <a:t>P2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000" dirty="0"/>
                        <a:t>4,000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104906619"/>
                  </a:ext>
                </a:extLst>
              </a:tr>
              <a:tr h="244559">
                <a:tc>
                  <a:txBody>
                    <a:bodyPr/>
                    <a:lstStyle/>
                    <a:p>
                      <a:r>
                        <a:rPr lang="en-US" sz="1000" dirty="0"/>
                        <a:t>TOTAL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000" dirty="0"/>
                        <a:t>10,000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42238911"/>
                  </a:ext>
                </a:extLst>
              </a:tr>
            </a:tbl>
          </a:graphicData>
        </a:graphic>
      </p:graphicFrame>
      <p:sp>
        <p:nvSpPr>
          <p:cNvPr id="6" name="TextBox 5">
            <a:extLst>
              <a:ext uri="{FF2B5EF4-FFF2-40B4-BE49-F238E27FC236}">
                <a16:creationId xmlns:a16="http://schemas.microsoft.com/office/drawing/2014/main" id="{A007F5DE-F1E8-CFD5-FE58-EFD6FD8D4DF1}"/>
              </a:ext>
            </a:extLst>
          </p:cNvPr>
          <p:cNvSpPr txBox="1"/>
          <p:nvPr/>
        </p:nvSpPr>
        <p:spPr>
          <a:xfrm>
            <a:off x="184980" y="1390246"/>
            <a:ext cx="1952013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b="1" dirty="0"/>
              <a:t>Week 1 of January, 2025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661B8A9F-5A1A-9238-3F9E-FB83235A0BEF}"/>
              </a:ext>
            </a:extLst>
          </p:cNvPr>
          <p:cNvSpPr txBox="1"/>
          <p:nvPr/>
        </p:nvSpPr>
        <p:spPr>
          <a:xfrm>
            <a:off x="198351" y="553237"/>
            <a:ext cx="1376450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b="1" dirty="0"/>
              <a:t>WEEK Example</a:t>
            </a:r>
          </a:p>
        </p:txBody>
      </p:sp>
      <p:graphicFrame>
        <p:nvGraphicFramePr>
          <p:cNvPr id="9" name="Table 8">
            <a:extLst>
              <a:ext uri="{FF2B5EF4-FFF2-40B4-BE49-F238E27FC236}">
                <a16:creationId xmlns:a16="http://schemas.microsoft.com/office/drawing/2014/main" id="{44C87501-E227-CDC1-E88A-55C097B527F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774109859"/>
              </p:ext>
            </p:extLst>
          </p:nvPr>
        </p:nvGraphicFramePr>
        <p:xfrm>
          <a:off x="3195734" y="1611240"/>
          <a:ext cx="3624168" cy="1129917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24123">
                  <a:extLst>
                    <a:ext uri="{9D8B030D-6E8A-4147-A177-3AD203B41FA5}">
                      <a16:colId xmlns:a16="http://schemas.microsoft.com/office/drawing/2014/main" val="3731313920"/>
                    </a:ext>
                  </a:extLst>
                </a:gridCol>
                <a:gridCol w="600009">
                  <a:extLst>
                    <a:ext uri="{9D8B030D-6E8A-4147-A177-3AD203B41FA5}">
                      <a16:colId xmlns:a16="http://schemas.microsoft.com/office/drawing/2014/main" val="947986631"/>
                    </a:ext>
                  </a:extLst>
                </a:gridCol>
                <a:gridCol w="600009">
                  <a:extLst>
                    <a:ext uri="{9D8B030D-6E8A-4147-A177-3AD203B41FA5}">
                      <a16:colId xmlns:a16="http://schemas.microsoft.com/office/drawing/2014/main" val="906388908"/>
                    </a:ext>
                  </a:extLst>
                </a:gridCol>
                <a:gridCol w="600009">
                  <a:extLst>
                    <a:ext uri="{9D8B030D-6E8A-4147-A177-3AD203B41FA5}">
                      <a16:colId xmlns:a16="http://schemas.microsoft.com/office/drawing/2014/main" val="133631174"/>
                    </a:ext>
                  </a:extLst>
                </a:gridCol>
                <a:gridCol w="600009">
                  <a:extLst>
                    <a:ext uri="{9D8B030D-6E8A-4147-A177-3AD203B41FA5}">
                      <a16:colId xmlns:a16="http://schemas.microsoft.com/office/drawing/2014/main" val="2705880004"/>
                    </a:ext>
                  </a:extLst>
                </a:gridCol>
                <a:gridCol w="600009">
                  <a:extLst>
                    <a:ext uri="{9D8B030D-6E8A-4147-A177-3AD203B41FA5}">
                      <a16:colId xmlns:a16="http://schemas.microsoft.com/office/drawing/2014/main" val="2920025152"/>
                    </a:ext>
                  </a:extLst>
                </a:gridCol>
              </a:tblGrid>
              <a:tr h="244559">
                <a:tc>
                  <a:txBody>
                    <a:bodyPr/>
                    <a:lstStyle/>
                    <a:p>
                      <a:r>
                        <a:rPr lang="en-US" sz="1000" dirty="0"/>
                        <a:t>Property Name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000" dirty="0"/>
                        <a:t>May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000" dirty="0"/>
                        <a:t>Jun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000" dirty="0"/>
                        <a:t>Jul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000" dirty="0"/>
                        <a:t>Aug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000" dirty="0"/>
                        <a:t>Earned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88197724"/>
                  </a:ext>
                </a:extLst>
              </a:tr>
              <a:tr h="244559">
                <a:tc>
                  <a:txBody>
                    <a:bodyPr/>
                    <a:lstStyle/>
                    <a:p>
                      <a:r>
                        <a:rPr lang="en-US" sz="1000" dirty="0"/>
                        <a:t>P1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000" dirty="0"/>
                        <a:t>6,000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000" dirty="0"/>
                        <a:t>4,000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000" dirty="0"/>
                        <a:t>8,000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000" dirty="0"/>
                        <a:t>5,000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000" dirty="0"/>
                        <a:t>27,000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125870186"/>
                  </a:ext>
                </a:extLst>
              </a:tr>
              <a:tr h="244559">
                <a:tc>
                  <a:txBody>
                    <a:bodyPr/>
                    <a:lstStyle/>
                    <a:p>
                      <a:r>
                        <a:rPr lang="en-US" sz="1000" dirty="0"/>
                        <a:t>P2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000" dirty="0"/>
                        <a:t>6,000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000" dirty="0"/>
                        <a:t>4,000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000" dirty="0"/>
                        <a:t>8,000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000" dirty="0"/>
                        <a:t>5,000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000" dirty="0"/>
                        <a:t>27,000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104906619"/>
                  </a:ext>
                </a:extLst>
              </a:tr>
              <a:tr h="244559">
                <a:tc gridSpan="5">
                  <a:txBody>
                    <a:bodyPr/>
                    <a:lstStyle/>
                    <a:p>
                      <a:r>
                        <a:rPr lang="en-US" sz="1000" dirty="0"/>
                        <a:t>TOTAL</a:t>
                      </a:r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sz="1000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sz="1000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sz="1000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sz="1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000" dirty="0"/>
                        <a:t>54,000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42238911"/>
                  </a:ext>
                </a:extLst>
              </a:tr>
            </a:tbl>
          </a:graphicData>
        </a:graphic>
      </p:graphicFrame>
      <p:sp>
        <p:nvSpPr>
          <p:cNvPr id="10" name="TextBox 9">
            <a:extLst>
              <a:ext uri="{FF2B5EF4-FFF2-40B4-BE49-F238E27FC236}">
                <a16:creationId xmlns:a16="http://schemas.microsoft.com/office/drawing/2014/main" id="{FEEE18E1-17FE-BC49-29DD-B61DBB852953}"/>
              </a:ext>
            </a:extLst>
          </p:cNvPr>
          <p:cNvSpPr txBox="1"/>
          <p:nvPr/>
        </p:nvSpPr>
        <p:spPr>
          <a:xfrm>
            <a:off x="3138886" y="1390245"/>
            <a:ext cx="1724938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b="1" dirty="0"/>
              <a:t>Second Quarter, 2025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02940BDB-9DDA-EBF5-EEE5-F6A884F0C8EE}"/>
              </a:ext>
            </a:extLst>
          </p:cNvPr>
          <p:cNvSpPr txBox="1"/>
          <p:nvPr/>
        </p:nvSpPr>
        <p:spPr>
          <a:xfrm>
            <a:off x="3138886" y="523387"/>
            <a:ext cx="3932474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b="1" dirty="0"/>
              <a:t>QUARTER Example 1{</a:t>
            </a:r>
            <a:r>
              <a:rPr lang="en-US" sz="1200" b="1" dirty="0" err="1"/>
              <a:t>jan-apr</a:t>
            </a:r>
            <a:r>
              <a:rPr lang="en-US" sz="1200" b="1" dirty="0"/>
              <a:t>} 2{may-</a:t>
            </a:r>
            <a:r>
              <a:rPr lang="en-US" sz="1200" b="1" dirty="0" err="1"/>
              <a:t>aug</a:t>
            </a:r>
            <a:r>
              <a:rPr lang="en-US" sz="1200" b="1" dirty="0"/>
              <a:t>} 3{</a:t>
            </a:r>
            <a:r>
              <a:rPr lang="en-US" sz="1200" b="1" dirty="0" err="1"/>
              <a:t>sep</a:t>
            </a:r>
            <a:r>
              <a:rPr lang="en-US" sz="1200" b="1" dirty="0"/>
              <a:t>-dec}</a:t>
            </a:r>
          </a:p>
        </p:txBody>
      </p:sp>
      <p:sp>
        <p:nvSpPr>
          <p:cNvPr id="12" name="Rectangle: Rounded Corners 11">
            <a:extLst>
              <a:ext uri="{FF2B5EF4-FFF2-40B4-BE49-F238E27FC236}">
                <a16:creationId xmlns:a16="http://schemas.microsoft.com/office/drawing/2014/main" id="{93198956-816C-3714-1871-15AE41385943}"/>
              </a:ext>
            </a:extLst>
          </p:cNvPr>
          <p:cNvSpPr/>
          <p:nvPr/>
        </p:nvSpPr>
        <p:spPr>
          <a:xfrm>
            <a:off x="274226" y="807032"/>
            <a:ext cx="737709" cy="244198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dirty="0"/>
              <a:t>Week ↓</a:t>
            </a:r>
          </a:p>
        </p:txBody>
      </p:sp>
      <p:sp>
        <p:nvSpPr>
          <p:cNvPr id="13" name="Rectangle: Rounded Corners 12">
            <a:extLst>
              <a:ext uri="{FF2B5EF4-FFF2-40B4-BE49-F238E27FC236}">
                <a16:creationId xmlns:a16="http://schemas.microsoft.com/office/drawing/2014/main" id="{30236F25-99BA-62CC-3360-EF23BBE433A5}"/>
              </a:ext>
            </a:extLst>
          </p:cNvPr>
          <p:cNvSpPr/>
          <p:nvPr/>
        </p:nvSpPr>
        <p:spPr>
          <a:xfrm>
            <a:off x="1087810" y="807032"/>
            <a:ext cx="737709" cy="244198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dirty="0"/>
              <a:t>Month ↓</a:t>
            </a:r>
          </a:p>
        </p:txBody>
      </p:sp>
      <p:sp>
        <p:nvSpPr>
          <p:cNvPr id="14" name="Rectangle: Rounded Corners 13">
            <a:extLst>
              <a:ext uri="{FF2B5EF4-FFF2-40B4-BE49-F238E27FC236}">
                <a16:creationId xmlns:a16="http://schemas.microsoft.com/office/drawing/2014/main" id="{38DE7BD0-EC8C-5DC6-A61D-740C292BA563}"/>
              </a:ext>
            </a:extLst>
          </p:cNvPr>
          <p:cNvSpPr/>
          <p:nvPr/>
        </p:nvSpPr>
        <p:spPr>
          <a:xfrm>
            <a:off x="1891597" y="807032"/>
            <a:ext cx="737709" cy="244198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dirty="0"/>
              <a:t>Year ↓</a:t>
            </a:r>
          </a:p>
        </p:txBody>
      </p:sp>
      <p:sp>
        <p:nvSpPr>
          <p:cNvPr id="15" name="Rectangle: Rounded Corners 14">
            <a:extLst>
              <a:ext uri="{FF2B5EF4-FFF2-40B4-BE49-F238E27FC236}">
                <a16:creationId xmlns:a16="http://schemas.microsoft.com/office/drawing/2014/main" id="{E4233E44-EE6F-3809-50AF-08D33016CD73}"/>
              </a:ext>
            </a:extLst>
          </p:cNvPr>
          <p:cNvSpPr/>
          <p:nvPr/>
        </p:nvSpPr>
        <p:spPr>
          <a:xfrm>
            <a:off x="274226" y="1146048"/>
            <a:ext cx="737709" cy="244198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dirty="0"/>
              <a:t>Week 1 ↓</a:t>
            </a:r>
          </a:p>
        </p:txBody>
      </p:sp>
      <p:sp>
        <p:nvSpPr>
          <p:cNvPr id="16" name="Rectangle: Rounded Corners 15">
            <a:extLst>
              <a:ext uri="{FF2B5EF4-FFF2-40B4-BE49-F238E27FC236}">
                <a16:creationId xmlns:a16="http://schemas.microsoft.com/office/drawing/2014/main" id="{CA763D7E-7BF8-88FA-4C57-6288B7B3D6AB}"/>
              </a:ext>
            </a:extLst>
          </p:cNvPr>
          <p:cNvSpPr/>
          <p:nvPr/>
        </p:nvSpPr>
        <p:spPr>
          <a:xfrm>
            <a:off x="1087810" y="1146048"/>
            <a:ext cx="737709" cy="244198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dirty="0"/>
              <a:t>Jan ↓</a:t>
            </a:r>
          </a:p>
        </p:txBody>
      </p:sp>
      <p:sp>
        <p:nvSpPr>
          <p:cNvPr id="17" name="Rectangle: Rounded Corners 16">
            <a:extLst>
              <a:ext uri="{FF2B5EF4-FFF2-40B4-BE49-F238E27FC236}">
                <a16:creationId xmlns:a16="http://schemas.microsoft.com/office/drawing/2014/main" id="{1D4F66D8-591A-822A-443E-0772D1783557}"/>
              </a:ext>
            </a:extLst>
          </p:cNvPr>
          <p:cNvSpPr/>
          <p:nvPr/>
        </p:nvSpPr>
        <p:spPr>
          <a:xfrm>
            <a:off x="1891597" y="1146048"/>
            <a:ext cx="737709" cy="244198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dirty="0"/>
              <a:t>2025 ↓</a:t>
            </a:r>
          </a:p>
        </p:txBody>
      </p:sp>
      <p:sp>
        <p:nvSpPr>
          <p:cNvPr id="18" name="Rectangle: Rounded Corners 17">
            <a:extLst>
              <a:ext uri="{FF2B5EF4-FFF2-40B4-BE49-F238E27FC236}">
                <a16:creationId xmlns:a16="http://schemas.microsoft.com/office/drawing/2014/main" id="{611A8C16-9F16-6C59-8ADB-B854CDB8F997}"/>
              </a:ext>
            </a:extLst>
          </p:cNvPr>
          <p:cNvSpPr/>
          <p:nvPr/>
        </p:nvSpPr>
        <p:spPr>
          <a:xfrm>
            <a:off x="3195734" y="831416"/>
            <a:ext cx="737709" cy="244198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dirty="0"/>
              <a:t>Quarter ↓</a:t>
            </a:r>
          </a:p>
        </p:txBody>
      </p:sp>
      <p:sp>
        <p:nvSpPr>
          <p:cNvPr id="20" name="Rectangle: Rounded Corners 19">
            <a:extLst>
              <a:ext uri="{FF2B5EF4-FFF2-40B4-BE49-F238E27FC236}">
                <a16:creationId xmlns:a16="http://schemas.microsoft.com/office/drawing/2014/main" id="{CB2B3383-8599-4D59-E950-AF8D362B81D6}"/>
              </a:ext>
            </a:extLst>
          </p:cNvPr>
          <p:cNvSpPr/>
          <p:nvPr/>
        </p:nvSpPr>
        <p:spPr>
          <a:xfrm>
            <a:off x="4029779" y="822572"/>
            <a:ext cx="737709" cy="244198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dirty="0"/>
              <a:t>Year ↓</a:t>
            </a:r>
          </a:p>
        </p:txBody>
      </p:sp>
      <p:sp>
        <p:nvSpPr>
          <p:cNvPr id="21" name="Rectangle: Rounded Corners 20">
            <a:extLst>
              <a:ext uri="{FF2B5EF4-FFF2-40B4-BE49-F238E27FC236}">
                <a16:creationId xmlns:a16="http://schemas.microsoft.com/office/drawing/2014/main" id="{AF9AC30D-94C2-7BBB-F573-4ACCC9FE2B9B}"/>
              </a:ext>
            </a:extLst>
          </p:cNvPr>
          <p:cNvSpPr/>
          <p:nvPr/>
        </p:nvSpPr>
        <p:spPr>
          <a:xfrm>
            <a:off x="3195734" y="1170432"/>
            <a:ext cx="737709" cy="244198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dirty="0"/>
              <a:t>2</a:t>
            </a:r>
            <a:r>
              <a:rPr lang="en-US" sz="1000" baseline="30000" dirty="0"/>
              <a:t>nd</a:t>
            </a:r>
            <a:r>
              <a:rPr lang="en-US" sz="1000" dirty="0"/>
              <a:t> ↓</a:t>
            </a:r>
          </a:p>
        </p:txBody>
      </p:sp>
      <p:sp>
        <p:nvSpPr>
          <p:cNvPr id="23" name="Rectangle: Rounded Corners 22">
            <a:extLst>
              <a:ext uri="{FF2B5EF4-FFF2-40B4-BE49-F238E27FC236}">
                <a16:creationId xmlns:a16="http://schemas.microsoft.com/office/drawing/2014/main" id="{EB1A4702-5058-9211-4A1A-82D1C34455DF}"/>
              </a:ext>
            </a:extLst>
          </p:cNvPr>
          <p:cNvSpPr/>
          <p:nvPr/>
        </p:nvSpPr>
        <p:spPr>
          <a:xfrm>
            <a:off x="4029779" y="1161588"/>
            <a:ext cx="737709" cy="244198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dirty="0"/>
              <a:t>2025 ↓</a:t>
            </a:r>
          </a:p>
        </p:txBody>
      </p:sp>
      <p:graphicFrame>
        <p:nvGraphicFramePr>
          <p:cNvPr id="24" name="Table 23">
            <a:extLst>
              <a:ext uri="{FF2B5EF4-FFF2-40B4-BE49-F238E27FC236}">
                <a16:creationId xmlns:a16="http://schemas.microsoft.com/office/drawing/2014/main" id="{C10A5E8D-1C0A-1B34-7DBE-8D6C2DD8CF8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198924115"/>
              </p:ext>
            </p:extLst>
          </p:nvPr>
        </p:nvGraphicFramePr>
        <p:xfrm>
          <a:off x="7047624" y="1641090"/>
          <a:ext cx="4755757" cy="128159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15269">
                  <a:extLst>
                    <a:ext uri="{9D8B030D-6E8A-4147-A177-3AD203B41FA5}">
                      <a16:colId xmlns:a16="http://schemas.microsoft.com/office/drawing/2014/main" val="3731313920"/>
                    </a:ext>
                  </a:extLst>
                </a:gridCol>
                <a:gridCol w="591498">
                  <a:extLst>
                    <a:ext uri="{9D8B030D-6E8A-4147-A177-3AD203B41FA5}">
                      <a16:colId xmlns:a16="http://schemas.microsoft.com/office/drawing/2014/main" val="947986631"/>
                    </a:ext>
                  </a:extLst>
                </a:gridCol>
                <a:gridCol w="591500">
                  <a:extLst>
                    <a:ext uri="{9D8B030D-6E8A-4147-A177-3AD203B41FA5}">
                      <a16:colId xmlns:a16="http://schemas.microsoft.com/office/drawing/2014/main" val="906388908"/>
                    </a:ext>
                  </a:extLst>
                </a:gridCol>
                <a:gridCol w="591498">
                  <a:extLst>
                    <a:ext uri="{9D8B030D-6E8A-4147-A177-3AD203B41FA5}">
                      <a16:colId xmlns:a16="http://schemas.microsoft.com/office/drawing/2014/main" val="133631174"/>
                    </a:ext>
                  </a:extLst>
                </a:gridCol>
                <a:gridCol w="591498">
                  <a:extLst>
                    <a:ext uri="{9D8B030D-6E8A-4147-A177-3AD203B41FA5}">
                      <a16:colId xmlns:a16="http://schemas.microsoft.com/office/drawing/2014/main" val="2705880004"/>
                    </a:ext>
                  </a:extLst>
                </a:gridCol>
                <a:gridCol w="591498">
                  <a:extLst>
                    <a:ext uri="{9D8B030D-6E8A-4147-A177-3AD203B41FA5}">
                      <a16:colId xmlns:a16="http://schemas.microsoft.com/office/drawing/2014/main" val="1224346719"/>
                    </a:ext>
                  </a:extLst>
                </a:gridCol>
                <a:gridCol w="591498">
                  <a:extLst>
                    <a:ext uri="{9D8B030D-6E8A-4147-A177-3AD203B41FA5}">
                      <a16:colId xmlns:a16="http://schemas.microsoft.com/office/drawing/2014/main" val="870593989"/>
                    </a:ext>
                  </a:extLst>
                </a:gridCol>
                <a:gridCol w="591498">
                  <a:extLst>
                    <a:ext uri="{9D8B030D-6E8A-4147-A177-3AD203B41FA5}">
                      <a16:colId xmlns:a16="http://schemas.microsoft.com/office/drawing/2014/main" val="3501395715"/>
                    </a:ext>
                  </a:extLst>
                </a:gridCol>
              </a:tblGrid>
              <a:tr h="244559">
                <a:tc>
                  <a:txBody>
                    <a:bodyPr/>
                    <a:lstStyle/>
                    <a:p>
                      <a:r>
                        <a:rPr lang="en-US" sz="1000" dirty="0"/>
                        <a:t>Property Name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000" dirty="0"/>
                        <a:t>Jan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000" dirty="0"/>
                        <a:t>Feb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000" dirty="0"/>
                        <a:t>Mar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000" dirty="0"/>
                        <a:t>Apr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000" dirty="0"/>
                        <a:t>May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000" dirty="0"/>
                        <a:t>Jun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000" dirty="0"/>
                        <a:t>Earned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88197724"/>
                  </a:ext>
                </a:extLst>
              </a:tr>
              <a:tr h="244559">
                <a:tc>
                  <a:txBody>
                    <a:bodyPr/>
                    <a:lstStyle/>
                    <a:p>
                      <a:r>
                        <a:rPr lang="en-US" sz="1000" dirty="0"/>
                        <a:t>P1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000" dirty="0"/>
                        <a:t>6,000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000" dirty="0"/>
                        <a:t>4,000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000" dirty="0"/>
                        <a:t>8,000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000" dirty="0"/>
                        <a:t>5,000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000" dirty="0"/>
                        <a:t>5,000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000" dirty="0"/>
                        <a:t>5,000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000" dirty="0"/>
                        <a:t>29,000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125870186"/>
                  </a:ext>
                </a:extLst>
              </a:tr>
              <a:tr h="244559">
                <a:tc>
                  <a:txBody>
                    <a:bodyPr/>
                    <a:lstStyle/>
                    <a:p>
                      <a:r>
                        <a:rPr lang="en-US" sz="1000" dirty="0"/>
                        <a:t>P2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000" dirty="0"/>
                        <a:t>6,000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000" dirty="0"/>
                        <a:t>4,000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000" dirty="0"/>
                        <a:t>8,000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000" dirty="0"/>
                        <a:t>5,000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000" dirty="0"/>
                        <a:t>5,000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000" dirty="0"/>
                        <a:t>5,000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000" dirty="0"/>
                        <a:t>29,000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104906619"/>
                  </a:ext>
                </a:extLst>
              </a:tr>
              <a:tr h="148891">
                <a:tc gridSpan="7">
                  <a:txBody>
                    <a:bodyPr/>
                    <a:lstStyle/>
                    <a:p>
                      <a:r>
                        <a:rPr lang="en-US" sz="1000" dirty="0"/>
                        <a:t>TOTAL</a:t>
                      </a:r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sz="1000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sz="1000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sz="1000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sz="1000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sz="1000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/>
                      <a:endParaRPr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000" dirty="0"/>
                        <a:t>58,000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42238911"/>
                  </a:ext>
                </a:extLst>
              </a:tr>
            </a:tbl>
          </a:graphicData>
        </a:graphic>
      </p:graphicFrame>
      <p:sp>
        <p:nvSpPr>
          <p:cNvPr id="25" name="TextBox 24">
            <a:extLst>
              <a:ext uri="{FF2B5EF4-FFF2-40B4-BE49-F238E27FC236}">
                <a16:creationId xmlns:a16="http://schemas.microsoft.com/office/drawing/2014/main" id="{BA3EB886-31F4-A0C0-182B-17EDDDA3A67D}"/>
              </a:ext>
            </a:extLst>
          </p:cNvPr>
          <p:cNvSpPr txBox="1"/>
          <p:nvPr/>
        </p:nvSpPr>
        <p:spPr>
          <a:xfrm>
            <a:off x="7047623" y="1420095"/>
            <a:ext cx="1724938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b="1" dirty="0"/>
              <a:t>First Annual, 2025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A8254BF7-8514-C813-50FA-282D4C9AA9D5}"/>
              </a:ext>
            </a:extLst>
          </p:cNvPr>
          <p:cNvSpPr txBox="1"/>
          <p:nvPr/>
        </p:nvSpPr>
        <p:spPr>
          <a:xfrm>
            <a:off x="7047623" y="553237"/>
            <a:ext cx="3932474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b="1" dirty="0"/>
              <a:t>Semi-Annual Example 1{</a:t>
            </a:r>
            <a:r>
              <a:rPr lang="en-US" sz="1200" b="1" dirty="0" err="1"/>
              <a:t>jan-jun</a:t>
            </a:r>
            <a:r>
              <a:rPr lang="en-US" sz="1200" b="1" dirty="0"/>
              <a:t>} 2{</a:t>
            </a:r>
            <a:r>
              <a:rPr lang="en-US" sz="1200" b="1" dirty="0" err="1"/>
              <a:t>jul</a:t>
            </a:r>
            <a:r>
              <a:rPr lang="en-US" sz="1200" b="1" dirty="0"/>
              <a:t>-dec} </a:t>
            </a:r>
          </a:p>
        </p:txBody>
      </p:sp>
      <p:sp>
        <p:nvSpPr>
          <p:cNvPr id="27" name="Rectangle: Rounded Corners 26">
            <a:extLst>
              <a:ext uri="{FF2B5EF4-FFF2-40B4-BE49-F238E27FC236}">
                <a16:creationId xmlns:a16="http://schemas.microsoft.com/office/drawing/2014/main" id="{92D18B4D-85D6-F085-4E01-DAEC9E11477A}"/>
              </a:ext>
            </a:extLst>
          </p:cNvPr>
          <p:cNvSpPr/>
          <p:nvPr/>
        </p:nvSpPr>
        <p:spPr>
          <a:xfrm>
            <a:off x="7104471" y="861266"/>
            <a:ext cx="737709" cy="244198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dirty="0"/>
              <a:t>Annual ↓</a:t>
            </a:r>
          </a:p>
        </p:txBody>
      </p:sp>
      <p:sp>
        <p:nvSpPr>
          <p:cNvPr id="28" name="Rectangle: Rounded Corners 27">
            <a:extLst>
              <a:ext uri="{FF2B5EF4-FFF2-40B4-BE49-F238E27FC236}">
                <a16:creationId xmlns:a16="http://schemas.microsoft.com/office/drawing/2014/main" id="{93A8273B-B987-143D-AC4E-FD0D2BE56926}"/>
              </a:ext>
            </a:extLst>
          </p:cNvPr>
          <p:cNvSpPr/>
          <p:nvPr/>
        </p:nvSpPr>
        <p:spPr>
          <a:xfrm>
            <a:off x="7938516" y="852422"/>
            <a:ext cx="737709" cy="244198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dirty="0"/>
              <a:t>Year ↓</a:t>
            </a:r>
          </a:p>
        </p:txBody>
      </p:sp>
      <p:sp>
        <p:nvSpPr>
          <p:cNvPr id="29" name="Rectangle: Rounded Corners 28">
            <a:extLst>
              <a:ext uri="{FF2B5EF4-FFF2-40B4-BE49-F238E27FC236}">
                <a16:creationId xmlns:a16="http://schemas.microsoft.com/office/drawing/2014/main" id="{C4027D7A-6B87-306F-4ED5-9A33A30F5B7D}"/>
              </a:ext>
            </a:extLst>
          </p:cNvPr>
          <p:cNvSpPr/>
          <p:nvPr/>
        </p:nvSpPr>
        <p:spPr>
          <a:xfrm>
            <a:off x="7104471" y="1200282"/>
            <a:ext cx="737709" cy="244198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dirty="0"/>
              <a:t>1st↓</a:t>
            </a:r>
          </a:p>
        </p:txBody>
      </p:sp>
      <p:sp>
        <p:nvSpPr>
          <p:cNvPr id="30" name="Rectangle: Rounded Corners 29">
            <a:extLst>
              <a:ext uri="{FF2B5EF4-FFF2-40B4-BE49-F238E27FC236}">
                <a16:creationId xmlns:a16="http://schemas.microsoft.com/office/drawing/2014/main" id="{11213F5D-0F1A-F5FB-61F8-21B5563FC7C8}"/>
              </a:ext>
            </a:extLst>
          </p:cNvPr>
          <p:cNvSpPr/>
          <p:nvPr/>
        </p:nvSpPr>
        <p:spPr>
          <a:xfrm>
            <a:off x="7938516" y="1191438"/>
            <a:ext cx="737709" cy="244198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dirty="0"/>
              <a:t>2025 ↓</a:t>
            </a:r>
          </a:p>
        </p:txBody>
      </p:sp>
      <p:graphicFrame>
        <p:nvGraphicFramePr>
          <p:cNvPr id="31" name="Table 30">
            <a:extLst>
              <a:ext uri="{FF2B5EF4-FFF2-40B4-BE49-F238E27FC236}">
                <a16:creationId xmlns:a16="http://schemas.microsoft.com/office/drawing/2014/main" id="{C10A5E8D-1C0A-1B34-7DBE-8D6C2DD8CF8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155612975"/>
              </p:ext>
            </p:extLst>
          </p:nvPr>
        </p:nvGraphicFramePr>
        <p:xfrm>
          <a:off x="336566" y="4489621"/>
          <a:ext cx="9592291" cy="1354003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710659">
                  <a:extLst>
                    <a:ext uri="{9D8B030D-6E8A-4147-A177-3AD203B41FA5}">
                      <a16:colId xmlns:a16="http://schemas.microsoft.com/office/drawing/2014/main" val="3731313920"/>
                    </a:ext>
                  </a:extLst>
                </a:gridCol>
                <a:gridCol w="683202">
                  <a:extLst>
                    <a:ext uri="{9D8B030D-6E8A-4147-A177-3AD203B41FA5}">
                      <a16:colId xmlns:a16="http://schemas.microsoft.com/office/drawing/2014/main" val="947986631"/>
                    </a:ext>
                  </a:extLst>
                </a:gridCol>
                <a:gridCol w="683208">
                  <a:extLst>
                    <a:ext uri="{9D8B030D-6E8A-4147-A177-3AD203B41FA5}">
                      <a16:colId xmlns:a16="http://schemas.microsoft.com/office/drawing/2014/main" val="906388908"/>
                    </a:ext>
                  </a:extLst>
                </a:gridCol>
                <a:gridCol w="683202">
                  <a:extLst>
                    <a:ext uri="{9D8B030D-6E8A-4147-A177-3AD203B41FA5}">
                      <a16:colId xmlns:a16="http://schemas.microsoft.com/office/drawing/2014/main" val="133631174"/>
                    </a:ext>
                  </a:extLst>
                </a:gridCol>
                <a:gridCol w="683202">
                  <a:extLst>
                    <a:ext uri="{9D8B030D-6E8A-4147-A177-3AD203B41FA5}">
                      <a16:colId xmlns:a16="http://schemas.microsoft.com/office/drawing/2014/main" val="2705880004"/>
                    </a:ext>
                  </a:extLst>
                </a:gridCol>
                <a:gridCol w="683202">
                  <a:extLst>
                    <a:ext uri="{9D8B030D-6E8A-4147-A177-3AD203B41FA5}">
                      <a16:colId xmlns:a16="http://schemas.microsoft.com/office/drawing/2014/main" val="1224346719"/>
                    </a:ext>
                  </a:extLst>
                </a:gridCol>
                <a:gridCol w="683202">
                  <a:extLst>
                    <a:ext uri="{9D8B030D-6E8A-4147-A177-3AD203B41FA5}">
                      <a16:colId xmlns:a16="http://schemas.microsoft.com/office/drawing/2014/main" val="870593989"/>
                    </a:ext>
                  </a:extLst>
                </a:gridCol>
                <a:gridCol w="683202">
                  <a:extLst>
                    <a:ext uri="{9D8B030D-6E8A-4147-A177-3AD203B41FA5}">
                      <a16:colId xmlns:a16="http://schemas.microsoft.com/office/drawing/2014/main" val="2554536177"/>
                    </a:ext>
                  </a:extLst>
                </a:gridCol>
                <a:gridCol w="683202">
                  <a:extLst>
                    <a:ext uri="{9D8B030D-6E8A-4147-A177-3AD203B41FA5}">
                      <a16:colId xmlns:a16="http://schemas.microsoft.com/office/drawing/2014/main" val="1739481665"/>
                    </a:ext>
                  </a:extLst>
                </a:gridCol>
                <a:gridCol w="683202">
                  <a:extLst>
                    <a:ext uri="{9D8B030D-6E8A-4147-A177-3AD203B41FA5}">
                      <a16:colId xmlns:a16="http://schemas.microsoft.com/office/drawing/2014/main" val="709595055"/>
                    </a:ext>
                  </a:extLst>
                </a:gridCol>
                <a:gridCol w="683202">
                  <a:extLst>
                    <a:ext uri="{9D8B030D-6E8A-4147-A177-3AD203B41FA5}">
                      <a16:colId xmlns:a16="http://schemas.microsoft.com/office/drawing/2014/main" val="1638221643"/>
                    </a:ext>
                  </a:extLst>
                </a:gridCol>
                <a:gridCol w="683202">
                  <a:extLst>
                    <a:ext uri="{9D8B030D-6E8A-4147-A177-3AD203B41FA5}">
                      <a16:colId xmlns:a16="http://schemas.microsoft.com/office/drawing/2014/main" val="207647737"/>
                    </a:ext>
                  </a:extLst>
                </a:gridCol>
                <a:gridCol w="683202">
                  <a:extLst>
                    <a:ext uri="{9D8B030D-6E8A-4147-A177-3AD203B41FA5}">
                      <a16:colId xmlns:a16="http://schemas.microsoft.com/office/drawing/2014/main" val="3278669961"/>
                    </a:ext>
                  </a:extLst>
                </a:gridCol>
                <a:gridCol w="683202">
                  <a:extLst>
                    <a:ext uri="{9D8B030D-6E8A-4147-A177-3AD203B41FA5}">
                      <a16:colId xmlns:a16="http://schemas.microsoft.com/office/drawing/2014/main" val="1839316062"/>
                    </a:ext>
                  </a:extLst>
                </a:gridCol>
              </a:tblGrid>
              <a:tr h="503026">
                <a:tc>
                  <a:txBody>
                    <a:bodyPr/>
                    <a:lstStyle/>
                    <a:p>
                      <a:r>
                        <a:rPr lang="en-US" sz="1000" dirty="0"/>
                        <a:t>Property Name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000" dirty="0"/>
                        <a:t>Jan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000" dirty="0"/>
                        <a:t>Feb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000" dirty="0"/>
                        <a:t>Mar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000" dirty="0"/>
                        <a:t>Apr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000" dirty="0"/>
                        <a:t>May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000" dirty="0"/>
                        <a:t>Jun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000" dirty="0"/>
                        <a:t>Jul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000" dirty="0"/>
                        <a:t>Aug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000" dirty="0"/>
                        <a:t>Sep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000" dirty="0"/>
                        <a:t>Oct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000" dirty="0"/>
                        <a:t>Nov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000" dirty="0"/>
                        <a:t>Dec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000" dirty="0"/>
                        <a:t>Earned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88197724"/>
                  </a:ext>
                </a:extLst>
              </a:tr>
              <a:tr h="240488">
                <a:tc>
                  <a:txBody>
                    <a:bodyPr/>
                    <a:lstStyle/>
                    <a:p>
                      <a:r>
                        <a:rPr lang="en-US" sz="1000" dirty="0"/>
                        <a:t>P1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000" dirty="0"/>
                        <a:t>6,000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000" dirty="0"/>
                        <a:t>4,000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000" dirty="0"/>
                        <a:t>8,000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000" dirty="0"/>
                        <a:t>5,000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000" dirty="0"/>
                        <a:t>5,000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000" dirty="0"/>
                        <a:t>5,000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000" dirty="0"/>
                        <a:t>6,000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000" dirty="0"/>
                        <a:t>4,000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000" dirty="0"/>
                        <a:t>8,000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000" dirty="0"/>
                        <a:t>5,000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000" dirty="0"/>
                        <a:t>5,000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000" dirty="0"/>
                        <a:t>5,000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000" dirty="0"/>
                        <a:t>66,000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125870186"/>
                  </a:ext>
                </a:extLst>
              </a:tr>
              <a:tr h="240488">
                <a:tc>
                  <a:txBody>
                    <a:bodyPr/>
                    <a:lstStyle/>
                    <a:p>
                      <a:r>
                        <a:rPr lang="en-US" sz="1000" dirty="0"/>
                        <a:t>P2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000" dirty="0"/>
                        <a:t>6,000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000" dirty="0"/>
                        <a:t>4,000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000" dirty="0"/>
                        <a:t>8,000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000" dirty="0"/>
                        <a:t>5,000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000" dirty="0"/>
                        <a:t>5,000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000" dirty="0"/>
                        <a:t>5,000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000" dirty="0"/>
                        <a:t>6,000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000" dirty="0"/>
                        <a:t>4,000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000" dirty="0"/>
                        <a:t>8,000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000" dirty="0"/>
                        <a:t>5,000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000" dirty="0"/>
                        <a:t>5,000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000" dirty="0"/>
                        <a:t>5,000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000" dirty="0"/>
                        <a:t>66,000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104906619"/>
                  </a:ext>
                </a:extLst>
              </a:tr>
              <a:tr h="363297">
                <a:tc gridSpan="13">
                  <a:txBody>
                    <a:bodyPr/>
                    <a:lstStyle/>
                    <a:p>
                      <a:r>
                        <a:rPr lang="en-US" sz="1000" dirty="0"/>
                        <a:t>TOTAL</a:t>
                      </a:r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sz="1000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sz="1000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sz="1000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sz="1000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sz="1000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sz="1000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sz="1000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sz="1000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sz="1000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sz="1000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sz="1000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/>
                      <a:endParaRPr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000" dirty="0"/>
                        <a:t>132,000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42238911"/>
                  </a:ext>
                </a:extLst>
              </a:tr>
            </a:tbl>
          </a:graphicData>
        </a:graphic>
      </p:graphicFrame>
      <p:sp>
        <p:nvSpPr>
          <p:cNvPr id="32" name="TextBox 31">
            <a:extLst>
              <a:ext uri="{FF2B5EF4-FFF2-40B4-BE49-F238E27FC236}">
                <a16:creationId xmlns:a16="http://schemas.microsoft.com/office/drawing/2014/main" id="{BA3EB886-31F4-A0C0-182B-17EDDDA3A67D}"/>
              </a:ext>
            </a:extLst>
          </p:cNvPr>
          <p:cNvSpPr txBox="1"/>
          <p:nvPr/>
        </p:nvSpPr>
        <p:spPr>
          <a:xfrm>
            <a:off x="279720" y="4267188"/>
            <a:ext cx="1724938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b="1" dirty="0"/>
              <a:t>2025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A8254BF7-8514-C813-50FA-282D4C9AA9D5}"/>
              </a:ext>
            </a:extLst>
          </p:cNvPr>
          <p:cNvSpPr txBox="1"/>
          <p:nvPr/>
        </p:nvSpPr>
        <p:spPr>
          <a:xfrm>
            <a:off x="279720" y="3400330"/>
            <a:ext cx="3932474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b="1" dirty="0"/>
              <a:t>Annual Example</a:t>
            </a:r>
          </a:p>
        </p:txBody>
      </p:sp>
      <p:sp>
        <p:nvSpPr>
          <p:cNvPr id="35" name="Rectangle: Rounded Corners 34">
            <a:extLst>
              <a:ext uri="{FF2B5EF4-FFF2-40B4-BE49-F238E27FC236}">
                <a16:creationId xmlns:a16="http://schemas.microsoft.com/office/drawing/2014/main" id="{93A8273B-B987-143D-AC4E-FD0D2BE56926}"/>
              </a:ext>
            </a:extLst>
          </p:cNvPr>
          <p:cNvSpPr/>
          <p:nvPr/>
        </p:nvSpPr>
        <p:spPr>
          <a:xfrm>
            <a:off x="327770" y="3678735"/>
            <a:ext cx="737709" cy="244198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dirty="0"/>
              <a:t>Year ↓</a:t>
            </a:r>
          </a:p>
        </p:txBody>
      </p:sp>
      <p:sp>
        <p:nvSpPr>
          <p:cNvPr id="37" name="Rectangle: Rounded Corners 36">
            <a:extLst>
              <a:ext uri="{FF2B5EF4-FFF2-40B4-BE49-F238E27FC236}">
                <a16:creationId xmlns:a16="http://schemas.microsoft.com/office/drawing/2014/main" id="{11213F5D-0F1A-F5FB-61F8-21B5563FC7C8}"/>
              </a:ext>
            </a:extLst>
          </p:cNvPr>
          <p:cNvSpPr/>
          <p:nvPr/>
        </p:nvSpPr>
        <p:spPr>
          <a:xfrm>
            <a:off x="327770" y="4017751"/>
            <a:ext cx="737709" cy="244198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dirty="0"/>
              <a:t>2025 ↓</a:t>
            </a:r>
          </a:p>
        </p:txBody>
      </p:sp>
    </p:spTree>
    <p:extLst>
      <p:ext uri="{BB962C8B-B14F-4D97-AF65-F5344CB8AC3E}">
        <p14:creationId xmlns:p14="http://schemas.microsoft.com/office/powerpoint/2010/main" val="1113652919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5334CD5D-0501-F20B-E8F8-6EA1A7ED9283}"/>
              </a:ext>
            </a:extLst>
          </p:cNvPr>
          <p:cNvSpPr txBox="1"/>
          <p:nvPr/>
        </p:nvSpPr>
        <p:spPr>
          <a:xfrm>
            <a:off x="-1" y="0"/>
            <a:ext cx="4341092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b="1" dirty="0"/>
              <a:t>employeeTS.html</a:t>
            </a:r>
          </a:p>
        </p:txBody>
      </p:sp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6E73A897-5450-4344-36D1-BCA0733CCBFC}"/>
              </a:ext>
            </a:extLst>
          </p:cNvPr>
          <p:cNvSpPr/>
          <p:nvPr/>
        </p:nvSpPr>
        <p:spPr>
          <a:xfrm>
            <a:off x="1528618" y="2012722"/>
            <a:ext cx="9134764" cy="2832556"/>
          </a:xfrm>
          <a:prstGeom prst="roundRect">
            <a:avLst>
              <a:gd name="adj" fmla="val 5218"/>
            </a:avLst>
          </a:prstGeom>
          <a:solidFill>
            <a:schemeClr val="accent6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b="1" dirty="0"/>
              <a:t>category (Pending, Completed){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dirty="0"/>
              <a:t>List (Trans #, Name of guest, Property Name, Date (I-O), Payment mode,  Total Amount, Status) Button : View (employeeTSView.html)</a:t>
            </a:r>
          </a:p>
          <a:p>
            <a:r>
              <a:rPr lang="en-US" b="1" dirty="0"/>
              <a:t>}</a:t>
            </a:r>
          </a:p>
        </p:txBody>
      </p:sp>
    </p:spTree>
    <p:extLst>
      <p:ext uri="{BB962C8B-B14F-4D97-AF65-F5344CB8AC3E}">
        <p14:creationId xmlns:p14="http://schemas.microsoft.com/office/powerpoint/2010/main" val="3715203395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5334CD5D-0501-F20B-E8F8-6EA1A7ED9283}"/>
              </a:ext>
            </a:extLst>
          </p:cNvPr>
          <p:cNvSpPr txBox="1"/>
          <p:nvPr/>
        </p:nvSpPr>
        <p:spPr>
          <a:xfrm>
            <a:off x="-1" y="0"/>
            <a:ext cx="4341092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b="1" dirty="0"/>
              <a:t>employeeTSView.html</a:t>
            </a:r>
          </a:p>
        </p:txBody>
      </p:sp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6E73A897-5450-4344-36D1-BCA0733CCBFC}"/>
              </a:ext>
            </a:extLst>
          </p:cNvPr>
          <p:cNvSpPr/>
          <p:nvPr/>
        </p:nvSpPr>
        <p:spPr>
          <a:xfrm>
            <a:off x="277090" y="2012722"/>
            <a:ext cx="6077528" cy="2832556"/>
          </a:xfrm>
          <a:prstGeom prst="roundRect">
            <a:avLst>
              <a:gd name="adj" fmla="val 5218"/>
            </a:avLst>
          </a:prstGeom>
          <a:solidFill>
            <a:schemeClr val="accent6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b="1" dirty="0"/>
              <a:t>{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dirty="0"/>
              <a:t>Property Name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dirty="0"/>
              <a:t>Transaction Number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dirty="0"/>
              <a:t>Name of Guest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dirty="0"/>
              <a:t>Status (Reserved, Fully Paid, Check In, Check Out, Completed or Cancel) // parang </a:t>
            </a:r>
            <a:r>
              <a:rPr lang="en-US" b="1" dirty="0" err="1"/>
              <a:t>shopee</a:t>
            </a:r>
            <a:r>
              <a:rPr lang="en-US" b="1" dirty="0"/>
              <a:t> xd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dirty="0"/>
              <a:t>Breakdown of payment (Reservation + (Package Payment – discount) * Additional Pax )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dirty="0"/>
              <a:t>Button : back (employeeTS.html)</a:t>
            </a:r>
          </a:p>
          <a:p>
            <a:r>
              <a:rPr lang="en-US" b="1" dirty="0"/>
              <a:t>}</a:t>
            </a:r>
          </a:p>
        </p:txBody>
      </p:sp>
      <p:sp>
        <p:nvSpPr>
          <p:cNvPr id="2" name="Rectangle: Rounded Corners 1">
            <a:extLst>
              <a:ext uri="{FF2B5EF4-FFF2-40B4-BE49-F238E27FC236}">
                <a16:creationId xmlns:a16="http://schemas.microsoft.com/office/drawing/2014/main" id="{5A4456B4-4281-F7F5-962D-D430BDB4B876}"/>
              </a:ext>
            </a:extLst>
          </p:cNvPr>
          <p:cNvSpPr/>
          <p:nvPr/>
        </p:nvSpPr>
        <p:spPr>
          <a:xfrm>
            <a:off x="6890329" y="2012722"/>
            <a:ext cx="4858326" cy="2832556"/>
          </a:xfrm>
          <a:prstGeom prst="roundRect">
            <a:avLst>
              <a:gd name="adj" fmla="val 5218"/>
            </a:avLst>
          </a:prstGeom>
          <a:solidFill>
            <a:schemeClr val="accent6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b="1" dirty="0"/>
              <a:t>Confirm Payment{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dirty="0"/>
              <a:t>For: Reservation/Full Payment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dirty="0"/>
              <a:t>Mode of Payment (</a:t>
            </a:r>
            <a:r>
              <a:rPr lang="en-US" b="1" dirty="0" err="1"/>
              <a:t>Gcash</a:t>
            </a:r>
            <a:r>
              <a:rPr lang="en-US" b="1" dirty="0"/>
              <a:t>, </a:t>
            </a:r>
            <a:r>
              <a:rPr lang="en-US" b="1" dirty="0" err="1"/>
              <a:t>Gotyme</a:t>
            </a:r>
            <a:r>
              <a:rPr lang="en-US" b="1" dirty="0"/>
              <a:t>, maya, </a:t>
            </a:r>
            <a:r>
              <a:rPr lang="en-US" b="1" dirty="0" err="1"/>
              <a:t>UnionBank</a:t>
            </a:r>
            <a:r>
              <a:rPr lang="en-US" b="1" dirty="0"/>
              <a:t>)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dirty="0"/>
              <a:t>Transaction Number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dirty="0"/>
              <a:t>Date &amp; time of payment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endParaRPr lang="en-US" b="1" dirty="0"/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dirty="0"/>
              <a:t>Button : Confirm and Decline</a:t>
            </a:r>
          </a:p>
          <a:p>
            <a:r>
              <a:rPr lang="en-US" b="1" dirty="0"/>
              <a:t>}</a:t>
            </a:r>
          </a:p>
        </p:txBody>
      </p:sp>
    </p:spTree>
    <p:extLst>
      <p:ext uri="{BB962C8B-B14F-4D97-AF65-F5344CB8AC3E}">
        <p14:creationId xmlns:p14="http://schemas.microsoft.com/office/powerpoint/2010/main" val="2196162000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5334CD5D-0501-F20B-E8F8-6EA1A7ED9283}"/>
              </a:ext>
            </a:extLst>
          </p:cNvPr>
          <p:cNvSpPr txBox="1"/>
          <p:nvPr/>
        </p:nvSpPr>
        <p:spPr>
          <a:xfrm>
            <a:off x="-1" y="0"/>
            <a:ext cx="4341092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b="1" dirty="0"/>
              <a:t>employeeTK.html</a:t>
            </a:r>
          </a:p>
        </p:txBody>
      </p:sp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6E73A897-5450-4344-36D1-BCA0733CCBFC}"/>
              </a:ext>
            </a:extLst>
          </p:cNvPr>
          <p:cNvSpPr/>
          <p:nvPr/>
        </p:nvSpPr>
        <p:spPr>
          <a:xfrm>
            <a:off x="962891" y="1382743"/>
            <a:ext cx="10266218" cy="4279148"/>
          </a:xfrm>
          <a:prstGeom prst="roundRect">
            <a:avLst>
              <a:gd name="adj" fmla="val 5218"/>
            </a:avLst>
          </a:prstGeom>
          <a:solidFill>
            <a:schemeClr val="accent6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b="1" dirty="0"/>
              <a:t>Section 1 (left){</a:t>
            </a:r>
          </a:p>
          <a:p>
            <a:r>
              <a:rPr lang="en-US" b="1" dirty="0"/>
              <a:t>// category of (Pending/Completed)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dirty="0"/>
              <a:t>List of queue in stack (Queue #, Name, Concern category, Time Date, Button : </a:t>
            </a:r>
            <a:r>
              <a:rPr lang="en-US" b="1" dirty="0" err="1"/>
              <a:t>openQueue</a:t>
            </a:r>
            <a:endParaRPr lang="en-US" b="1" dirty="0"/>
          </a:p>
          <a:p>
            <a:r>
              <a:rPr lang="en-US" b="1" dirty="0"/>
              <a:t>}</a:t>
            </a:r>
          </a:p>
          <a:p>
            <a:r>
              <a:rPr lang="en-US" b="1" dirty="0"/>
              <a:t>Section 2 (Right){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dirty="0"/>
              <a:t>If no queue is open “There is No Open Queue”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dirty="0"/>
              <a:t>If true =&gt; {</a:t>
            </a:r>
          </a:p>
          <a:p>
            <a:pPr marL="1200150" lvl="2" indent="-285750">
              <a:buFont typeface="Arial" panose="020B0604020202020204" pitchFamily="34" charset="0"/>
              <a:buChar char="•"/>
            </a:pPr>
            <a:r>
              <a:rPr lang="en-US" b="1" dirty="0"/>
              <a:t>First blob message : Concern, submitted by guest</a:t>
            </a:r>
          </a:p>
          <a:p>
            <a:pPr marL="1200150" lvl="2" indent="-285750">
              <a:buFont typeface="Arial" panose="020B0604020202020204" pitchFamily="34" charset="0"/>
              <a:buChar char="•"/>
            </a:pPr>
            <a:endParaRPr lang="en-US" b="1" dirty="0"/>
          </a:p>
          <a:p>
            <a:pPr marL="1200150" lvl="2" indent="-285750">
              <a:buFont typeface="Arial" panose="020B0604020202020204" pitchFamily="34" charset="0"/>
              <a:buChar char="•"/>
            </a:pPr>
            <a:r>
              <a:rPr lang="en-US" b="1" dirty="0"/>
              <a:t>Reply Input : Text</a:t>
            </a:r>
          </a:p>
          <a:p>
            <a:pPr marL="1200150" lvl="2" indent="-285750">
              <a:buFont typeface="Arial" panose="020B0604020202020204" pitchFamily="34" charset="0"/>
              <a:buChar char="•"/>
            </a:pPr>
            <a:r>
              <a:rPr lang="en-US" b="1" dirty="0"/>
              <a:t>Button : Send</a:t>
            </a:r>
          </a:p>
          <a:p>
            <a:pPr marL="1200150" lvl="2" indent="-285750">
              <a:buFont typeface="Arial" panose="020B0604020202020204" pitchFamily="34" charset="0"/>
              <a:buChar char="•"/>
            </a:pPr>
            <a:r>
              <a:rPr lang="en-US" b="1" dirty="0"/>
              <a:t>Button : End Ticket</a:t>
            </a:r>
          </a:p>
          <a:p>
            <a:pPr lvl="1"/>
            <a:r>
              <a:rPr lang="en-US" b="1" dirty="0"/>
              <a:t>}</a:t>
            </a:r>
          </a:p>
          <a:p>
            <a:r>
              <a:rPr lang="en-US" b="1" dirty="0"/>
              <a:t>}</a:t>
            </a:r>
          </a:p>
        </p:txBody>
      </p:sp>
    </p:spTree>
    <p:extLst>
      <p:ext uri="{BB962C8B-B14F-4D97-AF65-F5344CB8AC3E}">
        <p14:creationId xmlns:p14="http://schemas.microsoft.com/office/powerpoint/2010/main" val="2468327746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5334CD5D-0501-F20B-E8F8-6EA1A7ED9283}"/>
              </a:ext>
            </a:extLst>
          </p:cNvPr>
          <p:cNvSpPr txBox="1"/>
          <p:nvPr/>
        </p:nvSpPr>
        <p:spPr>
          <a:xfrm>
            <a:off x="-1" y="0"/>
            <a:ext cx="4341092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b="1" dirty="0"/>
              <a:t>employeePM.html</a:t>
            </a:r>
          </a:p>
        </p:txBody>
      </p:sp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6E73A897-5450-4344-36D1-BCA0733CCBFC}"/>
              </a:ext>
            </a:extLst>
          </p:cNvPr>
          <p:cNvSpPr/>
          <p:nvPr/>
        </p:nvSpPr>
        <p:spPr>
          <a:xfrm>
            <a:off x="122383" y="267855"/>
            <a:ext cx="7081981" cy="4100945"/>
          </a:xfrm>
          <a:prstGeom prst="roundRect">
            <a:avLst>
              <a:gd name="adj" fmla="val 5218"/>
            </a:avLst>
          </a:prstGeom>
          <a:solidFill>
            <a:schemeClr val="accent6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600" b="1" dirty="0"/>
              <a:t>Section 1{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sz="1600" b="1" dirty="0"/>
              <a:t>Calendar with booked dates and maintenance</a:t>
            </a:r>
          </a:p>
          <a:p>
            <a:r>
              <a:rPr lang="en-US" sz="1600" b="1" dirty="0"/>
              <a:t>}</a:t>
            </a:r>
          </a:p>
          <a:p>
            <a:r>
              <a:rPr lang="en-US" sz="1600" b="1" dirty="0"/>
              <a:t>Section 2{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sz="1600" b="1" dirty="0"/>
              <a:t>Stack of booking list </a:t>
            </a:r>
            <a:r>
              <a:rPr lang="en-US" sz="1600" b="1" dirty="0" err="1"/>
              <a:t>Accorfing</a:t>
            </a:r>
            <a:r>
              <a:rPr lang="en-US" sz="1600" b="1" dirty="0"/>
              <a:t> to selected date from calendar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sz="1600" b="1" dirty="0"/>
              <a:t>(Name of property, </a:t>
            </a:r>
            <a:r>
              <a:rPr lang="en-US" sz="1600" b="1" dirty="0" err="1"/>
              <a:t>CheckIn-CheckOut</a:t>
            </a:r>
            <a:r>
              <a:rPr lang="en-US" sz="1600" b="1" dirty="0"/>
              <a:t> (Time, date), button : (</a:t>
            </a:r>
            <a:r>
              <a:rPr lang="en-US" sz="1600" b="1" dirty="0" err="1"/>
              <a:t>viewBookingModal</a:t>
            </a:r>
            <a:r>
              <a:rPr lang="en-US" sz="1600" b="1" dirty="0"/>
              <a:t>))</a:t>
            </a:r>
          </a:p>
          <a:p>
            <a:r>
              <a:rPr lang="en-US" sz="1600" b="1" dirty="0"/>
              <a:t>}</a:t>
            </a:r>
          </a:p>
          <a:p>
            <a:endParaRPr lang="en-US" sz="1600" b="1" dirty="0"/>
          </a:p>
          <a:p>
            <a:r>
              <a:rPr lang="en-US" sz="1600" b="1" dirty="0"/>
              <a:t>Section 3 {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sz="1600" b="1" dirty="0"/>
              <a:t>Category (</a:t>
            </a:r>
            <a:r>
              <a:rPr lang="en-US" sz="1600" b="1" dirty="0" err="1"/>
              <a:t>CheckIn</a:t>
            </a:r>
            <a:r>
              <a:rPr lang="en-US" sz="1600" b="1" dirty="0"/>
              <a:t>, </a:t>
            </a:r>
            <a:r>
              <a:rPr lang="en-US" sz="1600" b="1" dirty="0" err="1"/>
              <a:t>CheckOut</a:t>
            </a:r>
            <a:r>
              <a:rPr lang="en-US" sz="1600" b="1" dirty="0"/>
              <a:t> Today List)</a:t>
            </a:r>
          </a:p>
          <a:p>
            <a:pPr lvl="2"/>
            <a:r>
              <a:rPr lang="en-US" sz="1600" b="1" dirty="0"/>
              <a:t>(for check in only)</a:t>
            </a:r>
          </a:p>
          <a:p>
            <a:pPr marL="1200150" lvl="2" indent="-285750">
              <a:buFont typeface="Arial" panose="020B0604020202020204" pitchFamily="34" charset="0"/>
              <a:buChar char="•"/>
            </a:pPr>
            <a:r>
              <a:rPr lang="en-US" sz="1600" b="1" dirty="0"/>
              <a:t>Button : confirmation of </a:t>
            </a:r>
            <a:r>
              <a:rPr lang="en-US" sz="1600" b="1" dirty="0">
                <a:solidFill>
                  <a:srgbClr val="FF0000"/>
                </a:solidFill>
              </a:rPr>
              <a:t>check in </a:t>
            </a:r>
            <a:r>
              <a:rPr lang="en-US" sz="1600" b="1" dirty="0"/>
              <a:t>and</a:t>
            </a:r>
            <a:r>
              <a:rPr lang="en-US" sz="1600" b="1" dirty="0">
                <a:solidFill>
                  <a:srgbClr val="FF0000"/>
                </a:solidFill>
              </a:rPr>
              <a:t> cash payment </a:t>
            </a:r>
            <a:r>
              <a:rPr lang="en-US" sz="1600" b="1" dirty="0"/>
              <a:t>modal</a:t>
            </a:r>
          </a:p>
          <a:p>
            <a:pPr marL="1200150" lvl="2" indent="-285750">
              <a:buFont typeface="Arial" panose="020B0604020202020204" pitchFamily="34" charset="0"/>
              <a:buChar char="•"/>
            </a:pPr>
            <a:r>
              <a:rPr lang="en-US" sz="1600" b="1" dirty="0"/>
              <a:t> Property Name</a:t>
            </a:r>
          </a:p>
          <a:p>
            <a:pPr marL="1200150" lvl="2" indent="-285750">
              <a:buFont typeface="Arial" panose="020B0604020202020204" pitchFamily="34" charset="0"/>
              <a:buChar char="•"/>
            </a:pPr>
            <a:r>
              <a:rPr lang="en-US" sz="1600" b="1" dirty="0"/>
              <a:t>Guest Name</a:t>
            </a:r>
          </a:p>
          <a:p>
            <a:pPr marL="1200150" lvl="2" indent="-285750">
              <a:buFont typeface="Arial" panose="020B0604020202020204" pitchFamily="34" charset="0"/>
              <a:buChar char="•"/>
            </a:pPr>
            <a:r>
              <a:rPr lang="en-US" sz="1600" b="1" dirty="0"/>
              <a:t>Check In or Check Out time</a:t>
            </a:r>
          </a:p>
          <a:p>
            <a:pPr marL="1200150" lvl="2" indent="-285750">
              <a:buFont typeface="Arial" panose="020B0604020202020204" pitchFamily="34" charset="0"/>
              <a:buChar char="•"/>
            </a:pPr>
            <a:r>
              <a:rPr lang="en-US" sz="1600" b="1" dirty="0"/>
              <a:t>Button : </a:t>
            </a:r>
            <a:r>
              <a:rPr lang="en-US" sz="1600" b="1" dirty="0" err="1"/>
              <a:t>completeBtn</a:t>
            </a:r>
            <a:r>
              <a:rPr lang="en-US" sz="1600" b="1" dirty="0"/>
              <a:t>(</a:t>
            </a:r>
            <a:r>
              <a:rPr lang="en-US" sz="1600" b="1" dirty="0" err="1"/>
              <a:t>completeModal</a:t>
            </a:r>
            <a:r>
              <a:rPr lang="en-US" sz="1600" b="1" dirty="0"/>
              <a:t>) for checkout</a:t>
            </a:r>
          </a:p>
          <a:p>
            <a:r>
              <a:rPr lang="en-US" sz="1600" b="1" dirty="0"/>
              <a:t>}</a:t>
            </a:r>
          </a:p>
        </p:txBody>
      </p:sp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0568A988-8254-B05E-761D-C0FCF2794D78}"/>
              </a:ext>
            </a:extLst>
          </p:cNvPr>
          <p:cNvSpPr/>
          <p:nvPr/>
        </p:nvSpPr>
        <p:spPr>
          <a:xfrm>
            <a:off x="7571511" y="430446"/>
            <a:ext cx="4341092" cy="2647575"/>
          </a:xfrm>
          <a:prstGeom prst="roundRect">
            <a:avLst>
              <a:gd name="adj" fmla="val 5218"/>
            </a:avLst>
          </a:prstGeom>
          <a:solidFill>
            <a:schemeClr val="accent6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600" b="1" dirty="0" err="1"/>
              <a:t>viewBookingModal</a:t>
            </a:r>
            <a:r>
              <a:rPr lang="en-US" sz="1600" b="1" dirty="0"/>
              <a:t>{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sz="1600" b="1" dirty="0" err="1"/>
              <a:t>DisplayDetails</a:t>
            </a:r>
            <a:endParaRPr lang="en-US" sz="1600" b="1" dirty="0"/>
          </a:p>
          <a:p>
            <a:pPr marL="1200150" lvl="2" indent="-285750">
              <a:buFont typeface="Arial" panose="020B0604020202020204" pitchFamily="34" charset="0"/>
              <a:buChar char="•"/>
            </a:pPr>
            <a:r>
              <a:rPr lang="en-US" sz="1600" b="1" dirty="0"/>
              <a:t>Name of property</a:t>
            </a:r>
          </a:p>
          <a:p>
            <a:pPr marL="1200150" lvl="2" indent="-285750">
              <a:buFont typeface="Arial" panose="020B0604020202020204" pitchFamily="34" charset="0"/>
              <a:buChar char="•"/>
            </a:pPr>
            <a:r>
              <a:rPr lang="en-US" sz="1600" b="1" dirty="0"/>
              <a:t>Guest</a:t>
            </a:r>
          </a:p>
          <a:p>
            <a:pPr marL="1200150" lvl="2" indent="-285750">
              <a:buFont typeface="Arial" panose="020B0604020202020204" pitchFamily="34" charset="0"/>
              <a:buChar char="•"/>
            </a:pPr>
            <a:r>
              <a:rPr lang="en-US" sz="1600" b="1" dirty="0" err="1"/>
              <a:t>CheckIn-CheckOut</a:t>
            </a:r>
            <a:r>
              <a:rPr lang="en-US" sz="1600" b="1" dirty="0"/>
              <a:t> (Time, date)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sz="1600" b="1" dirty="0"/>
              <a:t>Buttons : Back , Cancel(</a:t>
            </a:r>
            <a:r>
              <a:rPr lang="en-US" sz="1600" b="1" dirty="0" err="1"/>
              <a:t>CancelModal</a:t>
            </a:r>
            <a:r>
              <a:rPr lang="en-US" sz="1600" b="1" dirty="0"/>
              <a:t>)</a:t>
            </a:r>
          </a:p>
          <a:p>
            <a:r>
              <a:rPr lang="en-US" sz="1600" b="1" dirty="0"/>
              <a:t>}</a:t>
            </a:r>
          </a:p>
        </p:txBody>
      </p:sp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632AEA5E-16EC-F84E-462D-06263A832FEE}"/>
              </a:ext>
            </a:extLst>
          </p:cNvPr>
          <p:cNvSpPr/>
          <p:nvPr/>
        </p:nvSpPr>
        <p:spPr>
          <a:xfrm>
            <a:off x="7767782" y="3178264"/>
            <a:ext cx="4144821" cy="1846321"/>
          </a:xfrm>
          <a:prstGeom prst="roundRect">
            <a:avLst>
              <a:gd name="adj" fmla="val 5218"/>
            </a:avLst>
          </a:prstGeom>
          <a:solidFill>
            <a:schemeClr val="accent6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600" b="1" dirty="0" err="1"/>
              <a:t>CompleteModal</a:t>
            </a:r>
            <a:r>
              <a:rPr lang="en-US" sz="1600" b="1" dirty="0"/>
              <a:t>{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sz="1600" b="1" dirty="0"/>
              <a:t>Completing Transaction</a:t>
            </a:r>
          </a:p>
          <a:p>
            <a:pPr marL="1200150" lvl="2" indent="-285750">
              <a:buFont typeface="Arial" panose="020B0604020202020204" pitchFamily="34" charset="0"/>
              <a:buChar char="•"/>
            </a:pPr>
            <a:r>
              <a:rPr lang="en-US" sz="1600" b="1" dirty="0"/>
              <a:t>Report Note: Input</a:t>
            </a:r>
          </a:p>
          <a:p>
            <a:pPr marL="1200150" lvl="2" indent="-285750">
              <a:buFont typeface="Arial" panose="020B0604020202020204" pitchFamily="34" charset="0"/>
              <a:buChar char="•"/>
            </a:pPr>
            <a:r>
              <a:rPr lang="en-US" sz="1600" b="1" dirty="0"/>
              <a:t>Complete : Button</a:t>
            </a:r>
          </a:p>
          <a:p>
            <a:r>
              <a:rPr lang="en-US" sz="1600" b="1" dirty="0"/>
              <a:t>}</a:t>
            </a:r>
          </a:p>
        </p:txBody>
      </p:sp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9CA804DE-B942-C5FE-C802-EC3FD242AD49}"/>
              </a:ext>
            </a:extLst>
          </p:cNvPr>
          <p:cNvSpPr/>
          <p:nvPr/>
        </p:nvSpPr>
        <p:spPr>
          <a:xfrm>
            <a:off x="122383" y="4475337"/>
            <a:ext cx="7449128" cy="2294918"/>
          </a:xfrm>
          <a:prstGeom prst="roundRect">
            <a:avLst>
              <a:gd name="adj" fmla="val 5218"/>
            </a:avLst>
          </a:prstGeom>
          <a:solidFill>
            <a:schemeClr val="accent6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600" b="1" dirty="0" err="1"/>
              <a:t>CancelModal</a:t>
            </a:r>
            <a:r>
              <a:rPr lang="en-US" sz="1600" b="1" dirty="0"/>
              <a:t>{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sz="1600" b="1" dirty="0"/>
              <a:t>Cancellation Request // add note that this will sent to admin for approval if the admin didn’t approve or did not respond, it'll not proceed.</a:t>
            </a:r>
          </a:p>
          <a:p>
            <a:pPr marL="1200150" lvl="2" indent="-285750">
              <a:buFont typeface="Arial" panose="020B0604020202020204" pitchFamily="34" charset="0"/>
              <a:buChar char="•"/>
            </a:pPr>
            <a:r>
              <a:rPr lang="en-US" sz="1600" b="1" dirty="0"/>
              <a:t>Reason to send for user : Input (min of char depends on design)</a:t>
            </a:r>
          </a:p>
          <a:p>
            <a:pPr marL="1200150" lvl="2" indent="-285750">
              <a:buFont typeface="Arial" panose="020B0604020202020204" pitchFamily="34" charset="0"/>
              <a:buChar char="•"/>
            </a:pPr>
            <a:r>
              <a:rPr lang="en-US" sz="1600" b="1" dirty="0"/>
              <a:t>Reason to send for Admin : input (min of char depends on design)</a:t>
            </a:r>
          </a:p>
          <a:p>
            <a:pPr marL="1200150" lvl="2" indent="-285750">
              <a:buFont typeface="Arial" panose="020B0604020202020204" pitchFamily="34" charset="0"/>
              <a:buChar char="•"/>
            </a:pPr>
            <a:r>
              <a:rPr lang="en-US" sz="1600" b="1" dirty="0"/>
              <a:t>Button : Send</a:t>
            </a:r>
          </a:p>
          <a:p>
            <a:r>
              <a:rPr lang="en-US" sz="1600" b="1" dirty="0"/>
              <a:t>}</a:t>
            </a:r>
          </a:p>
        </p:txBody>
      </p:sp>
      <p:cxnSp>
        <p:nvCxnSpPr>
          <p:cNvPr id="9" name="Connector: Curved 8">
            <a:extLst>
              <a:ext uri="{FF2B5EF4-FFF2-40B4-BE49-F238E27FC236}">
                <a16:creationId xmlns:a16="http://schemas.microsoft.com/office/drawing/2014/main" id="{30915A87-9B51-BF0F-53EA-0B9B5A5D55E6}"/>
              </a:ext>
            </a:extLst>
          </p:cNvPr>
          <p:cNvCxnSpPr/>
          <p:nvPr/>
        </p:nvCxnSpPr>
        <p:spPr>
          <a:xfrm flipV="1">
            <a:off x="2881745" y="2013527"/>
            <a:ext cx="4765964" cy="83128"/>
          </a:xfrm>
          <a:prstGeom prst="curvedConnector3">
            <a:avLst/>
          </a:prstGeom>
          <a:ln w="19050" cap="flat" cmpd="sng" algn="ctr">
            <a:solidFill>
              <a:schemeClr val="accent4"/>
            </a:solidFill>
            <a:prstDash val="solid"/>
            <a:round/>
            <a:headEnd type="arrow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10" name="Connector: Curved 9">
            <a:extLst>
              <a:ext uri="{FF2B5EF4-FFF2-40B4-BE49-F238E27FC236}">
                <a16:creationId xmlns:a16="http://schemas.microsoft.com/office/drawing/2014/main" id="{03E0FC9E-5221-B706-2D04-5AEBA5F044C7}"/>
              </a:ext>
            </a:extLst>
          </p:cNvPr>
          <p:cNvCxnSpPr>
            <a:cxnSpLocks/>
          </p:cNvCxnSpPr>
          <p:nvPr/>
        </p:nvCxnSpPr>
        <p:spPr>
          <a:xfrm flipV="1">
            <a:off x="5994400" y="2447636"/>
            <a:ext cx="2429164" cy="2225964"/>
          </a:xfrm>
          <a:prstGeom prst="curvedConnector3">
            <a:avLst>
              <a:gd name="adj1" fmla="val 50000"/>
            </a:avLst>
          </a:prstGeom>
          <a:ln w="19050" cap="flat" cmpd="sng" algn="ctr">
            <a:solidFill>
              <a:schemeClr val="accent4"/>
            </a:solidFill>
            <a:prstDash val="solid"/>
            <a:round/>
            <a:headEnd type="arrow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15" name="Connector: Curved 14">
            <a:extLst>
              <a:ext uri="{FF2B5EF4-FFF2-40B4-BE49-F238E27FC236}">
                <a16:creationId xmlns:a16="http://schemas.microsoft.com/office/drawing/2014/main" id="{D8D66889-22CB-426B-C480-05652C588296}"/>
              </a:ext>
            </a:extLst>
          </p:cNvPr>
          <p:cNvCxnSpPr>
            <a:cxnSpLocks/>
          </p:cNvCxnSpPr>
          <p:nvPr/>
        </p:nvCxnSpPr>
        <p:spPr>
          <a:xfrm flipV="1">
            <a:off x="5089236" y="3537527"/>
            <a:ext cx="2849422" cy="757382"/>
          </a:xfrm>
          <a:prstGeom prst="curvedConnector3">
            <a:avLst>
              <a:gd name="adj1" fmla="val 50000"/>
            </a:avLst>
          </a:prstGeom>
          <a:ln w="19050" cap="flat" cmpd="sng" algn="ctr">
            <a:solidFill>
              <a:schemeClr val="accent4"/>
            </a:solidFill>
            <a:prstDash val="solid"/>
            <a:round/>
            <a:headEnd type="arrow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720191871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0432FD26-F371-24EC-DF02-B006EC732CB3}"/>
              </a:ext>
            </a:extLst>
          </p:cNvPr>
          <p:cNvSpPr txBox="1"/>
          <p:nvPr/>
        </p:nvSpPr>
        <p:spPr>
          <a:xfrm>
            <a:off x="4149899" y="3172508"/>
            <a:ext cx="3670530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4000" b="1" dirty="0"/>
              <a:t>GUEST</a:t>
            </a:r>
          </a:p>
        </p:txBody>
      </p:sp>
    </p:spTree>
    <p:extLst>
      <p:ext uri="{BB962C8B-B14F-4D97-AF65-F5344CB8AC3E}">
        <p14:creationId xmlns:p14="http://schemas.microsoft.com/office/powerpoint/2010/main" val="3731175336"/>
      </p:ext>
    </p:extLst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6E73A897-5450-4344-36D1-BCA0733CCBFC}"/>
              </a:ext>
            </a:extLst>
          </p:cNvPr>
          <p:cNvSpPr/>
          <p:nvPr/>
        </p:nvSpPr>
        <p:spPr>
          <a:xfrm>
            <a:off x="129309" y="304801"/>
            <a:ext cx="5641109" cy="4035964"/>
          </a:xfrm>
          <a:prstGeom prst="roundRect">
            <a:avLst>
              <a:gd name="adj" fmla="val 5218"/>
            </a:avLst>
          </a:prstGeom>
          <a:solidFill>
            <a:schemeClr val="accent6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b="1" dirty="0"/>
              <a:t>navbar{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dirty="0"/>
              <a:t>logo : button (guestDashboard.html)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dirty="0" err="1"/>
              <a:t>searchButton</a:t>
            </a:r>
            <a:r>
              <a:rPr lang="en-US" b="1" dirty="0"/>
              <a:t>(</a:t>
            </a:r>
            <a:r>
              <a:rPr lang="en-US" b="1" dirty="0" err="1"/>
              <a:t>SearchModal</a:t>
            </a:r>
            <a:r>
              <a:rPr lang="en-US" b="1" dirty="0"/>
              <a:t>{})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endParaRPr lang="en-US" b="1" dirty="0"/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dirty="0"/>
              <a:t>tickets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dirty="0"/>
              <a:t>FAQs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dirty="0"/>
              <a:t>Notification with badge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dirty="0" err="1"/>
              <a:t>profilePicture</a:t>
            </a:r>
            <a:r>
              <a:rPr lang="en-US" b="1" dirty="0"/>
              <a:t> : button {</a:t>
            </a:r>
          </a:p>
          <a:p>
            <a:pPr marL="1200150" lvl="2" indent="-285750">
              <a:buFont typeface="Arial" panose="020B0604020202020204" pitchFamily="34" charset="0"/>
              <a:buChar char="•"/>
            </a:pPr>
            <a:r>
              <a:rPr lang="en-US" b="1" dirty="0"/>
              <a:t>Profile (guestProfile.html)</a:t>
            </a:r>
          </a:p>
          <a:p>
            <a:pPr marL="1200150" lvl="2" indent="-285750">
              <a:buFont typeface="Arial" panose="020B0604020202020204" pitchFamily="34" charset="0"/>
              <a:buChar char="•"/>
            </a:pPr>
            <a:r>
              <a:rPr lang="en-US" b="1" dirty="0"/>
              <a:t>My Bookings (guestMyBookings.html)</a:t>
            </a:r>
          </a:p>
          <a:p>
            <a:pPr marL="1200150" lvl="2" indent="-285750">
              <a:buFont typeface="Arial" panose="020B0604020202020204" pitchFamily="34" charset="0"/>
              <a:buChar char="•"/>
            </a:pPr>
            <a:r>
              <a:rPr lang="en-US" b="1" dirty="0" err="1"/>
              <a:t>AboutUs</a:t>
            </a:r>
            <a:r>
              <a:rPr lang="en-US" b="1" dirty="0"/>
              <a:t>  (aboutUs.html)</a:t>
            </a:r>
          </a:p>
          <a:p>
            <a:pPr marL="1200150" lvl="2" indent="-285750">
              <a:buFont typeface="Arial" panose="020B0604020202020204" pitchFamily="34" charset="0"/>
              <a:buChar char="•"/>
            </a:pPr>
            <a:r>
              <a:rPr lang="en-US" b="1" dirty="0" err="1"/>
              <a:t>Darkmode</a:t>
            </a:r>
            <a:r>
              <a:rPr lang="en-US" b="1" dirty="0"/>
              <a:t> toggle</a:t>
            </a:r>
          </a:p>
          <a:p>
            <a:pPr marL="1200150" lvl="2" indent="-285750">
              <a:buFont typeface="Arial" panose="020B0604020202020204" pitchFamily="34" charset="0"/>
              <a:buChar char="•"/>
            </a:pPr>
            <a:r>
              <a:rPr lang="en-US" b="1" dirty="0"/>
              <a:t>logout</a:t>
            </a:r>
          </a:p>
          <a:p>
            <a:pPr lvl="1"/>
            <a:r>
              <a:rPr lang="en-US" b="1" dirty="0"/>
              <a:t>}</a:t>
            </a:r>
          </a:p>
          <a:p>
            <a:r>
              <a:rPr lang="en-US" b="1" dirty="0"/>
              <a:t>}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26A9A274-8182-BB4B-C579-C33369387BAA}"/>
              </a:ext>
            </a:extLst>
          </p:cNvPr>
          <p:cNvSpPr txBox="1"/>
          <p:nvPr/>
        </p:nvSpPr>
        <p:spPr>
          <a:xfrm>
            <a:off x="8521470" y="6150114"/>
            <a:ext cx="3670530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2000" b="1" dirty="0"/>
              <a:t>This is reusable for every page in Guest User Level</a:t>
            </a:r>
          </a:p>
        </p:txBody>
      </p:sp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4221A085-B4DE-93D1-125C-FC05404275DB}"/>
              </a:ext>
            </a:extLst>
          </p:cNvPr>
          <p:cNvSpPr/>
          <p:nvPr/>
        </p:nvSpPr>
        <p:spPr>
          <a:xfrm>
            <a:off x="6010563" y="523761"/>
            <a:ext cx="5738092" cy="3826566"/>
          </a:xfrm>
          <a:prstGeom prst="roundRect">
            <a:avLst>
              <a:gd name="adj" fmla="val 5218"/>
            </a:avLst>
          </a:prstGeom>
          <a:solidFill>
            <a:schemeClr val="accent6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600" b="1" dirty="0" err="1"/>
              <a:t>SearchModal</a:t>
            </a:r>
            <a:r>
              <a:rPr lang="en-US" sz="1600" b="1" dirty="0"/>
              <a:t>{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sz="1600" b="1" dirty="0"/>
              <a:t>Inputs{</a:t>
            </a:r>
          </a:p>
          <a:p>
            <a:pPr marL="1200150" lvl="2" indent="-285750">
              <a:buFont typeface="Arial" panose="020B0604020202020204" pitchFamily="34" charset="0"/>
              <a:buChar char="•"/>
            </a:pPr>
            <a:r>
              <a:rPr lang="en-US" sz="1600" b="1" dirty="0"/>
              <a:t>Where? (all city in database) : selection</a:t>
            </a:r>
          </a:p>
          <a:p>
            <a:pPr marL="1200150" lvl="2" indent="-285750">
              <a:buFont typeface="Arial" panose="020B0604020202020204" pitchFamily="34" charset="0"/>
              <a:buChar char="•"/>
            </a:pPr>
            <a:r>
              <a:rPr lang="en-US" sz="1600" b="1" dirty="0" err="1"/>
              <a:t>CheckIn</a:t>
            </a:r>
            <a:r>
              <a:rPr lang="en-US" sz="1600" b="1" dirty="0"/>
              <a:t> : calendar (default any)</a:t>
            </a:r>
          </a:p>
          <a:p>
            <a:pPr marL="1200150" lvl="2" indent="-285750">
              <a:buFont typeface="Arial" panose="020B0604020202020204" pitchFamily="34" charset="0"/>
              <a:buChar char="•"/>
            </a:pPr>
            <a:r>
              <a:rPr lang="en-US" sz="1600" b="1" dirty="0" err="1"/>
              <a:t>CheckOut</a:t>
            </a:r>
            <a:r>
              <a:rPr lang="en-US" sz="1600" b="1" dirty="0"/>
              <a:t> : calendar (default any)</a:t>
            </a:r>
          </a:p>
          <a:p>
            <a:pPr marL="1200150" lvl="2" indent="-285750">
              <a:buFont typeface="Arial" panose="020B0604020202020204" pitchFamily="34" charset="0"/>
              <a:buChar char="•"/>
            </a:pPr>
            <a:r>
              <a:rPr lang="en-US" sz="1600" b="1" dirty="0"/>
              <a:t>Price range start:  float (default no range)</a:t>
            </a:r>
          </a:p>
          <a:p>
            <a:pPr marL="1200150" lvl="2" indent="-285750">
              <a:buFont typeface="Arial" panose="020B0604020202020204" pitchFamily="34" charset="0"/>
              <a:buChar char="•"/>
            </a:pPr>
            <a:r>
              <a:rPr lang="en-US" sz="1600" b="1" dirty="0"/>
              <a:t>Price range end:  float (default no end range)</a:t>
            </a:r>
          </a:p>
          <a:p>
            <a:pPr marL="1200150" lvl="2" indent="-285750">
              <a:buFont typeface="Arial" panose="020B0604020202020204" pitchFamily="34" charset="0"/>
              <a:buChar char="•"/>
            </a:pPr>
            <a:r>
              <a:rPr lang="en-US" sz="1600" b="1" dirty="0"/>
              <a:t>People : number (default any)</a:t>
            </a:r>
          </a:p>
          <a:p>
            <a:pPr lvl="1"/>
            <a:r>
              <a:rPr lang="en-US" sz="1600" b="1" dirty="0"/>
              <a:t>}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sz="1600" b="1" dirty="0" err="1"/>
              <a:t>SearchButton</a:t>
            </a:r>
            <a:r>
              <a:rPr lang="en-US" sz="1600" b="1" dirty="0"/>
              <a:t> : button (</a:t>
            </a:r>
            <a:r>
              <a:rPr lang="en-US" sz="1600" b="1" dirty="0" err="1"/>
              <a:t>checkAPI</a:t>
            </a:r>
            <a:r>
              <a:rPr lang="en-US" sz="1600" b="1" dirty="0"/>
              <a:t>)</a:t>
            </a:r>
          </a:p>
          <a:p>
            <a:r>
              <a:rPr lang="en-US" sz="1600" b="1" dirty="0"/>
              <a:t>}</a:t>
            </a:r>
          </a:p>
          <a:p>
            <a:endParaRPr lang="en-US" sz="1600" b="1" dirty="0"/>
          </a:p>
          <a:p>
            <a:r>
              <a:rPr lang="en-US" sz="1600" b="1" dirty="0"/>
              <a:t>If </a:t>
            </a:r>
            <a:r>
              <a:rPr lang="en-US" sz="1600" b="1" dirty="0" err="1"/>
              <a:t>CheckAPI</a:t>
            </a:r>
            <a:r>
              <a:rPr lang="en-US" sz="1600" b="1" dirty="0"/>
              <a:t> (true){Go to (guestSearchResult.html)}</a:t>
            </a:r>
          </a:p>
          <a:p>
            <a:r>
              <a:rPr lang="en-US" sz="1600" b="1" dirty="0"/>
              <a:t>else { modal message “No Property found.” }</a:t>
            </a:r>
          </a:p>
          <a:p>
            <a:endParaRPr lang="en-US" sz="1600" b="1" dirty="0"/>
          </a:p>
        </p:txBody>
      </p:sp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BADBB24C-5F57-A411-EB25-4559A2AFDB94}"/>
              </a:ext>
            </a:extLst>
          </p:cNvPr>
          <p:cNvSpPr/>
          <p:nvPr/>
        </p:nvSpPr>
        <p:spPr>
          <a:xfrm>
            <a:off x="129309" y="4432802"/>
            <a:ext cx="4267200" cy="2272145"/>
          </a:xfrm>
          <a:prstGeom prst="roundRect">
            <a:avLst/>
          </a:prstGeom>
          <a:solidFill>
            <a:schemeClr val="accent6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2000" b="1" dirty="0" err="1"/>
              <a:t>modalNotif</a:t>
            </a:r>
            <a:r>
              <a:rPr lang="en-US" sz="2000" b="1" dirty="0"/>
              <a:t>(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000" b="1" dirty="0" err="1"/>
              <a:t>senderName</a:t>
            </a:r>
            <a:endParaRPr lang="en-US" sz="2000" b="1" dirty="0"/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000" b="1" dirty="0"/>
              <a:t>Date and time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000" b="1" dirty="0"/>
              <a:t>Message</a:t>
            </a:r>
          </a:p>
          <a:p>
            <a:r>
              <a:rPr lang="en-US" sz="2000" b="1" dirty="0"/>
              <a:t>)</a:t>
            </a:r>
          </a:p>
        </p:txBody>
      </p:sp>
      <p:cxnSp>
        <p:nvCxnSpPr>
          <p:cNvPr id="6" name="Connector: Curved 5">
            <a:extLst>
              <a:ext uri="{FF2B5EF4-FFF2-40B4-BE49-F238E27FC236}">
                <a16:creationId xmlns:a16="http://schemas.microsoft.com/office/drawing/2014/main" id="{685AAE84-1A45-0FCF-3B6F-761893C2D203}"/>
              </a:ext>
            </a:extLst>
          </p:cNvPr>
          <p:cNvCxnSpPr>
            <a:cxnSpLocks/>
          </p:cNvCxnSpPr>
          <p:nvPr/>
        </p:nvCxnSpPr>
        <p:spPr>
          <a:xfrm rot="5400000" flipH="1" flipV="1">
            <a:off x="-920647" y="3220506"/>
            <a:ext cx="2820351" cy="498762"/>
          </a:xfrm>
          <a:prstGeom prst="curvedConnector3">
            <a:avLst>
              <a:gd name="adj1" fmla="val 100106"/>
            </a:avLst>
          </a:prstGeom>
          <a:ln w="19050" cap="flat" cmpd="sng" algn="ctr">
            <a:solidFill>
              <a:schemeClr val="accent4"/>
            </a:solidFill>
            <a:prstDash val="solid"/>
            <a:round/>
            <a:headEnd type="arrow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11" name="Connector: Curved 10">
            <a:extLst>
              <a:ext uri="{FF2B5EF4-FFF2-40B4-BE49-F238E27FC236}">
                <a16:creationId xmlns:a16="http://schemas.microsoft.com/office/drawing/2014/main" id="{12028657-2C10-184C-6198-1BC680B4A21F}"/>
              </a:ext>
            </a:extLst>
          </p:cNvPr>
          <p:cNvCxnSpPr>
            <a:cxnSpLocks/>
          </p:cNvCxnSpPr>
          <p:nvPr/>
        </p:nvCxnSpPr>
        <p:spPr>
          <a:xfrm rot="10800000" flipV="1">
            <a:off x="4073236" y="683487"/>
            <a:ext cx="2087424" cy="397165"/>
          </a:xfrm>
          <a:prstGeom prst="curvedConnector3">
            <a:avLst>
              <a:gd name="adj1" fmla="val 50000"/>
            </a:avLst>
          </a:prstGeom>
          <a:ln w="19050" cap="flat" cmpd="sng" algn="ctr">
            <a:solidFill>
              <a:schemeClr val="accent4"/>
            </a:solidFill>
            <a:prstDash val="solid"/>
            <a:round/>
            <a:headEnd type="arrow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14" name="Connector: Curved 13">
            <a:extLst>
              <a:ext uri="{FF2B5EF4-FFF2-40B4-BE49-F238E27FC236}">
                <a16:creationId xmlns:a16="http://schemas.microsoft.com/office/drawing/2014/main" id="{E1A34B68-AC01-088E-7895-B1F8803E0B8D}"/>
              </a:ext>
            </a:extLst>
          </p:cNvPr>
          <p:cNvCxnSpPr>
            <a:cxnSpLocks/>
          </p:cNvCxnSpPr>
          <p:nvPr/>
        </p:nvCxnSpPr>
        <p:spPr>
          <a:xfrm rot="10800000" flipV="1">
            <a:off x="7407564" y="3001819"/>
            <a:ext cx="1948874" cy="581889"/>
          </a:xfrm>
          <a:prstGeom prst="curvedConnector3">
            <a:avLst>
              <a:gd name="adj1" fmla="val -237"/>
            </a:avLst>
          </a:prstGeom>
          <a:ln w="19050" cap="flat" cmpd="sng" algn="ctr">
            <a:solidFill>
              <a:schemeClr val="accent4"/>
            </a:solidFill>
            <a:prstDash val="solid"/>
            <a:round/>
            <a:headEnd type="arrow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27039594"/>
      </p:ext>
    </p:extLst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BADBB24C-5F57-A411-EB25-4559A2AFDB94}"/>
              </a:ext>
            </a:extLst>
          </p:cNvPr>
          <p:cNvSpPr/>
          <p:nvPr/>
        </p:nvSpPr>
        <p:spPr>
          <a:xfrm>
            <a:off x="1872672" y="1742046"/>
            <a:ext cx="8446656" cy="3373908"/>
          </a:xfrm>
          <a:prstGeom prst="roundRect">
            <a:avLst>
              <a:gd name="adj" fmla="val 8182"/>
            </a:avLst>
          </a:prstGeom>
          <a:solidFill>
            <a:schemeClr val="accent6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2000" b="1" dirty="0"/>
              <a:t>Dashboard : Featured Property auto scroll{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000" b="1" dirty="0"/>
              <a:t>List 6 Property w/ button : {guestViewProperty.html} </a:t>
            </a:r>
          </a:p>
          <a:p>
            <a:r>
              <a:rPr lang="en-US" sz="2000" b="1" dirty="0"/>
              <a:t>}</a:t>
            </a:r>
          </a:p>
          <a:p>
            <a:endParaRPr lang="en-US" sz="2000" b="1" dirty="0"/>
          </a:p>
          <a:p>
            <a:r>
              <a:rPr lang="en-US" sz="2000" b="1" dirty="0" err="1"/>
              <a:t>Catergory</a:t>
            </a:r>
            <a:r>
              <a:rPr lang="en-US" sz="2000" b="1" dirty="0"/>
              <a:t> of property (Top Rated, </a:t>
            </a:r>
            <a:r>
              <a:rPr lang="en-US" sz="2000" b="1" dirty="0" err="1"/>
              <a:t>barkada</a:t>
            </a:r>
            <a:r>
              <a:rPr lang="en-US" sz="2000" b="1" dirty="0"/>
              <a:t>, family, couple, &amp; others){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000" b="1" dirty="0"/>
              <a:t>List of property (Picture, Name, Address, Price/Day)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000" b="1" dirty="0"/>
              <a:t>Onclick {guestViewProperty.html}</a:t>
            </a:r>
          </a:p>
          <a:p>
            <a:r>
              <a:rPr lang="en-US" sz="2000" b="1" dirty="0"/>
              <a:t>}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F259B9EF-2882-3D95-7422-68A27385F852}"/>
              </a:ext>
            </a:extLst>
          </p:cNvPr>
          <p:cNvSpPr txBox="1"/>
          <p:nvPr/>
        </p:nvSpPr>
        <p:spPr>
          <a:xfrm>
            <a:off x="-1" y="0"/>
            <a:ext cx="4341092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b="1" dirty="0"/>
              <a:t>guestDashboard.html</a:t>
            </a:r>
          </a:p>
        </p:txBody>
      </p:sp>
    </p:spTree>
    <p:extLst>
      <p:ext uri="{BB962C8B-B14F-4D97-AF65-F5344CB8AC3E}">
        <p14:creationId xmlns:p14="http://schemas.microsoft.com/office/powerpoint/2010/main" val="1450779734"/>
      </p:ext>
    </p:extLst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Box 6">
            <a:extLst>
              <a:ext uri="{FF2B5EF4-FFF2-40B4-BE49-F238E27FC236}">
                <a16:creationId xmlns:a16="http://schemas.microsoft.com/office/drawing/2014/main" id="{4AD94C5A-4B2B-CE4A-A062-FFB6DA57E364}"/>
              </a:ext>
            </a:extLst>
          </p:cNvPr>
          <p:cNvSpPr txBox="1"/>
          <p:nvPr/>
        </p:nvSpPr>
        <p:spPr>
          <a:xfrm>
            <a:off x="147781" y="78570"/>
            <a:ext cx="60960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800" b="1" dirty="0"/>
              <a:t>guestSearchResult.html</a:t>
            </a:r>
            <a:endParaRPr lang="en-US" dirty="0"/>
          </a:p>
        </p:txBody>
      </p:sp>
      <p:sp>
        <p:nvSpPr>
          <p:cNvPr id="9" name="Rectangle: Rounded Corners 8">
            <a:extLst>
              <a:ext uri="{FF2B5EF4-FFF2-40B4-BE49-F238E27FC236}">
                <a16:creationId xmlns:a16="http://schemas.microsoft.com/office/drawing/2014/main" id="{CD27AA3B-0DC5-382F-3A91-2339EC339FE6}"/>
              </a:ext>
            </a:extLst>
          </p:cNvPr>
          <p:cNvSpPr/>
          <p:nvPr/>
        </p:nvSpPr>
        <p:spPr>
          <a:xfrm>
            <a:off x="2443017" y="1857004"/>
            <a:ext cx="7305965" cy="3143991"/>
          </a:xfrm>
          <a:prstGeom prst="roundRect">
            <a:avLst>
              <a:gd name="adj" fmla="val 8182"/>
            </a:avLst>
          </a:prstGeom>
          <a:solidFill>
            <a:schemeClr val="accent6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2000" b="1" dirty="0"/>
              <a:t>Example text on top `Searched for Quezon City`</a:t>
            </a:r>
          </a:p>
          <a:p>
            <a:r>
              <a:rPr lang="en-US" sz="2000" b="1" dirty="0"/>
              <a:t>{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000" b="1" dirty="0"/>
              <a:t>List Properties w/ button : {guestViewProperty.html} </a:t>
            </a:r>
          </a:p>
          <a:p>
            <a:r>
              <a:rPr lang="en-US" sz="2000" b="1" dirty="0"/>
              <a:t>}</a:t>
            </a:r>
          </a:p>
        </p:txBody>
      </p:sp>
    </p:spTree>
    <p:extLst>
      <p:ext uri="{BB962C8B-B14F-4D97-AF65-F5344CB8AC3E}">
        <p14:creationId xmlns:p14="http://schemas.microsoft.com/office/powerpoint/2010/main" val="426245921"/>
      </p:ext>
    </p:extLst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: Rounded Corners 8">
            <a:extLst>
              <a:ext uri="{FF2B5EF4-FFF2-40B4-BE49-F238E27FC236}">
                <a16:creationId xmlns:a16="http://schemas.microsoft.com/office/drawing/2014/main" id="{CD27AA3B-0DC5-382F-3A91-2339EC339FE6}"/>
              </a:ext>
            </a:extLst>
          </p:cNvPr>
          <p:cNvSpPr/>
          <p:nvPr/>
        </p:nvSpPr>
        <p:spPr>
          <a:xfrm>
            <a:off x="69272" y="101600"/>
            <a:ext cx="6599383" cy="6456218"/>
          </a:xfrm>
          <a:prstGeom prst="roundRect">
            <a:avLst>
              <a:gd name="adj" fmla="val 3175"/>
            </a:avLst>
          </a:prstGeom>
          <a:solidFill>
            <a:schemeClr val="accent6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400" b="1" dirty="0"/>
              <a:t>// same as before revamp the design</a:t>
            </a:r>
          </a:p>
          <a:p>
            <a:r>
              <a:rPr lang="en-US" sz="1400" b="1" dirty="0"/>
              <a:t>guestViewProperty.html {</a:t>
            </a:r>
          </a:p>
          <a:p>
            <a:r>
              <a:rPr lang="en-US" sz="1400" b="1" dirty="0"/>
              <a:t>	section 3 </a:t>
            </a:r>
            <a:r>
              <a:rPr lang="en-US" sz="1400" b="1" dirty="0" err="1"/>
              <a:t>eployeePM</a:t>
            </a:r>
            <a:r>
              <a:rPr lang="en-US" sz="1400" b="1" dirty="0"/>
              <a:t> cash check in</a:t>
            </a:r>
          </a:p>
          <a:p>
            <a:endParaRPr lang="en-US" sz="1400" b="1" dirty="0"/>
          </a:p>
          <a:p>
            <a:r>
              <a:rPr lang="en-US" sz="1400" b="1" dirty="0"/>
              <a:t>delete slide 50</a:t>
            </a:r>
          </a:p>
          <a:p>
            <a:endParaRPr lang="en-US" sz="1400" b="1" dirty="0"/>
          </a:p>
          <a:p>
            <a:r>
              <a:rPr lang="en-US" sz="1400" b="1" dirty="0"/>
              <a:t>Photos </a:t>
            </a:r>
          </a:p>
          <a:p>
            <a:r>
              <a:rPr lang="en-US" sz="1400" b="1" dirty="0"/>
              <a:t>Name </a:t>
            </a:r>
          </a:p>
          <a:p>
            <a:r>
              <a:rPr lang="en-US" sz="1400" b="1" dirty="0"/>
              <a:t>Address </a:t>
            </a:r>
          </a:p>
          <a:p>
            <a:r>
              <a:rPr lang="en-US" sz="1400" b="1" dirty="0"/>
              <a:t>Map</a:t>
            </a:r>
          </a:p>
          <a:p>
            <a:r>
              <a:rPr lang="en-US" sz="1400" b="1" dirty="0"/>
              <a:t>Description </a:t>
            </a:r>
          </a:p>
          <a:p>
            <a:r>
              <a:rPr lang="en-US" sz="1400" b="1" dirty="0"/>
              <a:t>Package Capacity - maximum capacity</a:t>
            </a:r>
          </a:p>
          <a:p>
            <a:r>
              <a:rPr lang="en-US" sz="1400" b="1" dirty="0"/>
              <a:t>Time of </a:t>
            </a:r>
            <a:r>
              <a:rPr lang="en-US" sz="1400" b="1" dirty="0" err="1"/>
              <a:t>CheckIn&amp;Out</a:t>
            </a:r>
            <a:endParaRPr lang="en-US" sz="1400" b="1" dirty="0"/>
          </a:p>
          <a:p>
            <a:r>
              <a:rPr lang="en-US" sz="1400" b="1" dirty="0"/>
              <a:t>Category : select (</a:t>
            </a:r>
            <a:r>
              <a:rPr lang="en-US" sz="1400" b="1" dirty="0" err="1"/>
              <a:t>Barkada</a:t>
            </a:r>
            <a:r>
              <a:rPr lang="en-US" sz="1400" b="1" dirty="0"/>
              <a:t>, Couple, Family, Other)</a:t>
            </a:r>
          </a:p>
          <a:p>
            <a:endParaRPr lang="en-US" sz="1400" b="1" dirty="0"/>
          </a:p>
          <a:p>
            <a:r>
              <a:rPr lang="en-US" sz="1400" b="1" dirty="0"/>
              <a:t>Package Price : Currency/Number w/ peso sign </a:t>
            </a:r>
          </a:p>
          <a:p>
            <a:r>
              <a:rPr lang="en-US" sz="1400" b="1" dirty="0"/>
              <a:t>Reservation Fee : Currency/Number w/ peso sign </a:t>
            </a:r>
          </a:p>
          <a:p>
            <a:r>
              <a:rPr lang="en-US" sz="1400" b="1" dirty="0"/>
              <a:t>Additional Pax Price: Currency/Number w/ peso sign </a:t>
            </a:r>
          </a:p>
          <a:p>
            <a:r>
              <a:rPr lang="en-US" sz="1400" b="1" dirty="0"/>
              <a:t>Discount </a:t>
            </a:r>
          </a:p>
          <a:p>
            <a:endParaRPr lang="en-US" sz="1400" b="1" dirty="0"/>
          </a:p>
          <a:p>
            <a:r>
              <a:rPr lang="en-US" sz="1400" b="1" dirty="0"/>
              <a:t>Amenities</a:t>
            </a:r>
          </a:p>
          <a:p>
            <a:r>
              <a:rPr lang="en-US" sz="1400" b="1" dirty="0"/>
              <a:t>Other Amenities </a:t>
            </a:r>
          </a:p>
          <a:p>
            <a:endParaRPr lang="en-US" sz="1400" b="1" dirty="0"/>
          </a:p>
          <a:p>
            <a:r>
              <a:rPr lang="en-US" sz="1400" b="1" dirty="0"/>
              <a:t>Calendar</a:t>
            </a:r>
          </a:p>
          <a:p>
            <a:endParaRPr lang="en-US" sz="1400" b="1" dirty="0"/>
          </a:p>
          <a:p>
            <a:r>
              <a:rPr lang="en-US" sz="1400" b="1" dirty="0"/>
              <a:t>book button</a:t>
            </a:r>
          </a:p>
          <a:p>
            <a:endParaRPr lang="en-US" sz="1400" b="1" dirty="0"/>
          </a:p>
          <a:p>
            <a:r>
              <a:rPr lang="en-US" sz="1400" b="1" dirty="0"/>
              <a:t>Review scale</a:t>
            </a:r>
          </a:p>
          <a:p>
            <a:r>
              <a:rPr lang="en-US" sz="1400" b="1" dirty="0"/>
              <a:t>}</a:t>
            </a:r>
          </a:p>
        </p:txBody>
      </p:sp>
      <p:sp>
        <p:nvSpPr>
          <p:cNvPr id="2" name="Rectangle: Rounded Corners 1">
            <a:extLst>
              <a:ext uri="{FF2B5EF4-FFF2-40B4-BE49-F238E27FC236}">
                <a16:creationId xmlns:a16="http://schemas.microsoft.com/office/drawing/2014/main" id="{4617DFCC-1807-A537-ABB4-FA14E60609A5}"/>
              </a:ext>
            </a:extLst>
          </p:cNvPr>
          <p:cNvSpPr/>
          <p:nvPr/>
        </p:nvSpPr>
        <p:spPr>
          <a:xfrm>
            <a:off x="6825673" y="101601"/>
            <a:ext cx="5297056" cy="1173017"/>
          </a:xfrm>
          <a:prstGeom prst="roundRect">
            <a:avLst>
              <a:gd name="adj" fmla="val 8182"/>
            </a:avLst>
          </a:prstGeom>
          <a:solidFill>
            <a:schemeClr val="accent6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600" b="1" dirty="0"/>
              <a:t>guestConfirmReservation.html{</a:t>
            </a:r>
          </a:p>
          <a:p>
            <a:pPr marL="628650" lvl="1" indent="-171450">
              <a:buFont typeface="Arial" panose="020B0604020202020204" pitchFamily="34" charset="0"/>
              <a:buChar char="•"/>
            </a:pPr>
            <a:r>
              <a:rPr lang="en-US" sz="1600" b="1" dirty="0"/>
              <a:t>// same as before revamp the design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sz="1600" b="1" dirty="0"/>
              <a:t>Proceed to payment </a:t>
            </a:r>
            <a:r>
              <a:rPr lang="en-US" sz="1600" b="1" dirty="0" err="1"/>
              <a:t>Btn</a:t>
            </a:r>
            <a:r>
              <a:rPr lang="en-US" sz="1600" b="1" dirty="0"/>
              <a:t>: Payment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sz="1600" b="1" dirty="0"/>
              <a:t>Reservation or Package Payment</a:t>
            </a:r>
          </a:p>
          <a:p>
            <a:r>
              <a:rPr lang="en-US" sz="1600" b="1" dirty="0"/>
              <a:t>}</a:t>
            </a:r>
          </a:p>
        </p:txBody>
      </p:sp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338085F6-E2E5-5EAF-D4F0-98EA037E644A}"/>
              </a:ext>
            </a:extLst>
          </p:cNvPr>
          <p:cNvSpPr/>
          <p:nvPr/>
        </p:nvSpPr>
        <p:spPr>
          <a:xfrm>
            <a:off x="6825672" y="1274619"/>
            <a:ext cx="5297056" cy="5481782"/>
          </a:xfrm>
          <a:prstGeom prst="roundRect">
            <a:avLst>
              <a:gd name="adj" fmla="val 1311"/>
            </a:avLst>
          </a:prstGeom>
          <a:solidFill>
            <a:schemeClr val="accent6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600" b="1" dirty="0"/>
              <a:t>guestPayment.html{</a:t>
            </a:r>
          </a:p>
          <a:p>
            <a:pPr lvl="1"/>
            <a:r>
              <a:rPr lang="en-US" sz="1600" b="1" dirty="0"/>
              <a:t>Section1{</a:t>
            </a:r>
          </a:p>
          <a:p>
            <a:pPr marL="1200150" lvl="2" indent="-285750">
              <a:buFont typeface="Arial" panose="020B0604020202020204" pitchFamily="34" charset="0"/>
              <a:buChar char="•"/>
            </a:pPr>
            <a:r>
              <a:rPr lang="en-US" sz="1600" b="1" dirty="0"/>
              <a:t>For: Reservation/Full Payment (Dynamic)</a:t>
            </a:r>
          </a:p>
          <a:p>
            <a:pPr marL="1200150" lvl="2" indent="-285750">
              <a:buFont typeface="Arial" panose="020B0604020202020204" pitchFamily="34" charset="0"/>
              <a:buChar char="•"/>
            </a:pPr>
            <a:r>
              <a:rPr lang="en-US" sz="1600" b="1" dirty="0"/>
              <a:t>Price</a:t>
            </a:r>
          </a:p>
          <a:p>
            <a:pPr marL="1200150" lvl="2" indent="-285750">
              <a:buFont typeface="Arial" panose="020B0604020202020204" pitchFamily="34" charset="0"/>
              <a:buChar char="•"/>
            </a:pPr>
            <a:r>
              <a:rPr lang="en-US" sz="1600" b="1" dirty="0"/>
              <a:t>Selection (</a:t>
            </a:r>
            <a:r>
              <a:rPr lang="en-US" sz="1600" b="1" dirty="0" err="1"/>
              <a:t>Gcash</a:t>
            </a:r>
            <a:r>
              <a:rPr lang="en-US" sz="1600" b="1" dirty="0"/>
              <a:t>, </a:t>
            </a:r>
            <a:r>
              <a:rPr lang="en-US" sz="1600" b="1" dirty="0" err="1"/>
              <a:t>Gotyme</a:t>
            </a:r>
            <a:r>
              <a:rPr lang="en-US" sz="1600" b="1" dirty="0"/>
              <a:t>, maya, </a:t>
            </a:r>
            <a:r>
              <a:rPr lang="en-US" sz="1600" b="1" dirty="0" err="1"/>
              <a:t>UnionBank</a:t>
            </a:r>
            <a:r>
              <a:rPr lang="en-US" sz="1600" b="1" dirty="0"/>
              <a:t>)</a:t>
            </a:r>
          </a:p>
          <a:p>
            <a:pPr marL="1200150" lvl="2" indent="-285750">
              <a:buFont typeface="Arial" panose="020B0604020202020204" pitchFamily="34" charset="0"/>
              <a:buChar char="•"/>
            </a:pPr>
            <a:r>
              <a:rPr lang="en-US" sz="1600" b="1" dirty="0"/>
              <a:t>QR Code</a:t>
            </a:r>
          </a:p>
          <a:p>
            <a:pPr lvl="1"/>
            <a:r>
              <a:rPr lang="en-US" sz="1600" b="1" dirty="0"/>
              <a:t>}</a:t>
            </a:r>
          </a:p>
          <a:p>
            <a:pPr lvl="1"/>
            <a:r>
              <a:rPr lang="en-US" sz="1600" b="1" dirty="0"/>
              <a:t>Section2{</a:t>
            </a:r>
          </a:p>
          <a:p>
            <a:pPr marL="1200150" lvl="2" indent="-285750">
              <a:buFont typeface="Arial" panose="020B0604020202020204" pitchFamily="34" charset="0"/>
              <a:buChar char="•"/>
            </a:pPr>
            <a:r>
              <a:rPr lang="en-US" sz="1600" b="1" dirty="0"/>
              <a:t>Text: “Upload a Screenshot”</a:t>
            </a:r>
          </a:p>
          <a:p>
            <a:pPr marL="1200150" lvl="2" indent="-285750">
              <a:buFont typeface="Arial" panose="020B0604020202020204" pitchFamily="34" charset="0"/>
              <a:buChar char="•"/>
            </a:pPr>
            <a:r>
              <a:rPr lang="en-US" sz="1600" b="1" dirty="0"/>
              <a:t>Upload drag and drop or click the upload button</a:t>
            </a:r>
          </a:p>
          <a:p>
            <a:pPr marL="1200150" lvl="2" indent="-285750">
              <a:buFont typeface="Arial" panose="020B0604020202020204" pitchFamily="34" charset="0"/>
              <a:buChar char="•"/>
            </a:pPr>
            <a:r>
              <a:rPr lang="en-US" sz="1600" b="1" dirty="0"/>
              <a:t>Image preview</a:t>
            </a:r>
          </a:p>
          <a:p>
            <a:pPr marL="1200150" lvl="2" indent="-285750">
              <a:buFont typeface="Arial" panose="020B0604020202020204" pitchFamily="34" charset="0"/>
              <a:buChar char="•"/>
            </a:pPr>
            <a:endParaRPr lang="en-US" sz="1600" b="1" dirty="0"/>
          </a:p>
          <a:p>
            <a:pPr marL="1200150" lvl="2" indent="-285750">
              <a:buFont typeface="Arial" panose="020B0604020202020204" pitchFamily="34" charset="0"/>
              <a:buChar char="•"/>
            </a:pPr>
            <a:r>
              <a:rPr lang="en-US" sz="1600" b="1" dirty="0"/>
              <a:t>Input: // This will populate the transaction#</a:t>
            </a:r>
          </a:p>
          <a:p>
            <a:pPr marL="1200150" lvl="2" indent="-285750">
              <a:buFont typeface="Arial" panose="020B0604020202020204" pitchFamily="34" charset="0"/>
              <a:buChar char="•"/>
            </a:pPr>
            <a:r>
              <a:rPr lang="en-US" sz="1600" b="1" dirty="0"/>
              <a:t>Button: Confirm Payment</a:t>
            </a:r>
          </a:p>
          <a:p>
            <a:pPr marL="1200150" lvl="2" indent="-285750">
              <a:buFont typeface="Arial" panose="020B0604020202020204" pitchFamily="34" charset="0"/>
              <a:buChar char="•"/>
            </a:pPr>
            <a:r>
              <a:rPr lang="en-US" sz="1400" b="1" dirty="0"/>
              <a:t>Warning: Please verify the transaction number carefully. It cannot be changed after confirmation, and errors may lead to booking cancellation.</a:t>
            </a:r>
          </a:p>
          <a:p>
            <a:r>
              <a:rPr lang="en-US" sz="1600" b="1" dirty="0"/>
              <a:t>}</a:t>
            </a:r>
          </a:p>
        </p:txBody>
      </p:sp>
      <p:cxnSp>
        <p:nvCxnSpPr>
          <p:cNvPr id="4" name="Connector: Curved 3">
            <a:extLst>
              <a:ext uri="{FF2B5EF4-FFF2-40B4-BE49-F238E27FC236}">
                <a16:creationId xmlns:a16="http://schemas.microsoft.com/office/drawing/2014/main" id="{D4E191A5-48A4-C58C-B4C0-B608243F776E}"/>
              </a:ext>
            </a:extLst>
          </p:cNvPr>
          <p:cNvCxnSpPr>
            <a:cxnSpLocks/>
          </p:cNvCxnSpPr>
          <p:nvPr/>
        </p:nvCxnSpPr>
        <p:spPr>
          <a:xfrm rot="10800000" flipV="1">
            <a:off x="8914247" y="1110675"/>
            <a:ext cx="685798" cy="623452"/>
          </a:xfrm>
          <a:prstGeom prst="curvedConnector3">
            <a:avLst>
              <a:gd name="adj1" fmla="val 50000"/>
            </a:avLst>
          </a:prstGeom>
          <a:ln w="19050" cap="flat" cmpd="sng" algn="ctr">
            <a:solidFill>
              <a:schemeClr val="accent4"/>
            </a:solidFill>
            <a:prstDash val="solid"/>
            <a:round/>
            <a:headEnd type="arrow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7" name="Connector: Curved 6">
            <a:extLst>
              <a:ext uri="{FF2B5EF4-FFF2-40B4-BE49-F238E27FC236}">
                <a16:creationId xmlns:a16="http://schemas.microsoft.com/office/drawing/2014/main" id="{47FE4FF9-E8FA-AE95-5756-49769EBF35F5}"/>
              </a:ext>
            </a:extLst>
          </p:cNvPr>
          <p:cNvCxnSpPr>
            <a:cxnSpLocks/>
          </p:cNvCxnSpPr>
          <p:nvPr/>
        </p:nvCxnSpPr>
        <p:spPr>
          <a:xfrm rot="10800000" flipV="1">
            <a:off x="1302331" y="300182"/>
            <a:ext cx="5643414" cy="5394034"/>
          </a:xfrm>
          <a:prstGeom prst="curvedConnector3">
            <a:avLst>
              <a:gd name="adj1" fmla="val 20213"/>
            </a:avLst>
          </a:prstGeom>
          <a:ln w="19050" cap="flat" cmpd="sng" algn="ctr">
            <a:solidFill>
              <a:schemeClr val="accent4"/>
            </a:solidFill>
            <a:prstDash val="solid"/>
            <a:round/>
            <a:headEnd type="arrow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78536806"/>
      </p:ext>
    </p:extLst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E094F53A-6361-E94E-5BDE-6B5297C1498E}"/>
              </a:ext>
            </a:extLst>
          </p:cNvPr>
          <p:cNvSpPr txBox="1"/>
          <p:nvPr/>
        </p:nvSpPr>
        <p:spPr>
          <a:xfrm>
            <a:off x="0" y="0"/>
            <a:ext cx="2955636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b="1" dirty="0"/>
              <a:t>guestProfile.html</a:t>
            </a:r>
          </a:p>
        </p:txBody>
      </p:sp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F9ACFF90-048F-320A-A752-8D1492FAD30F}"/>
              </a:ext>
            </a:extLst>
          </p:cNvPr>
          <p:cNvSpPr/>
          <p:nvPr/>
        </p:nvSpPr>
        <p:spPr>
          <a:xfrm>
            <a:off x="1427364" y="460454"/>
            <a:ext cx="9337272" cy="5937091"/>
          </a:xfrm>
          <a:prstGeom prst="roundRect">
            <a:avLst>
              <a:gd name="adj" fmla="val 4146"/>
            </a:avLst>
          </a:prstGeom>
          <a:solidFill>
            <a:schemeClr val="accent6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b="1" dirty="0"/>
              <a:t>Profile{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b="1" dirty="0" err="1"/>
              <a:t>EditBtn</a:t>
            </a:r>
            <a:r>
              <a:rPr lang="en-US" b="1" dirty="0"/>
              <a:t> : (guestEditProfile.html)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b="1" dirty="0"/>
              <a:t>Profile Picture (onclick (</a:t>
            </a:r>
            <a:r>
              <a:rPr lang="en-US" b="1" dirty="0" err="1"/>
              <a:t>ZoomModal</a:t>
            </a:r>
            <a:r>
              <a:rPr lang="en-US" b="1" dirty="0"/>
              <a:t>))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b="1" dirty="0"/>
              <a:t>Full Name (Verified or Unverified) ☑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b="1" dirty="0"/>
              <a:t>Phone Number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b="1" dirty="0"/>
              <a:t>Email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b="1" dirty="0" err="1"/>
              <a:t>Bday</a:t>
            </a:r>
            <a:endParaRPr lang="en-US" b="1" dirty="0"/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b="1" dirty="0"/>
              <a:t>Age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b="1" dirty="0"/>
              <a:t>Sex</a:t>
            </a:r>
          </a:p>
          <a:p>
            <a:r>
              <a:rPr lang="en-US" b="1" dirty="0"/>
              <a:t>}</a:t>
            </a:r>
          </a:p>
          <a:p>
            <a:endParaRPr lang="en-US" b="1" dirty="0"/>
          </a:p>
          <a:p>
            <a:r>
              <a:rPr lang="en-US" b="1" dirty="0"/>
              <a:t>If (unverified){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b="1" dirty="0"/>
              <a:t>Clickable Div{</a:t>
            </a:r>
          </a:p>
          <a:p>
            <a:pPr marL="1257300" lvl="2" indent="-342900">
              <a:buFont typeface="Arial" panose="020B0604020202020204" pitchFamily="34" charset="0"/>
              <a:buChar char="•"/>
            </a:pPr>
            <a:r>
              <a:rPr lang="en-US" b="1" dirty="0"/>
              <a:t>Verify your account using Valid ID</a:t>
            </a:r>
          </a:p>
          <a:p>
            <a:pPr marL="1257300" lvl="2" indent="-342900">
              <a:buFont typeface="Arial" panose="020B0604020202020204" pitchFamily="34" charset="0"/>
              <a:buChar char="•"/>
            </a:pPr>
            <a:r>
              <a:rPr lang="en-US" b="1" dirty="0"/>
              <a:t>You can add picture of digital design of ID </a:t>
            </a:r>
          </a:p>
          <a:p>
            <a:pPr marL="1257300" lvl="2" indent="-342900">
              <a:buFont typeface="Arial" panose="020B0604020202020204" pitchFamily="34" charset="0"/>
              <a:buChar char="•"/>
            </a:pPr>
            <a:r>
              <a:rPr lang="en-US" b="1" dirty="0"/>
              <a:t>Description of Verifying ID (`To meet KYC requirements, we use AI tools to verify the authenticity of your ID and extract only key information—your actual ID is not stored by our system.`)</a:t>
            </a:r>
          </a:p>
          <a:p>
            <a:pPr marL="1257300" lvl="2" indent="-342900">
              <a:buFont typeface="Arial" panose="020B0604020202020204" pitchFamily="34" charset="0"/>
              <a:buChar char="•"/>
            </a:pPr>
            <a:r>
              <a:rPr lang="en-US" b="1" dirty="0"/>
              <a:t>Onclick (Redirection)</a:t>
            </a:r>
          </a:p>
          <a:p>
            <a:pPr lvl="1"/>
            <a:r>
              <a:rPr lang="en-US" b="1" dirty="0"/>
              <a:t>}</a:t>
            </a:r>
          </a:p>
          <a:p>
            <a:r>
              <a:rPr lang="en-US" b="1" dirty="0"/>
              <a:t>}</a:t>
            </a:r>
          </a:p>
        </p:txBody>
      </p:sp>
    </p:spTree>
    <p:extLst>
      <p:ext uri="{BB962C8B-B14F-4D97-AF65-F5344CB8AC3E}">
        <p14:creationId xmlns:p14="http://schemas.microsoft.com/office/powerpoint/2010/main" val="1253830261"/>
      </p:ext>
    </p:extLst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E094F53A-6361-E94E-5BDE-6B5297C1498E}"/>
              </a:ext>
            </a:extLst>
          </p:cNvPr>
          <p:cNvSpPr txBox="1"/>
          <p:nvPr/>
        </p:nvSpPr>
        <p:spPr>
          <a:xfrm>
            <a:off x="0" y="0"/>
            <a:ext cx="2955636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b="1" dirty="0"/>
              <a:t>guestEditProfile.html</a:t>
            </a:r>
          </a:p>
        </p:txBody>
      </p:sp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F9ACFF90-048F-320A-A752-8D1492FAD30F}"/>
              </a:ext>
            </a:extLst>
          </p:cNvPr>
          <p:cNvSpPr/>
          <p:nvPr/>
        </p:nvSpPr>
        <p:spPr>
          <a:xfrm>
            <a:off x="1396075" y="331673"/>
            <a:ext cx="9399849" cy="6194654"/>
          </a:xfrm>
          <a:prstGeom prst="roundRect">
            <a:avLst>
              <a:gd name="adj" fmla="val 8914"/>
            </a:avLst>
          </a:prstGeom>
          <a:solidFill>
            <a:schemeClr val="accent6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2000" b="1" dirty="0" err="1"/>
              <a:t>EditProfileDetails</a:t>
            </a:r>
            <a:r>
              <a:rPr lang="en-US" sz="2000" b="1" dirty="0"/>
              <a:t>{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000" b="1" dirty="0"/>
              <a:t>Auto-fill inputs{</a:t>
            </a:r>
          </a:p>
          <a:p>
            <a:pPr marL="1257300" lvl="2" indent="-342900">
              <a:buFont typeface="Arial" panose="020B0604020202020204" pitchFamily="34" charset="0"/>
              <a:buChar char="•"/>
            </a:pPr>
            <a:r>
              <a:rPr lang="en-US" sz="2000" b="1" dirty="0" err="1"/>
              <a:t>ProfilePictureBtn</a:t>
            </a:r>
            <a:r>
              <a:rPr lang="en-US" sz="2000" b="1" dirty="0"/>
              <a:t> (Upload)</a:t>
            </a:r>
          </a:p>
          <a:p>
            <a:pPr marL="1257300" lvl="2" indent="-342900">
              <a:buFont typeface="Arial" panose="020B0604020202020204" pitchFamily="34" charset="0"/>
              <a:buChar char="•"/>
            </a:pPr>
            <a:r>
              <a:rPr lang="en-US" sz="2000" b="1" dirty="0"/>
              <a:t>Full Name Input</a:t>
            </a:r>
          </a:p>
          <a:p>
            <a:pPr marL="1257300" lvl="2" indent="-342900">
              <a:buFont typeface="Arial" panose="020B0604020202020204" pitchFamily="34" charset="0"/>
              <a:buChar char="•"/>
            </a:pPr>
            <a:r>
              <a:rPr lang="en-US" sz="2000" b="1" dirty="0"/>
              <a:t>Phone Number</a:t>
            </a:r>
          </a:p>
          <a:p>
            <a:pPr marL="1257300" lvl="2" indent="-342900">
              <a:buFont typeface="Arial" panose="020B0604020202020204" pitchFamily="34" charset="0"/>
              <a:buChar char="•"/>
            </a:pPr>
            <a:r>
              <a:rPr lang="en-US" sz="2000" b="1" dirty="0"/>
              <a:t>Email input</a:t>
            </a:r>
          </a:p>
          <a:p>
            <a:pPr lvl="1"/>
            <a:r>
              <a:rPr lang="en-US" sz="2000" b="1" dirty="0"/>
              <a:t>}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000" b="1" dirty="0" err="1"/>
              <a:t>editPasswordBtn</a:t>
            </a:r>
            <a:r>
              <a:rPr lang="en-US" sz="2000" b="1" dirty="0"/>
              <a:t>{</a:t>
            </a:r>
          </a:p>
          <a:p>
            <a:pPr marL="1257300" lvl="2" indent="-342900">
              <a:buFont typeface="Arial" panose="020B0604020202020204" pitchFamily="34" charset="0"/>
              <a:buChar char="•"/>
            </a:pPr>
            <a:r>
              <a:rPr lang="en-US" sz="2000" b="1" dirty="0" err="1"/>
              <a:t>modalEditPassword</a:t>
            </a:r>
            <a:r>
              <a:rPr lang="en-US" sz="2000" b="1" dirty="0"/>
              <a:t>(</a:t>
            </a:r>
          </a:p>
          <a:p>
            <a:pPr marL="1714500" lvl="3" indent="-342900">
              <a:buFont typeface="Arial" panose="020B0604020202020204" pitchFamily="34" charset="0"/>
              <a:buChar char="•"/>
            </a:pPr>
            <a:r>
              <a:rPr lang="en-US" sz="2000" b="1" dirty="0"/>
              <a:t>Enter Current Password</a:t>
            </a:r>
          </a:p>
          <a:p>
            <a:pPr marL="1714500" lvl="3" indent="-342900">
              <a:buFont typeface="Arial" panose="020B0604020202020204" pitchFamily="34" charset="0"/>
              <a:buChar char="•"/>
            </a:pPr>
            <a:r>
              <a:rPr lang="en-US" sz="2000" b="1" dirty="0"/>
              <a:t>Enter New Password</a:t>
            </a:r>
          </a:p>
          <a:p>
            <a:pPr marL="1714500" lvl="3" indent="-342900">
              <a:buFont typeface="Arial" panose="020B0604020202020204" pitchFamily="34" charset="0"/>
              <a:buChar char="•"/>
            </a:pPr>
            <a:r>
              <a:rPr lang="en-US" sz="2000" b="1" dirty="0"/>
              <a:t>Confirm Password</a:t>
            </a:r>
          </a:p>
          <a:p>
            <a:pPr marL="1714500" lvl="3" indent="-342900">
              <a:buFont typeface="Arial" panose="020B0604020202020204" pitchFamily="34" charset="0"/>
              <a:buChar char="•"/>
            </a:pPr>
            <a:r>
              <a:rPr lang="en-US" sz="2000" b="1" dirty="0" err="1"/>
              <a:t>forgotPasswordBtn</a:t>
            </a:r>
            <a:r>
              <a:rPr lang="en-US" sz="2000" b="1" dirty="0"/>
              <a:t> : ForgotPassword.html</a:t>
            </a:r>
          </a:p>
          <a:p>
            <a:pPr marL="1714500" lvl="3" indent="-342900">
              <a:buFont typeface="Arial" panose="020B0604020202020204" pitchFamily="34" charset="0"/>
              <a:buChar char="•"/>
            </a:pPr>
            <a:r>
              <a:rPr lang="en-US" sz="2000" b="1" dirty="0" err="1"/>
              <a:t>Btnconfirm</a:t>
            </a:r>
            <a:r>
              <a:rPr lang="en-US" sz="2000" b="1" dirty="0"/>
              <a:t>(API update password)</a:t>
            </a:r>
          </a:p>
          <a:p>
            <a:pPr lvl="2"/>
            <a:r>
              <a:rPr lang="en-US" sz="2000" b="1" dirty="0"/>
              <a:t>)</a:t>
            </a:r>
          </a:p>
          <a:p>
            <a:pPr lvl="1"/>
            <a:r>
              <a:rPr lang="en-US" sz="2000" b="1" dirty="0"/>
              <a:t>}</a:t>
            </a:r>
          </a:p>
          <a:p>
            <a:pPr lvl="1"/>
            <a:r>
              <a:rPr lang="en-US" sz="2000" b="1" dirty="0" err="1"/>
              <a:t>Btn</a:t>
            </a:r>
            <a:r>
              <a:rPr lang="en-US" sz="2000" b="1" dirty="0"/>
              <a:t> (Cancel, Update) : message if successful, then go back to Profile</a:t>
            </a:r>
          </a:p>
          <a:p>
            <a:r>
              <a:rPr lang="en-US" sz="2000" b="1" dirty="0"/>
              <a:t>}</a:t>
            </a:r>
          </a:p>
        </p:txBody>
      </p:sp>
    </p:spTree>
    <p:extLst>
      <p:ext uri="{BB962C8B-B14F-4D97-AF65-F5344CB8AC3E}">
        <p14:creationId xmlns:p14="http://schemas.microsoft.com/office/powerpoint/2010/main" val="1406413378"/>
      </p:ext>
    </p:extLst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BADBB24C-5F57-A411-EB25-4559A2AFDB94}"/>
              </a:ext>
            </a:extLst>
          </p:cNvPr>
          <p:cNvSpPr/>
          <p:nvPr/>
        </p:nvSpPr>
        <p:spPr>
          <a:xfrm>
            <a:off x="325581" y="701375"/>
            <a:ext cx="11540837" cy="5455249"/>
          </a:xfrm>
          <a:prstGeom prst="roundRect">
            <a:avLst>
              <a:gd name="adj" fmla="val 8182"/>
            </a:avLst>
          </a:prstGeom>
          <a:solidFill>
            <a:schemeClr val="accent6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2000" b="1" dirty="0" err="1"/>
              <a:t>generateTicketBtn</a:t>
            </a:r>
            <a:r>
              <a:rPr lang="en-US" sz="2000" b="1" dirty="0"/>
              <a:t> : button (guesGenerateTicket.html)</a:t>
            </a:r>
          </a:p>
          <a:p>
            <a:r>
              <a:rPr lang="en-US" sz="2000" b="1" dirty="0"/>
              <a:t>Section 1 (list of tickets){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000" b="1" dirty="0"/>
              <a:t>Ticket lists ( </a:t>
            </a:r>
            <a:r>
              <a:rPr lang="en-US" sz="2000" b="1" dirty="0" err="1"/>
              <a:t>ticketQueueID</a:t>
            </a:r>
            <a:r>
              <a:rPr lang="en-US" sz="2000" b="1" dirty="0"/>
              <a:t>,`</a:t>
            </a:r>
            <a:r>
              <a:rPr lang="en-US" sz="2000" b="1" dirty="0" err="1"/>
              <a:t>CustomerSupport</a:t>
            </a:r>
            <a:r>
              <a:rPr lang="en-US" sz="2000" b="1" dirty="0"/>
              <a:t> username`, Status (End, In Queue, Open))</a:t>
            </a:r>
          </a:p>
          <a:p>
            <a:r>
              <a:rPr lang="en-US" sz="2000" b="1" dirty="0"/>
              <a:t>}</a:t>
            </a:r>
          </a:p>
          <a:p>
            <a:r>
              <a:rPr lang="en-US" b="1" dirty="0"/>
              <a:t>Section 2 {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dirty="0"/>
              <a:t>When user clicked one of the ticket lists, </a:t>
            </a:r>
            <a:r>
              <a:rPr lang="en-US" b="1" dirty="0" err="1"/>
              <a:t>Itll</a:t>
            </a:r>
            <a:r>
              <a:rPr lang="en-US" b="1" dirty="0"/>
              <a:t> show the conversation here.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dirty="0"/>
              <a:t>{</a:t>
            </a:r>
          </a:p>
          <a:p>
            <a:pPr marL="1200150" lvl="2" indent="-285750">
              <a:buFont typeface="Arial" panose="020B0604020202020204" pitchFamily="34" charset="0"/>
              <a:buChar char="•"/>
            </a:pPr>
            <a:r>
              <a:rPr lang="en-US" b="1" dirty="0"/>
              <a:t>First blob message : Concern, submitted by guest</a:t>
            </a:r>
          </a:p>
          <a:p>
            <a:pPr marL="1200150" lvl="2" indent="-285750">
              <a:buFont typeface="Arial" panose="020B0604020202020204" pitchFamily="34" charset="0"/>
              <a:buChar char="•"/>
            </a:pPr>
            <a:endParaRPr lang="en-US" b="1" dirty="0"/>
          </a:p>
          <a:p>
            <a:pPr marL="1200150" lvl="2" indent="-285750">
              <a:buFont typeface="Arial" panose="020B0604020202020204" pitchFamily="34" charset="0"/>
              <a:buChar char="•"/>
            </a:pPr>
            <a:r>
              <a:rPr lang="en-US" b="1" dirty="0"/>
              <a:t>If (status == Open){</a:t>
            </a:r>
          </a:p>
          <a:p>
            <a:pPr marL="1657350" lvl="3" indent="-285750">
              <a:buFont typeface="Arial" panose="020B0604020202020204" pitchFamily="34" charset="0"/>
              <a:buChar char="•"/>
            </a:pPr>
            <a:r>
              <a:rPr lang="en-US" b="1" dirty="0"/>
              <a:t>Reply Input : Text</a:t>
            </a:r>
          </a:p>
          <a:p>
            <a:pPr marL="1657350" lvl="3" indent="-285750">
              <a:buFont typeface="Arial" panose="020B0604020202020204" pitchFamily="34" charset="0"/>
              <a:buChar char="•"/>
            </a:pPr>
            <a:r>
              <a:rPr lang="en-US" b="1" dirty="0"/>
              <a:t>Button : Send</a:t>
            </a:r>
          </a:p>
          <a:p>
            <a:pPr marL="1657350" lvl="3" indent="-285750">
              <a:buFont typeface="Arial" panose="020B0604020202020204" pitchFamily="34" charset="0"/>
              <a:buChar char="•"/>
            </a:pPr>
            <a:r>
              <a:rPr lang="en-US" b="1" dirty="0"/>
              <a:t>Button : End Ticket</a:t>
            </a:r>
          </a:p>
          <a:p>
            <a:pPr lvl="2"/>
            <a:r>
              <a:rPr lang="en-US" b="1" dirty="0"/>
              <a:t>}</a:t>
            </a:r>
          </a:p>
          <a:p>
            <a:pPr lvl="1"/>
            <a:r>
              <a:rPr lang="en-US" b="1" dirty="0"/>
              <a:t>}</a:t>
            </a:r>
          </a:p>
          <a:p>
            <a:r>
              <a:rPr lang="en-US" b="1" dirty="0"/>
              <a:t>}</a:t>
            </a:r>
          </a:p>
          <a:p>
            <a:endParaRPr lang="en-US" b="1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F259B9EF-2882-3D95-7422-68A27385F852}"/>
              </a:ext>
            </a:extLst>
          </p:cNvPr>
          <p:cNvSpPr txBox="1"/>
          <p:nvPr/>
        </p:nvSpPr>
        <p:spPr>
          <a:xfrm>
            <a:off x="-1" y="0"/>
            <a:ext cx="4341092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b="1" dirty="0"/>
              <a:t>guestTickets.html</a:t>
            </a:r>
          </a:p>
        </p:txBody>
      </p:sp>
    </p:spTree>
    <p:extLst>
      <p:ext uri="{BB962C8B-B14F-4D97-AF65-F5344CB8AC3E}">
        <p14:creationId xmlns:p14="http://schemas.microsoft.com/office/powerpoint/2010/main" val="1833272379"/>
      </p:ext>
    </p:extLst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BADBB24C-5F57-A411-EB25-4559A2AFDB94}"/>
              </a:ext>
            </a:extLst>
          </p:cNvPr>
          <p:cNvSpPr/>
          <p:nvPr/>
        </p:nvSpPr>
        <p:spPr>
          <a:xfrm>
            <a:off x="325581" y="701375"/>
            <a:ext cx="11540837" cy="5455249"/>
          </a:xfrm>
          <a:prstGeom prst="roundRect">
            <a:avLst>
              <a:gd name="adj" fmla="val 8182"/>
            </a:avLst>
          </a:prstGeom>
          <a:solidFill>
            <a:schemeClr val="accent6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b="1" dirty="0" err="1"/>
              <a:t>backBtn</a:t>
            </a:r>
            <a:r>
              <a:rPr lang="en-US" b="1" dirty="0"/>
              <a:t> : Button (guestTickets.html)</a:t>
            </a:r>
          </a:p>
          <a:p>
            <a:r>
              <a:rPr lang="en-US" b="1" dirty="0"/>
              <a:t>Generate a Ticket{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dirty="0"/>
              <a:t>Inputs{</a:t>
            </a:r>
          </a:p>
          <a:p>
            <a:pPr marL="1200150" lvl="2" indent="-285750">
              <a:buFont typeface="Arial" panose="020B0604020202020204" pitchFamily="34" charset="0"/>
              <a:buChar char="•"/>
            </a:pPr>
            <a:r>
              <a:rPr lang="en-US" b="1" dirty="0"/>
              <a:t>Select a Customer Service Agent : (`CS - FirstName`…) : selection</a:t>
            </a:r>
          </a:p>
          <a:p>
            <a:pPr marL="1200150" lvl="2" indent="-285750">
              <a:buFont typeface="Arial" panose="020B0604020202020204" pitchFamily="34" charset="0"/>
              <a:buChar char="•"/>
            </a:pPr>
            <a:r>
              <a:rPr lang="en-US" b="1" dirty="0"/>
              <a:t>Select a concern : (“Location”, “Appliances”, “Amenities”, “Payment”, “Others”) : selection</a:t>
            </a:r>
          </a:p>
          <a:p>
            <a:pPr marL="1200150" lvl="2" indent="-285750">
              <a:buFont typeface="Arial" panose="020B0604020202020204" pitchFamily="34" charset="0"/>
              <a:buChar char="•"/>
            </a:pPr>
            <a:r>
              <a:rPr lang="en-US" b="1" dirty="0"/>
              <a:t>Description (min of character ?) : text</a:t>
            </a:r>
          </a:p>
          <a:p>
            <a:pPr lvl="1"/>
            <a:r>
              <a:rPr lang="en-US" b="1" dirty="0"/>
              <a:t>}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dirty="0" err="1"/>
              <a:t>generateBtn</a:t>
            </a:r>
            <a:r>
              <a:rPr lang="en-US" b="1" dirty="0"/>
              <a:t> : Buttons (API) &gt; go back to guestTickets.html</a:t>
            </a:r>
          </a:p>
          <a:p>
            <a:r>
              <a:rPr lang="en-US" b="1" dirty="0"/>
              <a:t>}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F259B9EF-2882-3D95-7422-68A27385F852}"/>
              </a:ext>
            </a:extLst>
          </p:cNvPr>
          <p:cNvSpPr txBox="1"/>
          <p:nvPr/>
        </p:nvSpPr>
        <p:spPr>
          <a:xfrm>
            <a:off x="-1" y="0"/>
            <a:ext cx="4341092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b="1" dirty="0"/>
              <a:t>guestGenerateTicket.html</a:t>
            </a:r>
          </a:p>
        </p:txBody>
      </p:sp>
    </p:spTree>
    <p:extLst>
      <p:ext uri="{BB962C8B-B14F-4D97-AF65-F5344CB8AC3E}">
        <p14:creationId xmlns:p14="http://schemas.microsoft.com/office/powerpoint/2010/main" val="3858012836"/>
      </p:ext>
    </p:extLst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BADBB24C-5F57-A411-EB25-4559A2AFDB94}"/>
              </a:ext>
            </a:extLst>
          </p:cNvPr>
          <p:cNvSpPr/>
          <p:nvPr/>
        </p:nvSpPr>
        <p:spPr>
          <a:xfrm>
            <a:off x="4217554" y="2540248"/>
            <a:ext cx="3756892" cy="1777504"/>
          </a:xfrm>
          <a:prstGeom prst="roundRect">
            <a:avLst>
              <a:gd name="adj" fmla="val 8182"/>
            </a:avLst>
          </a:prstGeom>
          <a:solidFill>
            <a:schemeClr val="accent6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b="1" dirty="0"/>
              <a:t>{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dirty="0"/>
              <a:t>Q &amp; A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dirty="0"/>
              <a:t>Same as before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dirty="0"/>
              <a:t>Revamp the design or keep the OG</a:t>
            </a:r>
          </a:p>
          <a:p>
            <a:r>
              <a:rPr lang="en-US" b="1" dirty="0"/>
              <a:t>}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F259B9EF-2882-3D95-7422-68A27385F852}"/>
              </a:ext>
            </a:extLst>
          </p:cNvPr>
          <p:cNvSpPr txBox="1"/>
          <p:nvPr/>
        </p:nvSpPr>
        <p:spPr>
          <a:xfrm>
            <a:off x="-1" y="0"/>
            <a:ext cx="4341092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b="1" dirty="0"/>
              <a:t>guestFAQs.html</a:t>
            </a:r>
          </a:p>
        </p:txBody>
      </p:sp>
    </p:spTree>
    <p:extLst>
      <p:ext uri="{BB962C8B-B14F-4D97-AF65-F5344CB8AC3E}">
        <p14:creationId xmlns:p14="http://schemas.microsoft.com/office/powerpoint/2010/main" val="1674249800"/>
      </p:ext>
    </p:extLst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BADBB24C-5F57-A411-EB25-4559A2AFDB94}"/>
              </a:ext>
            </a:extLst>
          </p:cNvPr>
          <p:cNvSpPr/>
          <p:nvPr/>
        </p:nvSpPr>
        <p:spPr>
          <a:xfrm>
            <a:off x="2039504" y="2029815"/>
            <a:ext cx="8112992" cy="2798370"/>
          </a:xfrm>
          <a:prstGeom prst="roundRect">
            <a:avLst>
              <a:gd name="adj" fmla="val 8182"/>
            </a:avLst>
          </a:prstGeom>
          <a:solidFill>
            <a:schemeClr val="accent6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b="1" dirty="0"/>
              <a:t>Pending / Completed {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dirty="0"/>
              <a:t>List of bookings (Property Name, Address, Date of booking, Status)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dirty="0"/>
              <a:t>Onclick (guestViewBooking.html)</a:t>
            </a:r>
          </a:p>
          <a:p>
            <a:r>
              <a:rPr lang="en-US" b="1" dirty="0"/>
              <a:t>}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F259B9EF-2882-3D95-7422-68A27385F852}"/>
              </a:ext>
            </a:extLst>
          </p:cNvPr>
          <p:cNvSpPr txBox="1"/>
          <p:nvPr/>
        </p:nvSpPr>
        <p:spPr>
          <a:xfrm>
            <a:off x="-1" y="0"/>
            <a:ext cx="4341092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b="1" dirty="0"/>
              <a:t>guestMyBookings.html</a:t>
            </a:r>
          </a:p>
        </p:txBody>
      </p:sp>
    </p:spTree>
    <p:extLst>
      <p:ext uri="{BB962C8B-B14F-4D97-AF65-F5344CB8AC3E}">
        <p14:creationId xmlns:p14="http://schemas.microsoft.com/office/powerpoint/2010/main" val="1097397186"/>
      </p:ext>
    </p:extLst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BADBB24C-5F57-A411-EB25-4559A2AFDB94}"/>
              </a:ext>
            </a:extLst>
          </p:cNvPr>
          <p:cNvSpPr/>
          <p:nvPr/>
        </p:nvSpPr>
        <p:spPr>
          <a:xfrm>
            <a:off x="179241" y="638525"/>
            <a:ext cx="7806461" cy="5858041"/>
          </a:xfrm>
          <a:prstGeom prst="roundRect">
            <a:avLst>
              <a:gd name="adj" fmla="val 5789"/>
            </a:avLst>
          </a:prstGeom>
          <a:solidFill>
            <a:schemeClr val="accent6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b="1" dirty="0"/>
              <a:t>{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dirty="0"/>
              <a:t>Property Name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dirty="0"/>
              <a:t>Ref id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dirty="0"/>
              <a:t>Pictures of property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dirty="0"/>
              <a:t>Address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dirty="0"/>
              <a:t>Embed map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dirty="0"/>
              <a:t>Date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dirty="0"/>
              <a:t>Time of Check In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dirty="0"/>
              <a:t>Time of Checking out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endParaRPr lang="en-US" b="1" dirty="0"/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dirty="0"/>
              <a:t>Details of transaction{</a:t>
            </a:r>
          </a:p>
          <a:p>
            <a:pPr marL="1200150" lvl="2" indent="-285750">
              <a:buFont typeface="Arial" panose="020B0604020202020204" pitchFamily="34" charset="0"/>
              <a:buChar char="•"/>
            </a:pPr>
            <a:r>
              <a:rPr lang="en-US" b="1" dirty="0"/>
              <a:t>Payment mode</a:t>
            </a:r>
          </a:p>
          <a:p>
            <a:pPr marL="1200150" lvl="2" indent="-285750">
              <a:buFont typeface="Arial" panose="020B0604020202020204" pitchFamily="34" charset="0"/>
              <a:buChar char="•"/>
            </a:pPr>
            <a:r>
              <a:rPr lang="en-US" b="1" dirty="0"/>
              <a:t>Price per day * Additional Pax : `Unpaid or Paid (PHP2,000)`</a:t>
            </a:r>
          </a:p>
          <a:p>
            <a:pPr marL="1200150" lvl="2" indent="-285750">
              <a:buFont typeface="Arial" panose="020B0604020202020204" pitchFamily="34" charset="0"/>
              <a:buChar char="•"/>
            </a:pPr>
            <a:r>
              <a:rPr lang="en-US" b="1" dirty="0"/>
              <a:t>Discount</a:t>
            </a:r>
          </a:p>
          <a:p>
            <a:pPr marL="1200150" lvl="2" indent="-285750">
              <a:buFont typeface="Arial" panose="020B0604020202020204" pitchFamily="34" charset="0"/>
              <a:buChar char="•"/>
            </a:pPr>
            <a:r>
              <a:rPr lang="en-US" b="1" dirty="0"/>
              <a:t>Reservation Fee: `Paid (PHP 500)`</a:t>
            </a:r>
          </a:p>
          <a:p>
            <a:pPr marL="1200150" lvl="2" indent="-285750">
              <a:buFont typeface="Arial" panose="020B0604020202020204" pitchFamily="34" charset="0"/>
              <a:buChar char="•"/>
            </a:pPr>
            <a:r>
              <a:rPr lang="en-US" b="1" dirty="0"/>
              <a:t>Status</a:t>
            </a:r>
          </a:p>
          <a:p>
            <a:pPr marL="1200150" lvl="2" indent="-285750">
              <a:buFont typeface="Arial" panose="020B0604020202020204" pitchFamily="34" charset="0"/>
              <a:buChar char="•"/>
            </a:pPr>
            <a:r>
              <a:rPr lang="en-US" b="1" dirty="0"/>
              <a:t>TOTAL REMAINING BALANCE or TOTAL: </a:t>
            </a:r>
          </a:p>
          <a:p>
            <a:pPr lvl="2"/>
            <a:r>
              <a:rPr lang="en-US" b="1" dirty="0"/>
              <a:t>}</a:t>
            </a:r>
          </a:p>
          <a:p>
            <a:pPr lvl="2"/>
            <a:r>
              <a:rPr lang="en-US" b="1" dirty="0"/>
              <a:t>If (!</a:t>
            </a:r>
            <a:r>
              <a:rPr lang="en-US" b="1" dirty="0" err="1"/>
              <a:t>fullpayment</a:t>
            </a:r>
            <a:r>
              <a:rPr lang="en-US" b="1" dirty="0"/>
              <a:t>){button: pay remaining balance (go to guestPayment.html)}</a:t>
            </a:r>
          </a:p>
          <a:p>
            <a:r>
              <a:rPr lang="en-US" b="1" dirty="0"/>
              <a:t>}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F259B9EF-2882-3D95-7422-68A27385F852}"/>
              </a:ext>
            </a:extLst>
          </p:cNvPr>
          <p:cNvSpPr txBox="1"/>
          <p:nvPr/>
        </p:nvSpPr>
        <p:spPr>
          <a:xfrm>
            <a:off x="-1" y="0"/>
            <a:ext cx="4341092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b="1" dirty="0"/>
              <a:t>guestViewBooking.html</a:t>
            </a:r>
          </a:p>
        </p:txBody>
      </p:sp>
      <p:sp>
        <p:nvSpPr>
          <p:cNvPr id="2" name="Rectangle: Rounded Corners 1">
            <a:extLst>
              <a:ext uri="{FF2B5EF4-FFF2-40B4-BE49-F238E27FC236}">
                <a16:creationId xmlns:a16="http://schemas.microsoft.com/office/drawing/2014/main" id="{E96EB845-FD3E-85A5-37CD-F0E40EB0AA76}"/>
              </a:ext>
            </a:extLst>
          </p:cNvPr>
          <p:cNvSpPr/>
          <p:nvPr/>
        </p:nvSpPr>
        <p:spPr>
          <a:xfrm>
            <a:off x="8183418" y="638526"/>
            <a:ext cx="3912468" cy="2301556"/>
          </a:xfrm>
          <a:prstGeom prst="roundRect">
            <a:avLst>
              <a:gd name="adj" fmla="val 5789"/>
            </a:avLst>
          </a:prstGeom>
          <a:solidFill>
            <a:schemeClr val="accent6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600" b="1" dirty="0"/>
              <a:t>If (pending &amp;&amp; booking date is &lt;=10days old){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sz="1600" b="1" dirty="0"/>
              <a:t>Reschedule : button (</a:t>
            </a:r>
            <a:r>
              <a:rPr lang="en-US" sz="1600" b="1" dirty="0" err="1"/>
              <a:t>rescheduleModal</a:t>
            </a:r>
            <a:r>
              <a:rPr lang="en-US" sz="1600" b="1" dirty="0"/>
              <a:t>)</a:t>
            </a:r>
          </a:p>
          <a:p>
            <a:r>
              <a:rPr lang="en-US" sz="1600" b="1" dirty="0"/>
              <a:t>}</a:t>
            </a:r>
          </a:p>
          <a:p>
            <a:r>
              <a:rPr lang="en-US" sz="1600" b="1" dirty="0"/>
              <a:t>Else { Reschedule is unavailable for bookings that is already 10 days or older}</a:t>
            </a:r>
          </a:p>
        </p:txBody>
      </p:sp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DC6E6833-4574-B916-EC54-33ABC9BED542}"/>
              </a:ext>
            </a:extLst>
          </p:cNvPr>
          <p:cNvSpPr/>
          <p:nvPr/>
        </p:nvSpPr>
        <p:spPr>
          <a:xfrm>
            <a:off x="8183418" y="3120189"/>
            <a:ext cx="3912468" cy="2301556"/>
          </a:xfrm>
          <a:prstGeom prst="roundRect">
            <a:avLst>
              <a:gd name="adj" fmla="val 5789"/>
            </a:avLst>
          </a:prstGeom>
          <a:solidFill>
            <a:schemeClr val="accent6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600" b="1" dirty="0" err="1"/>
              <a:t>rescheduleModal</a:t>
            </a:r>
            <a:r>
              <a:rPr lang="en-US" sz="1600" b="1" dirty="0"/>
              <a:t>{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sz="1600" b="1" dirty="0"/>
              <a:t>Reason : text (min of char for </a:t>
            </a:r>
            <a:r>
              <a:rPr lang="en-US" sz="1600" b="1" dirty="0" err="1"/>
              <a:t>notif</a:t>
            </a:r>
            <a:r>
              <a:rPr lang="en-US" sz="1600" b="1" dirty="0"/>
              <a:t>)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sz="1600" b="1" dirty="0"/>
              <a:t>Start date &amp; end date (calendar)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sz="1600" b="1" dirty="0" err="1"/>
              <a:t>CancelBtn</a:t>
            </a:r>
            <a:endParaRPr lang="en-US" sz="1600" b="1" dirty="0"/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sz="1600" b="1" dirty="0" err="1"/>
              <a:t>RescheduleBtn</a:t>
            </a:r>
            <a:endParaRPr lang="en-US" sz="1600" b="1" dirty="0"/>
          </a:p>
          <a:p>
            <a:r>
              <a:rPr lang="en-US" sz="1600" b="1" dirty="0"/>
              <a:t>}</a:t>
            </a:r>
          </a:p>
        </p:txBody>
      </p:sp>
    </p:spTree>
    <p:extLst>
      <p:ext uri="{BB962C8B-B14F-4D97-AF65-F5344CB8AC3E}">
        <p14:creationId xmlns:p14="http://schemas.microsoft.com/office/powerpoint/2010/main" val="3968221701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858</TotalTime>
  <Words>4012</Words>
  <Application>Microsoft Office PowerPoint</Application>
  <PresentationFormat>Widescreen</PresentationFormat>
  <Paragraphs>1011</Paragraphs>
  <Slides>59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59</vt:i4>
      </vt:variant>
    </vt:vector>
  </HeadingPairs>
  <TitlesOfParts>
    <vt:vector size="63" baseType="lpstr">
      <vt:lpstr>Aptos</vt:lpstr>
      <vt:lpstr>Aptos Display</vt:lpstr>
      <vt:lpstr>Arial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Signo, Christian (Student)</dc:creator>
  <cp:lastModifiedBy>Signo, Christian (Student)</cp:lastModifiedBy>
  <cp:revision>12</cp:revision>
  <dcterms:created xsi:type="dcterms:W3CDTF">2025-04-13T09:11:45Z</dcterms:created>
  <dcterms:modified xsi:type="dcterms:W3CDTF">2025-05-21T06:11:07Z</dcterms:modified>
</cp:coreProperties>
</file>