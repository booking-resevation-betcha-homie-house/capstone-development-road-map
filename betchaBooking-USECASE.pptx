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2" r:id="rId3"/>
    <p:sldId id="298" r:id="rId4"/>
    <p:sldId id="288" r:id="rId5"/>
    <p:sldId id="284" r:id="rId6"/>
    <p:sldId id="257" r:id="rId7"/>
    <p:sldId id="258" r:id="rId8"/>
    <p:sldId id="259" r:id="rId9"/>
    <p:sldId id="260" r:id="rId10"/>
    <p:sldId id="261" r:id="rId11"/>
    <p:sldId id="264" r:id="rId12"/>
    <p:sldId id="265" r:id="rId13"/>
    <p:sldId id="266" r:id="rId14"/>
    <p:sldId id="267" r:id="rId15"/>
    <p:sldId id="268" r:id="rId16"/>
    <p:sldId id="269" r:id="rId17"/>
    <p:sldId id="271" r:id="rId18"/>
    <p:sldId id="310" r:id="rId19"/>
    <p:sldId id="270" r:id="rId20"/>
    <p:sldId id="287" r:id="rId21"/>
    <p:sldId id="276" r:id="rId22"/>
    <p:sldId id="278" r:id="rId23"/>
    <p:sldId id="277" r:id="rId24"/>
    <p:sldId id="272" r:id="rId25"/>
    <p:sldId id="275" r:id="rId26"/>
    <p:sldId id="273" r:id="rId27"/>
    <p:sldId id="274" r:id="rId28"/>
    <p:sldId id="279" r:id="rId29"/>
    <p:sldId id="280" r:id="rId30"/>
    <p:sldId id="281" r:id="rId31"/>
    <p:sldId id="282" r:id="rId32"/>
    <p:sldId id="312" r:id="rId33"/>
    <p:sldId id="313" r:id="rId34"/>
    <p:sldId id="314" r:id="rId35"/>
    <p:sldId id="315" r:id="rId36"/>
    <p:sldId id="316" r:id="rId37"/>
    <p:sldId id="283" r:id="rId38"/>
    <p:sldId id="285" r:id="rId39"/>
    <p:sldId id="286" r:id="rId40"/>
    <p:sldId id="290" r:id="rId41"/>
    <p:sldId id="291" r:id="rId42"/>
    <p:sldId id="289" r:id="rId43"/>
    <p:sldId id="292" r:id="rId44"/>
    <p:sldId id="293" r:id="rId45"/>
    <p:sldId id="294" r:id="rId46"/>
    <p:sldId id="295" r:id="rId47"/>
    <p:sldId id="296" r:id="rId48"/>
    <p:sldId id="297" r:id="rId49"/>
    <p:sldId id="299" r:id="rId50"/>
    <p:sldId id="300" r:id="rId51"/>
    <p:sldId id="309" r:id="rId52"/>
    <p:sldId id="306" r:id="rId53"/>
    <p:sldId id="307" r:id="rId54"/>
    <p:sldId id="302" r:id="rId55"/>
    <p:sldId id="308" r:id="rId56"/>
    <p:sldId id="301" r:id="rId57"/>
    <p:sldId id="303" r:id="rId58"/>
    <p:sldId id="304" r:id="rId5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182" autoAdjust="0"/>
    <p:restoredTop sz="94660"/>
  </p:normalViewPr>
  <p:slideViewPr>
    <p:cSldViewPr snapToGrid="0">
      <p:cViewPr varScale="1">
        <p:scale>
          <a:sx n="83" d="100"/>
          <a:sy n="83" d="100"/>
        </p:scale>
        <p:origin x="542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5" Type="http://schemas.openxmlformats.org/officeDocument/2006/relationships/slide" Target="slides/slide4.xml"/><Relationship Id="rId61" Type="http://schemas.openxmlformats.org/officeDocument/2006/relationships/viewProps" Target="viewProp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CFA93F-2F66-CAB2-CDE0-AB41208ED85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FDCB0C3-6677-956C-101D-2A497BAB633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286585-A90D-EC81-E6B1-439B52382B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23CA93-4BBF-43AB-A538-39903E4C269C}" type="datetimeFigureOut">
              <a:rPr lang="en-US" smtClean="0"/>
              <a:t>5/21/2025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C4133B-7E4A-74CF-B06D-F4A99E3F30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273431E-2FFB-DD14-3FC5-1D1529665F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BA0B6A-D058-40AA-9C69-2DE04F2A68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18125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D1EF04-F04D-DF4C-BA78-98DDE32E2D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4E8585-C021-A7DE-C3BE-D421A5D1B0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DEAA72-0920-0507-5DEE-895C66ECBA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23CA93-4BBF-43AB-A538-39903E4C269C}" type="datetimeFigureOut">
              <a:rPr lang="en-US" smtClean="0"/>
              <a:t>5/21/2025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7B0390-BADC-5463-A305-07CC02EFDE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24504E-59DC-5A08-D44E-B39B3D4139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BA0B6A-D058-40AA-9C69-2DE04F2A68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241552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B5A5E7-498C-11BB-38C4-3964D19122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040F220-321B-8B70-8359-384B3837A9D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7C1A6A-6FFE-A0DC-53FF-A95B63C719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23CA93-4BBF-43AB-A538-39903E4C269C}" type="datetimeFigureOut">
              <a:rPr lang="en-US" smtClean="0"/>
              <a:t>5/21/2025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FCD3BC-668B-FA59-DF24-90AD1D09A5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7CE20B9-65DE-20E9-8C2E-D295594926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BA0B6A-D058-40AA-9C69-2DE04F2A68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03260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262335-249B-C477-CF20-269A60917E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770A6D-98E5-1C84-C93B-4AD813B631F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C5AF8B5-350B-FD67-4BFE-8EC5E4C451E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C6B7461-400B-6638-3DF4-1584941444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23CA93-4BBF-43AB-A538-39903E4C269C}" type="datetimeFigureOut">
              <a:rPr lang="en-US" smtClean="0"/>
              <a:t>5/21/2025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B305398-AD7D-6D12-E6C3-0DAF11B28A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5744D18-BAB9-0973-2CA9-9B617C3FCF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BA0B6A-D058-40AA-9C69-2DE04F2A68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37295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9075A6-21CB-D5CA-9C43-92B11B4E88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DEF55C1-75C8-0881-F286-A702DA9463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8ED9F6B-38DE-4C20-9998-EE4E29BE9F1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7F8219A-0D5D-961B-6AF7-F113E39B515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21EB069-00BB-0958-7798-0EAC3BD5CF5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ADACEB0-FB14-1A82-2837-64412BF925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23CA93-4BBF-43AB-A538-39903E4C269C}" type="datetimeFigureOut">
              <a:rPr lang="en-US" smtClean="0"/>
              <a:t>5/21/2025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EA28503-A274-808D-3942-BBEF2AD085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C2DEB42-D744-7339-92CE-7FCC026B82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BA0B6A-D058-40AA-9C69-2DE04F2A68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169075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250369-A386-C0EA-8152-2B91311F9A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613CBEA-33CC-2AB4-C7E3-A55CF1E5E7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23CA93-4BBF-43AB-A538-39903E4C269C}" type="datetimeFigureOut">
              <a:rPr lang="en-US" smtClean="0"/>
              <a:t>5/21/2025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04BB121-671E-7499-83B0-C6913DBF16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5596C8-FF1B-6154-9DBC-358B8FE7E5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BA0B6A-D058-40AA-9C69-2DE04F2A68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83057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CF326F6-CA6E-340E-8D5E-3D1365443B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23CA93-4BBF-43AB-A538-39903E4C269C}" type="datetimeFigureOut">
              <a:rPr lang="en-US" smtClean="0"/>
              <a:t>5/21/2025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F1A9E78-C634-9317-7F92-48BDD5DCF0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146109-4DA4-E433-7557-64EB6336D0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BA0B6A-D058-40AA-9C69-2DE04F2A68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59659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C37AE7-776C-735F-F3FE-7E6E0F2A4E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8A1E78-80E8-CF14-54B0-D204131A72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217801E-002E-4556-EF3A-C825F42DF35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35F8570-6F94-0FAB-BABC-6E4EA54315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23CA93-4BBF-43AB-A538-39903E4C269C}" type="datetimeFigureOut">
              <a:rPr lang="en-US" smtClean="0"/>
              <a:t>5/21/2025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0622521-0C91-489A-6180-E3F676B68A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D548A62-06DF-8EF2-892C-FC03FDA86B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BA0B6A-D058-40AA-9C69-2DE04F2A68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876558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34E6CE-FD18-CCC0-072D-29BA006BEE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969E8A5-C357-AA30-1FE2-FCCD47B2F70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BB4AA48-567F-C626-5D7F-8E441358F39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66FE34A-D204-71B6-86F6-26F8D1F65D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23CA93-4BBF-43AB-A538-39903E4C269C}" type="datetimeFigureOut">
              <a:rPr lang="en-US" smtClean="0"/>
              <a:t>5/21/2025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A240002-EF34-EC9F-B1BE-C8B8271772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48F881A-8EAA-3E59-E4F2-8316BD3D1B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BA0B6A-D058-40AA-9C69-2DE04F2A68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929699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E355D1-937C-DC6A-116A-A5D2862753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1A86A2D-464A-EB48-A90E-4E520F8E4C2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A2C8CE-4347-6904-0FC7-BE97BEE530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23CA93-4BBF-43AB-A538-39903E4C269C}" type="datetimeFigureOut">
              <a:rPr lang="en-US" smtClean="0"/>
              <a:t>5/21/2025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23BA22-49A0-3298-8A78-D050E6C9CB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6B2169-5F0C-6AA9-868F-1D1F25D43E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BA0B6A-D058-40AA-9C69-2DE04F2A68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06472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3BDB5A0-99D9-3F84-D902-C818AACD46E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1FF6CBB-4DE3-A2B3-4109-1AFC61F45D7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CCC118-F686-A266-6185-B55209D4C0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23CA93-4BBF-43AB-A538-39903E4C269C}" type="datetimeFigureOut">
              <a:rPr lang="en-US" smtClean="0"/>
              <a:t>5/21/2025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5C41633-147F-30D0-820D-7DC7D7FFF6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D904EB-59E5-2206-F9E4-87F7219685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BA0B6A-D058-40AA-9C69-2DE04F2A68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97371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13B2BAB-7443-B4C7-D51E-3ACBB48DE1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77E293A-049E-AD91-F3DD-88F907B1A07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744AB5-C26C-299A-33A1-DB00225C4AA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723CA93-4BBF-43AB-A538-39903E4C269C}" type="datetimeFigureOut">
              <a:rPr lang="en-US" smtClean="0"/>
              <a:t>5/21/2025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474E25-2D6D-14DB-8F56-B9032438DED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B22B5D-38BA-7C1C-9564-1A3F4EF874C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FBA0B6A-D058-40AA-9C69-2DE04F2A68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85235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6A410C6-EB1E-3BFA-04F9-542C51DA77B5}"/>
              </a:ext>
            </a:extLst>
          </p:cNvPr>
          <p:cNvSpPr txBox="1"/>
          <p:nvPr/>
        </p:nvSpPr>
        <p:spPr>
          <a:xfrm>
            <a:off x="2776913" y="2932362"/>
            <a:ext cx="6638174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/>
              <a:t>Landing, Login, Register, </a:t>
            </a:r>
            <a:r>
              <a:rPr lang="en-US" sz="4000" b="1" dirty="0" err="1"/>
              <a:t>ForgotPassword</a:t>
            </a:r>
            <a:endParaRPr lang="en-US" sz="4000" b="1" dirty="0"/>
          </a:p>
        </p:txBody>
      </p:sp>
    </p:spTree>
    <p:extLst>
      <p:ext uri="{BB962C8B-B14F-4D97-AF65-F5344CB8AC3E}">
        <p14:creationId xmlns:p14="http://schemas.microsoft.com/office/powerpoint/2010/main" val="213601355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screen shot of a computer program&#10;&#10;AI-generated content may be incorrect.">
            <a:extLst>
              <a:ext uri="{FF2B5EF4-FFF2-40B4-BE49-F238E27FC236}">
                <a16:creationId xmlns:a16="http://schemas.microsoft.com/office/drawing/2014/main" id="{1485D8FE-FA3B-F048-2D95-8FE5EBFD152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457200" y="-285652"/>
            <a:ext cx="12856069" cy="757683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D7905721-4A05-C1B3-9952-8B578834C87C}"/>
              </a:ext>
            </a:extLst>
          </p:cNvPr>
          <p:cNvSpPr txBox="1"/>
          <p:nvPr/>
        </p:nvSpPr>
        <p:spPr>
          <a:xfrm>
            <a:off x="4679605" y="1057380"/>
            <a:ext cx="6638174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All the color palettes are stored in </a:t>
            </a:r>
            <a:r>
              <a:rPr lang="en-US" sz="4000" b="1" dirty="0">
                <a:solidFill>
                  <a:srgbClr val="FF0000"/>
                </a:solidFill>
              </a:rPr>
              <a:t>CSS variables </a:t>
            </a:r>
            <a:r>
              <a:rPr lang="en-US" sz="4000" b="1" dirty="0">
                <a:solidFill>
                  <a:schemeClr val="bg1"/>
                </a:solidFill>
              </a:rPr>
              <a:t>to toggle dark/light mode</a:t>
            </a:r>
          </a:p>
        </p:txBody>
      </p:sp>
    </p:spTree>
    <p:extLst>
      <p:ext uri="{BB962C8B-B14F-4D97-AF65-F5344CB8AC3E}">
        <p14:creationId xmlns:p14="http://schemas.microsoft.com/office/powerpoint/2010/main" val="353763692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7905721-4A05-C1B3-9952-8B578834C87C}"/>
              </a:ext>
            </a:extLst>
          </p:cNvPr>
          <p:cNvSpPr txBox="1"/>
          <p:nvPr/>
        </p:nvSpPr>
        <p:spPr>
          <a:xfrm>
            <a:off x="2085802" y="2767280"/>
            <a:ext cx="8020395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/>
              <a:t>Reusable Modal message in JS. Using  </a:t>
            </a:r>
            <a:r>
              <a:rPr lang="en-US" sz="4000" b="1" dirty="0" err="1"/>
              <a:t>document.createElement</a:t>
            </a:r>
            <a:endParaRPr lang="en-US" sz="4000" b="1" dirty="0"/>
          </a:p>
        </p:txBody>
      </p:sp>
    </p:spTree>
    <p:extLst>
      <p:ext uri="{BB962C8B-B14F-4D97-AF65-F5344CB8AC3E}">
        <p14:creationId xmlns:p14="http://schemas.microsoft.com/office/powerpoint/2010/main" val="29591780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7905721-4A05-C1B3-9952-8B578834C87C}"/>
              </a:ext>
            </a:extLst>
          </p:cNvPr>
          <p:cNvSpPr txBox="1"/>
          <p:nvPr/>
        </p:nvSpPr>
        <p:spPr>
          <a:xfrm>
            <a:off x="832023" y="2459504"/>
            <a:ext cx="10527954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/>
              <a:t>All lists or other elements that display data should have </a:t>
            </a:r>
            <a:r>
              <a:rPr lang="en-US" sz="4000" b="1" dirty="0">
                <a:solidFill>
                  <a:srgbClr val="C00000"/>
                </a:solidFill>
              </a:rPr>
              <a:t>default CSS Class </a:t>
            </a:r>
            <a:r>
              <a:rPr lang="en-US" sz="4000" b="1" dirty="0"/>
              <a:t>to toggle the display when there is no content.</a:t>
            </a:r>
            <a:endParaRPr lang="en-US" sz="4000" b="1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5681453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0" y="0"/>
            <a:ext cx="227584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landingPage.html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2B4939D4-239C-5B9C-6BE9-1DAD39EEA367}"/>
              </a:ext>
            </a:extLst>
          </p:cNvPr>
          <p:cNvSpPr/>
          <p:nvPr/>
        </p:nvSpPr>
        <p:spPr>
          <a:xfrm>
            <a:off x="345440" y="600165"/>
            <a:ext cx="5334000" cy="1794450"/>
          </a:xfrm>
          <a:prstGeom prst="round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nav-bar{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logoBtn</a:t>
            </a:r>
            <a:r>
              <a:rPr lang="en-US" sz="2000" b="1" dirty="0"/>
              <a:t> : (</a:t>
            </a:r>
            <a:r>
              <a:rPr lang="en-US" sz="2000" b="1" dirty="0" err="1"/>
              <a:t>refreshPage</a:t>
            </a:r>
            <a:r>
              <a:rPr lang="en-US" sz="2000" b="1" dirty="0"/>
              <a:t>());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registerBtn</a:t>
            </a:r>
            <a:r>
              <a:rPr lang="en-US" sz="2000" b="1" dirty="0"/>
              <a:t> : (register.html);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loginBtn</a:t>
            </a:r>
            <a:r>
              <a:rPr lang="en-US" sz="2000" b="1" dirty="0"/>
              <a:t> : (login.html);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Dark/light mode toggle</a:t>
            </a:r>
          </a:p>
          <a:p>
            <a:r>
              <a:rPr lang="en-US" sz="2000" b="1" dirty="0"/>
              <a:t>}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A4BE1C19-D813-8FAA-B450-73719B13AC10}"/>
              </a:ext>
            </a:extLst>
          </p:cNvPr>
          <p:cNvSpPr/>
          <p:nvPr/>
        </p:nvSpPr>
        <p:spPr>
          <a:xfrm>
            <a:off x="6096000" y="247709"/>
            <a:ext cx="5750560" cy="2938835"/>
          </a:xfrm>
          <a:prstGeom prst="roundRect">
            <a:avLst>
              <a:gd name="adj" fmla="val 10385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body{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Business Seasonal Editable Text (Title, Content, </a:t>
            </a:r>
            <a:r>
              <a:rPr lang="en-US" sz="2000" b="1" dirty="0" err="1"/>
              <a:t>bgImage</a:t>
            </a:r>
            <a:r>
              <a:rPr lang="en-US" sz="2000" b="1" dirty="0"/>
              <a:t>),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Editable Featured Properties (6 properties),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Offers,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Total of bookings (“324 days of booked dates”)</a:t>
            </a:r>
          </a:p>
          <a:p>
            <a:r>
              <a:rPr lang="en-US" sz="2000" b="1" dirty="0"/>
              <a:t>}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A65FA8A9-E269-FD52-5DFC-194DB95495BC}"/>
              </a:ext>
            </a:extLst>
          </p:cNvPr>
          <p:cNvSpPr/>
          <p:nvPr/>
        </p:nvSpPr>
        <p:spPr>
          <a:xfrm>
            <a:off x="345440" y="4112491"/>
            <a:ext cx="6004560" cy="2099250"/>
          </a:xfrm>
          <a:prstGeom prst="round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Footer{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short summarization (w/ pics if possible)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links {}</a:t>
            </a:r>
          </a:p>
          <a:p>
            <a:r>
              <a:rPr lang="en-US" sz="2000" b="1" dirty="0"/>
              <a:t>}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CA950961-4CF3-ED43-2B52-42AE2D719B45}"/>
              </a:ext>
            </a:extLst>
          </p:cNvPr>
          <p:cNvSpPr/>
          <p:nvPr/>
        </p:nvSpPr>
        <p:spPr>
          <a:xfrm>
            <a:off x="6766560" y="3793057"/>
            <a:ext cx="4328160" cy="2707640"/>
          </a:xfrm>
          <a:prstGeom prst="roundRect">
            <a:avLst>
              <a:gd name="adj" fmla="val 9503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links{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aboutUs.html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termsPolicy.html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eula.html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contacts (email, number)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Social media links</a:t>
            </a:r>
          </a:p>
          <a:p>
            <a:r>
              <a:rPr lang="en-US" sz="2000" b="1" dirty="0"/>
              <a:t>}</a:t>
            </a:r>
          </a:p>
          <a:p>
            <a:endParaRPr lang="en-US" sz="2000" b="1" dirty="0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8E67CAA7-8409-7C32-A202-C2E016CD8576}"/>
              </a:ext>
            </a:extLst>
          </p:cNvPr>
          <p:cNvCxnSpPr>
            <a:cxnSpLocks/>
          </p:cNvCxnSpPr>
          <p:nvPr/>
        </p:nvCxnSpPr>
        <p:spPr>
          <a:xfrm>
            <a:off x="2072640" y="5326611"/>
            <a:ext cx="4937760" cy="172720"/>
          </a:xfrm>
          <a:prstGeom prst="line">
            <a:avLst/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0560655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0" y="0"/>
            <a:ext cx="227584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register.html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2B4939D4-239C-5B9C-6BE9-1DAD39EEA367}"/>
              </a:ext>
            </a:extLst>
          </p:cNvPr>
          <p:cNvSpPr/>
          <p:nvPr/>
        </p:nvSpPr>
        <p:spPr>
          <a:xfrm>
            <a:off x="233680" y="539205"/>
            <a:ext cx="5334000" cy="1614715"/>
          </a:xfrm>
          <a:prstGeom prst="round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nav-bar{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logoBtn</a:t>
            </a:r>
            <a:r>
              <a:rPr lang="en-US" sz="2000" b="1" dirty="0"/>
              <a:t> : (</a:t>
            </a:r>
            <a:r>
              <a:rPr lang="en-US" sz="2000" b="1" dirty="0" err="1"/>
              <a:t>refreshPage</a:t>
            </a:r>
            <a:r>
              <a:rPr lang="en-US" sz="2000" b="1" dirty="0"/>
              <a:t>());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loginBtn</a:t>
            </a:r>
            <a:r>
              <a:rPr lang="en-US" sz="2000" b="1" dirty="0"/>
              <a:t> : (login.html);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Dark/light mode toggle</a:t>
            </a:r>
          </a:p>
          <a:p>
            <a:r>
              <a:rPr lang="en-US" sz="2000" b="1" dirty="0"/>
              <a:t>}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25DBB9F1-BD8D-42BE-ED68-07E8DD696260}"/>
              </a:ext>
            </a:extLst>
          </p:cNvPr>
          <p:cNvSpPr/>
          <p:nvPr/>
        </p:nvSpPr>
        <p:spPr>
          <a:xfrm>
            <a:off x="233680" y="2398122"/>
            <a:ext cx="5638800" cy="1614715"/>
          </a:xfrm>
          <a:prstGeom prst="round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body{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Inputs{}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registerBtn</a:t>
            </a:r>
            <a:r>
              <a:rPr lang="en-US" sz="2000" b="1" dirty="0"/>
              <a:t> : </a:t>
            </a:r>
            <a:r>
              <a:rPr lang="en-US" sz="2000" b="1" dirty="0" err="1"/>
              <a:t>emailOTPModal</a:t>
            </a:r>
            <a:r>
              <a:rPr lang="en-US" sz="2000" b="1" dirty="0"/>
              <a:t>{}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alreadyHaveAccountBtn</a:t>
            </a:r>
            <a:r>
              <a:rPr lang="en-US" sz="2000" b="1" dirty="0"/>
              <a:t> : (login.html);</a:t>
            </a:r>
          </a:p>
          <a:p>
            <a:r>
              <a:rPr lang="en-US" sz="2000" b="1" dirty="0"/>
              <a:t>}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FE5FE8A8-6542-B18D-C461-EA7BA7351C31}"/>
              </a:ext>
            </a:extLst>
          </p:cNvPr>
          <p:cNvSpPr/>
          <p:nvPr/>
        </p:nvSpPr>
        <p:spPr>
          <a:xfrm>
            <a:off x="5943600" y="142602"/>
            <a:ext cx="6156960" cy="4022635"/>
          </a:xfrm>
          <a:prstGeom prst="round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Inputs{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Input = Email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Input = </a:t>
            </a:r>
            <a:r>
              <a:rPr lang="en-US" sz="2000" b="1" dirty="0" err="1"/>
              <a:t>PhoneNumber</a:t>
            </a:r>
            <a:endParaRPr lang="en-US" sz="2000" b="1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Input = Password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Input = Confirm Password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Input = </a:t>
            </a:r>
            <a:r>
              <a:rPr lang="en-US" sz="2000" b="1" dirty="0" err="1"/>
              <a:t>Fname</a:t>
            </a:r>
            <a:r>
              <a:rPr lang="en-US" sz="2000" b="1" dirty="0"/>
              <a:t> (Auto </a:t>
            </a:r>
            <a:r>
              <a:rPr lang="en-US" sz="2000" b="1" dirty="0" err="1"/>
              <a:t>capslock</a:t>
            </a:r>
            <a:r>
              <a:rPr lang="en-US" sz="2000" b="1" dirty="0"/>
              <a:t> first letter)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Input = M-initial (Auto </a:t>
            </a:r>
            <a:r>
              <a:rPr lang="en-US" sz="2000" b="1" dirty="0" err="1"/>
              <a:t>capslock</a:t>
            </a:r>
            <a:r>
              <a:rPr lang="en-US" sz="2000" b="1" dirty="0"/>
              <a:t> first letter)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Input = </a:t>
            </a:r>
            <a:r>
              <a:rPr lang="en-US" sz="2000" b="1" dirty="0" err="1"/>
              <a:t>LastName</a:t>
            </a:r>
            <a:r>
              <a:rPr lang="en-US" sz="2000" b="1" dirty="0"/>
              <a:t> (Auto </a:t>
            </a:r>
            <a:r>
              <a:rPr lang="en-US" sz="2000" b="1" dirty="0" err="1"/>
              <a:t>capslock</a:t>
            </a:r>
            <a:r>
              <a:rPr lang="en-US" sz="2000" b="1" dirty="0"/>
              <a:t> first letter)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Input = Sex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Input = </a:t>
            </a:r>
            <a:r>
              <a:rPr lang="en-US" sz="2000" b="1" dirty="0" err="1"/>
              <a:t>Bday</a:t>
            </a:r>
            <a:endParaRPr lang="en-US" sz="2000" b="1" dirty="0"/>
          </a:p>
          <a:p>
            <a:r>
              <a:rPr lang="en-US" sz="2000" b="1" dirty="0"/>
              <a:t>}</a:t>
            </a:r>
          </a:p>
        </p:txBody>
      </p:sp>
      <p:cxnSp>
        <p:nvCxnSpPr>
          <p:cNvPr id="16" name="Connector: Curved 15">
            <a:extLst>
              <a:ext uri="{FF2B5EF4-FFF2-40B4-BE49-F238E27FC236}">
                <a16:creationId xmlns:a16="http://schemas.microsoft.com/office/drawing/2014/main" id="{1EF98B44-5A6A-EC52-32B8-2990FE62FCF5}"/>
              </a:ext>
            </a:extLst>
          </p:cNvPr>
          <p:cNvCxnSpPr/>
          <p:nvPr/>
        </p:nvCxnSpPr>
        <p:spPr>
          <a:xfrm flipV="1">
            <a:off x="2153920" y="640080"/>
            <a:ext cx="4064000" cy="2286000"/>
          </a:xfrm>
          <a:prstGeom prst="curvedConnector3">
            <a:avLst>
              <a:gd name="adj1" fmla="val 71500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3A3C2C3D-5226-4CAC-ED51-4293C3C0C2D0}"/>
              </a:ext>
            </a:extLst>
          </p:cNvPr>
          <p:cNvSpPr/>
          <p:nvPr/>
        </p:nvSpPr>
        <p:spPr>
          <a:xfrm>
            <a:off x="233680" y="4455160"/>
            <a:ext cx="4439920" cy="2006599"/>
          </a:xfrm>
          <a:prstGeom prst="round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 err="1"/>
              <a:t>emailOTPModal</a:t>
            </a:r>
            <a:r>
              <a:rPr lang="en-US" sz="2000" b="1" dirty="0"/>
              <a:t>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Input = </a:t>
            </a:r>
            <a:r>
              <a:rPr lang="en-US" sz="2000" b="1" dirty="0" err="1"/>
              <a:t>otpInput</a:t>
            </a:r>
            <a:endParaRPr lang="en-US" sz="2000" b="1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verifyBtn</a:t>
            </a:r>
            <a:r>
              <a:rPr lang="en-US" sz="2000" b="1" dirty="0"/>
              <a:t> : </a:t>
            </a:r>
            <a:r>
              <a:rPr lang="en-US" sz="2000" b="1" dirty="0" err="1"/>
              <a:t>messageModal</a:t>
            </a:r>
            <a:r>
              <a:rPr lang="en-US" sz="2000" b="1" dirty="0"/>
              <a:t>{}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Timer (2mins before resend)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resendBtn</a:t>
            </a:r>
            <a:endParaRPr lang="en-US" sz="2000" b="1" dirty="0"/>
          </a:p>
          <a:p>
            <a:r>
              <a:rPr lang="en-US" sz="2000" b="1" dirty="0"/>
              <a:t>}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D64E0CE1-6802-5873-4E54-C578CDA70AFA}"/>
              </a:ext>
            </a:extLst>
          </p:cNvPr>
          <p:cNvSpPr/>
          <p:nvPr/>
        </p:nvSpPr>
        <p:spPr>
          <a:xfrm>
            <a:off x="4897120" y="4455160"/>
            <a:ext cx="7061200" cy="2006599"/>
          </a:xfrm>
          <a:prstGeom prst="roundRect">
            <a:avLst>
              <a:gd name="adj" fmla="val 9763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 err="1"/>
              <a:t>messageModal</a:t>
            </a:r>
            <a:r>
              <a:rPr lang="en-US" sz="2000" b="1" dirty="0"/>
              <a:t>{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ifVerified</a:t>
            </a:r>
            <a:r>
              <a:rPr lang="en-US" sz="2000" b="1" dirty="0"/>
              <a:t>{Success message &gt; </a:t>
            </a:r>
            <a:r>
              <a:rPr lang="en-US" sz="2000" b="1" dirty="0" err="1"/>
              <a:t>Continuebtn</a:t>
            </a:r>
            <a:r>
              <a:rPr lang="en-US" sz="2000" b="1" dirty="0"/>
              <a:t>(API-redirection) </a:t>
            </a:r>
            <a:r>
              <a:rPr lang="en-US" sz="2000" b="1" dirty="0">
                <a:solidFill>
                  <a:srgbClr val="FF0000"/>
                </a:solidFill>
              </a:rPr>
              <a:t>or</a:t>
            </a:r>
            <a:r>
              <a:rPr lang="en-US" sz="2000" b="1" dirty="0"/>
              <a:t> </a:t>
            </a:r>
            <a:r>
              <a:rPr lang="en-US" sz="2000" b="1" dirty="0" err="1"/>
              <a:t>verifyForLaterBtn</a:t>
            </a:r>
            <a:r>
              <a:rPr lang="en-US" sz="2000" b="1" dirty="0"/>
              <a:t>(</a:t>
            </a:r>
            <a:r>
              <a:rPr lang="en-US" sz="2000" b="1" dirty="0" err="1"/>
              <a:t>GoToLogin</a:t>
            </a:r>
            <a:r>
              <a:rPr lang="en-US" sz="2000" b="1" dirty="0"/>
              <a:t>)}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000" b="1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else{Error message &gt; </a:t>
            </a:r>
            <a:r>
              <a:rPr lang="en-US" sz="2000" b="1" dirty="0" err="1"/>
              <a:t>closeMessageModal</a:t>
            </a:r>
            <a:r>
              <a:rPr lang="en-US" sz="2000" b="1" dirty="0"/>
              <a:t>}</a:t>
            </a:r>
          </a:p>
          <a:p>
            <a:r>
              <a:rPr lang="en-US" sz="2000" b="1" dirty="0"/>
              <a:t>}</a:t>
            </a:r>
          </a:p>
        </p:txBody>
      </p:sp>
      <p:cxnSp>
        <p:nvCxnSpPr>
          <p:cNvPr id="20" name="Connector: Curved 19">
            <a:extLst>
              <a:ext uri="{FF2B5EF4-FFF2-40B4-BE49-F238E27FC236}">
                <a16:creationId xmlns:a16="http://schemas.microsoft.com/office/drawing/2014/main" id="{536E5F9B-7DD1-7184-2D46-C56D677DF8E4}"/>
              </a:ext>
            </a:extLst>
          </p:cNvPr>
          <p:cNvCxnSpPr>
            <a:cxnSpLocks/>
          </p:cNvCxnSpPr>
          <p:nvPr/>
        </p:nvCxnSpPr>
        <p:spPr>
          <a:xfrm flipV="1">
            <a:off x="4368800" y="4836160"/>
            <a:ext cx="629920" cy="447040"/>
          </a:xfrm>
          <a:prstGeom prst="curvedConnector3">
            <a:avLst>
              <a:gd name="adj1" fmla="val 50000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5" name="Connector: Curved 4">
            <a:extLst>
              <a:ext uri="{FF2B5EF4-FFF2-40B4-BE49-F238E27FC236}">
                <a16:creationId xmlns:a16="http://schemas.microsoft.com/office/drawing/2014/main" id="{1D5BBE9A-8A86-5CDE-9D4D-E222B4AB3CC9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-193963" y="3740728"/>
            <a:ext cx="1551709" cy="461818"/>
          </a:xfrm>
          <a:prstGeom prst="curvedConnector3">
            <a:avLst>
              <a:gd name="adj1" fmla="val 50000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3955892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0" y="0"/>
            <a:ext cx="227584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login.html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2B4939D4-239C-5B9C-6BE9-1DAD39EEA367}"/>
              </a:ext>
            </a:extLst>
          </p:cNvPr>
          <p:cNvSpPr/>
          <p:nvPr/>
        </p:nvSpPr>
        <p:spPr>
          <a:xfrm>
            <a:off x="233680" y="539205"/>
            <a:ext cx="5334000" cy="1614715"/>
          </a:xfrm>
          <a:prstGeom prst="round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nav-bar{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logoBtn</a:t>
            </a:r>
            <a:r>
              <a:rPr lang="en-US" sz="2000" b="1" dirty="0"/>
              <a:t> : (</a:t>
            </a:r>
            <a:r>
              <a:rPr lang="en-US" sz="2000" b="1" dirty="0" err="1"/>
              <a:t>refreshPage</a:t>
            </a:r>
            <a:r>
              <a:rPr lang="en-US" sz="2000" b="1" dirty="0"/>
              <a:t>());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registerBtn</a:t>
            </a:r>
            <a:r>
              <a:rPr lang="en-US" sz="2000" b="1" dirty="0"/>
              <a:t> : (register.html);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Dark/light mode toggle</a:t>
            </a:r>
          </a:p>
          <a:p>
            <a:r>
              <a:rPr lang="en-US" sz="2000" b="1" dirty="0"/>
              <a:t>}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25DBB9F1-BD8D-42BE-ED68-07E8DD696260}"/>
              </a:ext>
            </a:extLst>
          </p:cNvPr>
          <p:cNvSpPr/>
          <p:nvPr/>
        </p:nvSpPr>
        <p:spPr>
          <a:xfrm>
            <a:off x="233680" y="2293015"/>
            <a:ext cx="5598160" cy="1980838"/>
          </a:xfrm>
          <a:prstGeom prst="round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body{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Inputs{email, password},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loginBtn</a:t>
            </a:r>
            <a:r>
              <a:rPr lang="en-US" sz="2000" b="1" dirty="0"/>
              <a:t> (auth) or </a:t>
            </a:r>
            <a:r>
              <a:rPr lang="en-US" sz="2000" b="1" dirty="0" err="1"/>
              <a:t>messageModal</a:t>
            </a:r>
            <a:r>
              <a:rPr lang="en-US" sz="2000" b="1" dirty="0"/>
              <a:t> (err)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dontHaveAnAccYet</a:t>
            </a:r>
            <a:r>
              <a:rPr lang="en-US" sz="2000" b="1" dirty="0"/>
              <a:t> : (register.html)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forgotBtn</a:t>
            </a:r>
            <a:r>
              <a:rPr lang="en-US" sz="2000" b="1" dirty="0"/>
              <a:t> : </a:t>
            </a:r>
            <a:r>
              <a:rPr lang="en-US" sz="2000" b="1" dirty="0" err="1"/>
              <a:t>emailOTPModal</a:t>
            </a:r>
            <a:endParaRPr lang="en-US" sz="2000" b="1" dirty="0"/>
          </a:p>
          <a:p>
            <a:r>
              <a:rPr lang="en-US" sz="2000" b="1" dirty="0"/>
              <a:t>}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71F1628E-D115-70B8-4E4C-64AFABEF7010}"/>
              </a:ext>
            </a:extLst>
          </p:cNvPr>
          <p:cNvSpPr/>
          <p:nvPr/>
        </p:nvSpPr>
        <p:spPr>
          <a:xfrm>
            <a:off x="6360162" y="556018"/>
            <a:ext cx="4947918" cy="1980838"/>
          </a:xfrm>
          <a:prstGeom prst="round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 err="1"/>
              <a:t>emailOTPModal</a:t>
            </a:r>
            <a:r>
              <a:rPr lang="en-US" sz="2000" b="1" dirty="0"/>
              <a:t>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Input(email)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sendOTPBtn</a:t>
            </a:r>
            <a:r>
              <a:rPr lang="en-US" sz="2000" b="1" dirty="0"/>
              <a:t> : </a:t>
            </a:r>
            <a:r>
              <a:rPr lang="en-US" sz="2000" b="1" dirty="0" err="1"/>
              <a:t>verifyOTPModal</a:t>
            </a:r>
            <a:r>
              <a:rPr lang="en-US" sz="2000" b="1" dirty="0"/>
              <a:t>{}</a:t>
            </a:r>
          </a:p>
          <a:p>
            <a:r>
              <a:rPr lang="en-US" sz="2000" b="1" dirty="0"/>
              <a:t>}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E69AC1CB-62BE-92E8-5A37-8226A512BA50}"/>
              </a:ext>
            </a:extLst>
          </p:cNvPr>
          <p:cNvSpPr/>
          <p:nvPr/>
        </p:nvSpPr>
        <p:spPr>
          <a:xfrm>
            <a:off x="1391920" y="4429096"/>
            <a:ext cx="10505440" cy="2065262"/>
          </a:xfrm>
          <a:prstGeom prst="round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 err="1"/>
              <a:t>verifyOTPModal</a:t>
            </a:r>
            <a:r>
              <a:rPr lang="en-US" sz="2000" b="1" dirty="0"/>
              <a:t>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OTP sent message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Input(code)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verifyOTPBtn</a:t>
            </a:r>
            <a:r>
              <a:rPr lang="en-US" sz="2000" b="1" dirty="0"/>
              <a:t> : false = </a:t>
            </a:r>
            <a:r>
              <a:rPr lang="en-US" sz="2000" b="1" dirty="0" err="1"/>
              <a:t>modalMessage</a:t>
            </a:r>
            <a:r>
              <a:rPr lang="en-US" sz="2000" b="1" dirty="0"/>
              <a:t>(err) ? true = forgotPassword.html</a:t>
            </a:r>
          </a:p>
          <a:p>
            <a:r>
              <a:rPr lang="en-US" sz="2000" b="1" dirty="0"/>
              <a:t>}</a:t>
            </a:r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7048C259-AA71-9C5F-F10D-74C63C05B678}"/>
              </a:ext>
            </a:extLst>
          </p:cNvPr>
          <p:cNvSpPr/>
          <p:nvPr/>
        </p:nvSpPr>
        <p:spPr>
          <a:xfrm>
            <a:off x="4358640" y="1178560"/>
            <a:ext cx="2164080" cy="2611181"/>
          </a:xfrm>
          <a:custGeom>
            <a:avLst/>
            <a:gdLst>
              <a:gd name="connsiteX0" fmla="*/ 0 w 2164080"/>
              <a:gd name="connsiteY0" fmla="*/ 2580640 h 2611181"/>
              <a:gd name="connsiteX1" fmla="*/ 50800 w 2164080"/>
              <a:gd name="connsiteY1" fmla="*/ 2590800 h 2611181"/>
              <a:gd name="connsiteX2" fmla="*/ 1026160 w 2164080"/>
              <a:gd name="connsiteY2" fmla="*/ 2550160 h 2611181"/>
              <a:gd name="connsiteX3" fmla="*/ 1229360 w 2164080"/>
              <a:gd name="connsiteY3" fmla="*/ 2438400 h 2611181"/>
              <a:gd name="connsiteX4" fmla="*/ 1351280 w 2164080"/>
              <a:gd name="connsiteY4" fmla="*/ 2346960 h 2611181"/>
              <a:gd name="connsiteX5" fmla="*/ 1422400 w 2164080"/>
              <a:gd name="connsiteY5" fmla="*/ 2214880 h 2611181"/>
              <a:gd name="connsiteX6" fmla="*/ 1452880 w 2164080"/>
              <a:gd name="connsiteY6" fmla="*/ 2174240 h 2611181"/>
              <a:gd name="connsiteX7" fmla="*/ 1544320 w 2164080"/>
              <a:gd name="connsiteY7" fmla="*/ 1960880 h 2611181"/>
              <a:gd name="connsiteX8" fmla="*/ 1696720 w 2164080"/>
              <a:gd name="connsiteY8" fmla="*/ 1615440 h 2611181"/>
              <a:gd name="connsiteX9" fmla="*/ 1788160 w 2164080"/>
              <a:gd name="connsiteY9" fmla="*/ 1361440 h 2611181"/>
              <a:gd name="connsiteX10" fmla="*/ 1818640 w 2164080"/>
              <a:gd name="connsiteY10" fmla="*/ 1168400 h 2611181"/>
              <a:gd name="connsiteX11" fmla="*/ 1838960 w 2164080"/>
              <a:gd name="connsiteY11" fmla="*/ 975360 h 2611181"/>
              <a:gd name="connsiteX12" fmla="*/ 1849120 w 2164080"/>
              <a:gd name="connsiteY12" fmla="*/ 904240 h 2611181"/>
              <a:gd name="connsiteX13" fmla="*/ 1899920 w 2164080"/>
              <a:gd name="connsiteY13" fmla="*/ 721360 h 2611181"/>
              <a:gd name="connsiteX14" fmla="*/ 1930400 w 2164080"/>
              <a:gd name="connsiteY14" fmla="*/ 558800 h 2611181"/>
              <a:gd name="connsiteX15" fmla="*/ 1960880 w 2164080"/>
              <a:gd name="connsiteY15" fmla="*/ 487680 h 2611181"/>
              <a:gd name="connsiteX16" fmla="*/ 1981200 w 2164080"/>
              <a:gd name="connsiteY16" fmla="*/ 426720 h 2611181"/>
              <a:gd name="connsiteX17" fmla="*/ 2011680 w 2164080"/>
              <a:gd name="connsiteY17" fmla="*/ 355600 h 2611181"/>
              <a:gd name="connsiteX18" fmla="*/ 2103120 w 2164080"/>
              <a:gd name="connsiteY18" fmla="*/ 111760 h 2611181"/>
              <a:gd name="connsiteX19" fmla="*/ 2164080 w 2164080"/>
              <a:gd name="connsiteY19" fmla="*/ 0 h 26111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2164080" h="2611181">
                <a:moveTo>
                  <a:pt x="0" y="2580640"/>
                </a:moveTo>
                <a:cubicBezTo>
                  <a:pt x="16933" y="2584027"/>
                  <a:pt x="33588" y="2589404"/>
                  <a:pt x="50800" y="2590800"/>
                </a:cubicBezTo>
                <a:cubicBezTo>
                  <a:pt x="535547" y="2630104"/>
                  <a:pt x="383381" y="2610421"/>
                  <a:pt x="1026160" y="2550160"/>
                </a:cubicBezTo>
                <a:cubicBezTo>
                  <a:pt x="1105246" y="2510617"/>
                  <a:pt x="1155622" y="2488676"/>
                  <a:pt x="1229360" y="2438400"/>
                </a:cubicBezTo>
                <a:cubicBezTo>
                  <a:pt x="1271332" y="2409782"/>
                  <a:pt x="1310640" y="2377440"/>
                  <a:pt x="1351280" y="2346960"/>
                </a:cubicBezTo>
                <a:cubicBezTo>
                  <a:pt x="1374987" y="2302933"/>
                  <a:pt x="1397047" y="2257980"/>
                  <a:pt x="1422400" y="2214880"/>
                </a:cubicBezTo>
                <a:cubicBezTo>
                  <a:pt x="1430986" y="2200285"/>
                  <a:pt x="1445552" y="2189506"/>
                  <a:pt x="1452880" y="2174240"/>
                </a:cubicBezTo>
                <a:cubicBezTo>
                  <a:pt x="1486363" y="2104484"/>
                  <a:pt x="1509716" y="2030087"/>
                  <a:pt x="1544320" y="1960880"/>
                </a:cubicBezTo>
                <a:cubicBezTo>
                  <a:pt x="1683858" y="1681804"/>
                  <a:pt x="1592964" y="1879545"/>
                  <a:pt x="1696720" y="1615440"/>
                </a:cubicBezTo>
                <a:cubicBezTo>
                  <a:pt x="1736749" y="1513547"/>
                  <a:pt x="1764378" y="1470159"/>
                  <a:pt x="1788160" y="1361440"/>
                </a:cubicBezTo>
                <a:cubicBezTo>
                  <a:pt x="1802081" y="1297801"/>
                  <a:pt x="1811820" y="1233186"/>
                  <a:pt x="1818640" y="1168400"/>
                </a:cubicBezTo>
                <a:cubicBezTo>
                  <a:pt x="1825413" y="1104053"/>
                  <a:pt x="1831544" y="1039636"/>
                  <a:pt x="1838960" y="975360"/>
                </a:cubicBezTo>
                <a:cubicBezTo>
                  <a:pt x="1841705" y="951570"/>
                  <a:pt x="1843531" y="927526"/>
                  <a:pt x="1849120" y="904240"/>
                </a:cubicBezTo>
                <a:cubicBezTo>
                  <a:pt x="1863885" y="842719"/>
                  <a:pt x="1885429" y="782946"/>
                  <a:pt x="1899920" y="721360"/>
                </a:cubicBezTo>
                <a:cubicBezTo>
                  <a:pt x="1912547" y="667695"/>
                  <a:pt x="1916484" y="612146"/>
                  <a:pt x="1930400" y="558800"/>
                </a:cubicBezTo>
                <a:cubicBezTo>
                  <a:pt x="1936910" y="533843"/>
                  <a:pt x="1951621" y="511753"/>
                  <a:pt x="1960880" y="487680"/>
                </a:cubicBezTo>
                <a:cubicBezTo>
                  <a:pt x="1968569" y="467689"/>
                  <a:pt x="1973511" y="446711"/>
                  <a:pt x="1981200" y="426720"/>
                </a:cubicBezTo>
                <a:cubicBezTo>
                  <a:pt x="1990459" y="402647"/>
                  <a:pt x="2002369" y="379653"/>
                  <a:pt x="2011680" y="355600"/>
                </a:cubicBezTo>
                <a:cubicBezTo>
                  <a:pt x="2043017" y="274646"/>
                  <a:pt x="2060052" y="187130"/>
                  <a:pt x="2103120" y="111760"/>
                </a:cubicBezTo>
                <a:cubicBezTo>
                  <a:pt x="2151274" y="27490"/>
                  <a:pt x="2131549" y="65062"/>
                  <a:pt x="2164080" y="0"/>
                </a:cubicBezTo>
              </a:path>
            </a:pathLst>
          </a:cu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B4946BC5-1124-CE91-551F-3AFC9BC933E4}"/>
              </a:ext>
            </a:extLst>
          </p:cNvPr>
          <p:cNvSpPr/>
          <p:nvPr/>
        </p:nvSpPr>
        <p:spPr>
          <a:xfrm>
            <a:off x="3505200" y="1757680"/>
            <a:ext cx="7430204" cy="3088640"/>
          </a:xfrm>
          <a:custGeom>
            <a:avLst/>
            <a:gdLst>
              <a:gd name="connsiteX0" fmla="*/ 7426960 w 7430204"/>
              <a:gd name="connsiteY0" fmla="*/ 0 h 3088640"/>
              <a:gd name="connsiteX1" fmla="*/ 7416800 w 7430204"/>
              <a:gd name="connsiteY1" fmla="*/ 314960 h 3088640"/>
              <a:gd name="connsiteX2" fmla="*/ 7315200 w 7430204"/>
              <a:gd name="connsiteY2" fmla="*/ 457200 h 3088640"/>
              <a:gd name="connsiteX3" fmla="*/ 6969760 w 7430204"/>
              <a:gd name="connsiteY3" fmla="*/ 863600 h 3088640"/>
              <a:gd name="connsiteX4" fmla="*/ 6522720 w 7430204"/>
              <a:gd name="connsiteY4" fmla="*/ 1198880 h 3088640"/>
              <a:gd name="connsiteX5" fmla="*/ 5638800 w 7430204"/>
              <a:gd name="connsiteY5" fmla="*/ 1656080 h 3088640"/>
              <a:gd name="connsiteX6" fmla="*/ 4754880 w 7430204"/>
              <a:gd name="connsiteY6" fmla="*/ 1991360 h 3088640"/>
              <a:gd name="connsiteX7" fmla="*/ 3850640 w 7430204"/>
              <a:gd name="connsiteY7" fmla="*/ 2235200 h 3088640"/>
              <a:gd name="connsiteX8" fmla="*/ 3281680 w 7430204"/>
              <a:gd name="connsiteY8" fmla="*/ 2387600 h 3088640"/>
              <a:gd name="connsiteX9" fmla="*/ 2844800 w 7430204"/>
              <a:gd name="connsiteY9" fmla="*/ 2509520 h 3088640"/>
              <a:gd name="connsiteX10" fmla="*/ 2184400 w 7430204"/>
              <a:gd name="connsiteY10" fmla="*/ 2682240 h 3088640"/>
              <a:gd name="connsiteX11" fmla="*/ 1991360 w 7430204"/>
              <a:gd name="connsiteY11" fmla="*/ 2743200 h 3088640"/>
              <a:gd name="connsiteX12" fmla="*/ 1574800 w 7430204"/>
              <a:gd name="connsiteY12" fmla="*/ 2885440 h 3088640"/>
              <a:gd name="connsiteX13" fmla="*/ 1087120 w 7430204"/>
              <a:gd name="connsiteY13" fmla="*/ 3017520 h 3088640"/>
              <a:gd name="connsiteX14" fmla="*/ 904240 w 7430204"/>
              <a:gd name="connsiteY14" fmla="*/ 3058160 h 3088640"/>
              <a:gd name="connsiteX15" fmla="*/ 822960 w 7430204"/>
              <a:gd name="connsiteY15" fmla="*/ 3078480 h 3088640"/>
              <a:gd name="connsiteX16" fmla="*/ 701040 w 7430204"/>
              <a:gd name="connsiteY16" fmla="*/ 3088640 h 3088640"/>
              <a:gd name="connsiteX17" fmla="*/ 0 w 7430204"/>
              <a:gd name="connsiteY17" fmla="*/ 3058160 h 30886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7430204" h="3088640">
                <a:moveTo>
                  <a:pt x="7426960" y="0"/>
                </a:moveTo>
                <a:cubicBezTo>
                  <a:pt x="7423573" y="104987"/>
                  <a:pt x="7441742" y="212923"/>
                  <a:pt x="7416800" y="314960"/>
                </a:cubicBezTo>
                <a:cubicBezTo>
                  <a:pt x="7402964" y="371560"/>
                  <a:pt x="7352005" y="412030"/>
                  <a:pt x="7315200" y="457200"/>
                </a:cubicBezTo>
                <a:cubicBezTo>
                  <a:pt x="7202894" y="595031"/>
                  <a:pt x="7111994" y="756925"/>
                  <a:pt x="6969760" y="863600"/>
                </a:cubicBezTo>
                <a:cubicBezTo>
                  <a:pt x="6820747" y="975360"/>
                  <a:pt x="6680674" y="1100159"/>
                  <a:pt x="6522720" y="1198880"/>
                </a:cubicBezTo>
                <a:cubicBezTo>
                  <a:pt x="6194697" y="1403895"/>
                  <a:pt x="6078899" y="1489146"/>
                  <a:pt x="5638800" y="1656080"/>
                </a:cubicBezTo>
                <a:cubicBezTo>
                  <a:pt x="5344160" y="1767840"/>
                  <a:pt x="5059136" y="1909314"/>
                  <a:pt x="4754880" y="1991360"/>
                </a:cubicBezTo>
                <a:lnTo>
                  <a:pt x="3850640" y="2235200"/>
                </a:lnTo>
                <a:lnTo>
                  <a:pt x="3281680" y="2387600"/>
                </a:lnTo>
                <a:lnTo>
                  <a:pt x="2844800" y="2509520"/>
                </a:lnTo>
                <a:cubicBezTo>
                  <a:pt x="2624667" y="2567093"/>
                  <a:pt x="2401376" y="2613721"/>
                  <a:pt x="2184400" y="2682240"/>
                </a:cubicBezTo>
                <a:lnTo>
                  <a:pt x="1991360" y="2743200"/>
                </a:lnTo>
                <a:cubicBezTo>
                  <a:pt x="1852164" y="2789599"/>
                  <a:pt x="1716423" y="2847084"/>
                  <a:pt x="1574800" y="2885440"/>
                </a:cubicBezTo>
                <a:cubicBezTo>
                  <a:pt x="1412240" y="2929467"/>
                  <a:pt x="1251526" y="2980985"/>
                  <a:pt x="1087120" y="3017520"/>
                </a:cubicBezTo>
                <a:lnTo>
                  <a:pt x="904240" y="3058160"/>
                </a:lnTo>
                <a:cubicBezTo>
                  <a:pt x="877028" y="3064440"/>
                  <a:pt x="850578" y="3074337"/>
                  <a:pt x="822960" y="3078480"/>
                </a:cubicBezTo>
                <a:cubicBezTo>
                  <a:pt x="782630" y="3084529"/>
                  <a:pt x="741680" y="3085253"/>
                  <a:pt x="701040" y="3088640"/>
                </a:cubicBezTo>
                <a:cubicBezTo>
                  <a:pt x="223906" y="3048879"/>
                  <a:pt x="457623" y="3058160"/>
                  <a:pt x="0" y="3058160"/>
                </a:cubicBezTo>
              </a:path>
            </a:pathLst>
          </a:cu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608466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0" y="0"/>
            <a:ext cx="27432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forgotPassword.html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2B4939D4-239C-5B9C-6BE9-1DAD39EEA367}"/>
              </a:ext>
            </a:extLst>
          </p:cNvPr>
          <p:cNvSpPr/>
          <p:nvPr/>
        </p:nvSpPr>
        <p:spPr>
          <a:xfrm>
            <a:off x="233680" y="539205"/>
            <a:ext cx="5334000" cy="1614715"/>
          </a:xfrm>
          <a:prstGeom prst="round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nav-bar{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logoBtn</a:t>
            </a:r>
            <a:r>
              <a:rPr lang="en-US" sz="2000" b="1" dirty="0"/>
              <a:t> : (</a:t>
            </a:r>
            <a:r>
              <a:rPr lang="en-US" sz="2000" b="1" dirty="0" err="1"/>
              <a:t>refreshPage</a:t>
            </a:r>
            <a:r>
              <a:rPr lang="en-US" sz="2000" b="1" dirty="0"/>
              <a:t>());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registerBtn</a:t>
            </a:r>
            <a:r>
              <a:rPr lang="en-US" sz="2000" b="1" dirty="0"/>
              <a:t> : (register.html);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loginBtn</a:t>
            </a:r>
            <a:r>
              <a:rPr lang="en-US" sz="2000" b="1" dirty="0"/>
              <a:t> : (login.html);</a:t>
            </a:r>
          </a:p>
          <a:p>
            <a:r>
              <a:rPr lang="en-US" sz="2000" b="1" dirty="0"/>
              <a:t>}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25DBB9F1-BD8D-42BE-ED68-07E8DD696260}"/>
              </a:ext>
            </a:extLst>
          </p:cNvPr>
          <p:cNvSpPr/>
          <p:nvPr/>
        </p:nvSpPr>
        <p:spPr>
          <a:xfrm>
            <a:off x="233680" y="2293015"/>
            <a:ext cx="6654800" cy="1980838"/>
          </a:xfrm>
          <a:prstGeom prst="round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body{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backBtn</a:t>
            </a:r>
            <a:r>
              <a:rPr lang="en-US" sz="2000" b="1" dirty="0"/>
              <a:t> : (login.html)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text : “change pass for john doe”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Inputs{},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changePassword</a:t>
            </a:r>
            <a:r>
              <a:rPr lang="en-US" sz="2000" b="1" dirty="0"/>
              <a:t> (auth) or </a:t>
            </a:r>
            <a:r>
              <a:rPr lang="en-US" sz="2000" b="1" dirty="0" err="1"/>
              <a:t>messageModal</a:t>
            </a:r>
            <a:r>
              <a:rPr lang="en-US" sz="2000" b="1" dirty="0"/>
              <a:t> (err)</a:t>
            </a:r>
          </a:p>
          <a:p>
            <a:r>
              <a:rPr lang="en-US" sz="2000" b="1" dirty="0"/>
              <a:t>}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45B83262-B948-FC67-FA7B-956AC65F088C}"/>
              </a:ext>
            </a:extLst>
          </p:cNvPr>
          <p:cNvSpPr/>
          <p:nvPr/>
        </p:nvSpPr>
        <p:spPr>
          <a:xfrm>
            <a:off x="233680" y="4639975"/>
            <a:ext cx="7447280" cy="1980838"/>
          </a:xfrm>
          <a:prstGeom prst="round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If (true){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messageModal</a:t>
            </a:r>
            <a:r>
              <a:rPr lang="en-US" sz="2000" b="1" dirty="0"/>
              <a:t> (Password Updated Successfully)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continueBtn</a:t>
            </a:r>
            <a:r>
              <a:rPr lang="en-US" sz="2000" b="1" dirty="0"/>
              <a:t> : (login.html)</a:t>
            </a:r>
          </a:p>
          <a:p>
            <a:r>
              <a:rPr lang="en-US" sz="2000" b="1" dirty="0"/>
              <a:t>}</a:t>
            </a:r>
          </a:p>
        </p:txBody>
      </p:sp>
      <p:cxnSp>
        <p:nvCxnSpPr>
          <p:cNvPr id="9" name="Connector: Curved 8">
            <a:extLst>
              <a:ext uri="{FF2B5EF4-FFF2-40B4-BE49-F238E27FC236}">
                <a16:creationId xmlns:a16="http://schemas.microsoft.com/office/drawing/2014/main" id="{149D236F-336B-E2BB-6854-B27B38D5A3B9}"/>
              </a:ext>
            </a:extLst>
          </p:cNvPr>
          <p:cNvCxnSpPr>
            <a:cxnSpLocks/>
          </p:cNvCxnSpPr>
          <p:nvPr/>
        </p:nvCxnSpPr>
        <p:spPr>
          <a:xfrm rot="10800000" flipV="1">
            <a:off x="1412240" y="3907730"/>
            <a:ext cx="2225040" cy="1273870"/>
          </a:xfrm>
          <a:prstGeom prst="curvedConnector3">
            <a:avLst>
              <a:gd name="adj1" fmla="val -228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41FA0F74-BC70-8550-7C11-BD9DE1345B59}"/>
              </a:ext>
            </a:extLst>
          </p:cNvPr>
          <p:cNvSpPr/>
          <p:nvPr/>
        </p:nvSpPr>
        <p:spPr>
          <a:xfrm>
            <a:off x="6888480" y="539205"/>
            <a:ext cx="4805680" cy="1980838"/>
          </a:xfrm>
          <a:prstGeom prst="round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Inputs{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Password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Confirm Password</a:t>
            </a:r>
          </a:p>
          <a:p>
            <a:r>
              <a:rPr lang="en-US" sz="2000" b="1" dirty="0"/>
              <a:t>}</a:t>
            </a:r>
          </a:p>
        </p:txBody>
      </p:sp>
      <p:cxnSp>
        <p:nvCxnSpPr>
          <p:cNvPr id="14" name="Connector: Curved 13">
            <a:extLst>
              <a:ext uri="{FF2B5EF4-FFF2-40B4-BE49-F238E27FC236}">
                <a16:creationId xmlns:a16="http://schemas.microsoft.com/office/drawing/2014/main" id="{80784F8F-8A92-01B6-47CF-F2E03E47FBD8}"/>
              </a:ext>
            </a:extLst>
          </p:cNvPr>
          <p:cNvCxnSpPr>
            <a:cxnSpLocks/>
          </p:cNvCxnSpPr>
          <p:nvPr/>
        </p:nvCxnSpPr>
        <p:spPr>
          <a:xfrm rot="10800000" flipV="1">
            <a:off x="2174240" y="1355814"/>
            <a:ext cx="4805680" cy="2073184"/>
          </a:xfrm>
          <a:prstGeom prst="curvedConnector3">
            <a:avLst>
              <a:gd name="adj1" fmla="val -951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8254047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FC770D13-D7BF-5BC1-2E30-33E11120A8F2}"/>
              </a:ext>
            </a:extLst>
          </p:cNvPr>
          <p:cNvSpPr txBox="1"/>
          <p:nvPr/>
        </p:nvSpPr>
        <p:spPr>
          <a:xfrm>
            <a:off x="4149899" y="3172508"/>
            <a:ext cx="367053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/>
              <a:t>ADMIN</a:t>
            </a:r>
          </a:p>
        </p:txBody>
      </p:sp>
    </p:spTree>
    <p:extLst>
      <p:ext uri="{BB962C8B-B14F-4D97-AF65-F5344CB8AC3E}">
        <p14:creationId xmlns:p14="http://schemas.microsoft.com/office/powerpoint/2010/main" val="173212299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2B4939D4-239C-5B9C-6BE9-1DAD39EEA367}"/>
              </a:ext>
            </a:extLst>
          </p:cNvPr>
          <p:cNvSpPr/>
          <p:nvPr/>
        </p:nvSpPr>
        <p:spPr>
          <a:xfrm>
            <a:off x="252614" y="502260"/>
            <a:ext cx="5853084" cy="3256940"/>
          </a:xfrm>
          <a:prstGeom prst="roundRect">
            <a:avLst>
              <a:gd name="adj" fmla="val 8726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nav-bar{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logoBtn</a:t>
            </a:r>
            <a:r>
              <a:rPr lang="en-US" sz="2000" b="1" dirty="0"/>
              <a:t> : (adminDashboard.html);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endParaRPr lang="en-US" sz="2000" b="1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Notification : (</a:t>
            </a:r>
            <a:r>
              <a:rPr lang="en-US" sz="2000" b="1" dirty="0" err="1"/>
              <a:t>modalNotif</a:t>
            </a:r>
            <a:r>
              <a:rPr lang="en-US" sz="2000" b="1" dirty="0"/>
              <a:t>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ProfilePic</a:t>
            </a:r>
            <a:r>
              <a:rPr lang="en-US" sz="2000" b="1" dirty="0"/>
              <a:t>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Profile : (adminProfile.html)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Darkmode</a:t>
            </a:r>
            <a:r>
              <a:rPr lang="en-US" sz="2000" b="1" dirty="0"/>
              <a:t> toggle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logout</a:t>
            </a:r>
          </a:p>
          <a:p>
            <a:pPr lvl="1"/>
            <a:r>
              <a:rPr lang="en-US" sz="2000" b="1" dirty="0"/>
              <a:t>	}</a:t>
            </a:r>
          </a:p>
          <a:p>
            <a:pPr lvl="1"/>
            <a:r>
              <a:rPr lang="en-US" sz="2000" b="1" dirty="0"/>
              <a:t>}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FE390974-8558-DA6F-6031-617A7F4876E4}"/>
              </a:ext>
            </a:extLst>
          </p:cNvPr>
          <p:cNvSpPr/>
          <p:nvPr/>
        </p:nvSpPr>
        <p:spPr>
          <a:xfrm>
            <a:off x="252614" y="4083595"/>
            <a:ext cx="5853084" cy="2272145"/>
          </a:xfrm>
          <a:prstGeom prst="round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 err="1"/>
              <a:t>modalNotif</a:t>
            </a:r>
            <a:r>
              <a:rPr lang="en-US" sz="2000" b="1" dirty="0"/>
              <a:t>(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Notif</a:t>
            </a:r>
            <a:r>
              <a:rPr lang="en-US" sz="2000" b="1" dirty="0"/>
              <a:t>-Category (Cancellation Req, Message)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senderName</a:t>
            </a:r>
            <a:endParaRPr lang="en-US" sz="2000" b="1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Date and time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Message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If (Cancel Request ? toggle </a:t>
            </a:r>
            <a:r>
              <a:rPr lang="en-US" sz="2000" b="1" dirty="0" err="1"/>
              <a:t>btnApproval</a:t>
            </a:r>
            <a:r>
              <a:rPr lang="en-US" sz="2000" b="1" dirty="0"/>
              <a:t>)</a:t>
            </a:r>
          </a:p>
          <a:p>
            <a:r>
              <a:rPr lang="en-US" sz="2000" b="1" dirty="0"/>
              <a:t>)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C4F9E9BD-FF05-2483-CCF3-4EB48DF5692D}"/>
              </a:ext>
            </a:extLst>
          </p:cNvPr>
          <p:cNvSpPr/>
          <p:nvPr/>
        </p:nvSpPr>
        <p:spPr>
          <a:xfrm>
            <a:off x="6338916" y="770675"/>
            <a:ext cx="5853084" cy="3154780"/>
          </a:xfrm>
          <a:prstGeom prst="roundRect">
            <a:avLst>
              <a:gd name="adj" fmla="val 8857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sidebar{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Maintenance{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adminProperty.html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adminEmpoyee.html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adminFAQs.html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adminLandingPage.html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adminPayment.html</a:t>
            </a:r>
          </a:p>
          <a:p>
            <a:pPr lvl="1"/>
            <a:r>
              <a:rPr lang="en-US" sz="2000" b="1" dirty="0"/>
              <a:t>}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AuditTrails.html</a:t>
            </a:r>
          </a:p>
          <a:p>
            <a:r>
              <a:rPr lang="en-US" sz="2000" b="1" dirty="0"/>
              <a:t>}</a:t>
            </a:r>
          </a:p>
        </p:txBody>
      </p:sp>
      <p:cxnSp>
        <p:nvCxnSpPr>
          <p:cNvPr id="7" name="Connector: Curved 6">
            <a:extLst>
              <a:ext uri="{FF2B5EF4-FFF2-40B4-BE49-F238E27FC236}">
                <a16:creationId xmlns:a16="http://schemas.microsoft.com/office/drawing/2014/main" id="{D94A55A5-4240-A486-7635-1AE372F55C6A}"/>
              </a:ext>
            </a:extLst>
          </p:cNvPr>
          <p:cNvCxnSpPr>
            <a:cxnSpLocks/>
          </p:cNvCxnSpPr>
          <p:nvPr/>
        </p:nvCxnSpPr>
        <p:spPr>
          <a:xfrm rot="5400000">
            <a:off x="-651163" y="2951018"/>
            <a:ext cx="2669309" cy="461818"/>
          </a:xfrm>
          <a:prstGeom prst="curvedConnector3">
            <a:avLst>
              <a:gd name="adj1" fmla="val 173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FC770D13-D7BF-5BC1-2E30-33E11120A8F2}"/>
              </a:ext>
            </a:extLst>
          </p:cNvPr>
          <p:cNvSpPr txBox="1"/>
          <p:nvPr/>
        </p:nvSpPr>
        <p:spPr>
          <a:xfrm>
            <a:off x="8398626" y="5906472"/>
            <a:ext cx="367053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b="1" dirty="0"/>
              <a:t>This is reusable for every page in Admin User Level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89613BEA-A259-E894-4EAD-BCBDC04FD512}"/>
              </a:ext>
            </a:extLst>
          </p:cNvPr>
          <p:cNvSpPr/>
          <p:nvPr/>
        </p:nvSpPr>
        <p:spPr>
          <a:xfrm>
            <a:off x="6338916" y="4212904"/>
            <a:ext cx="2842029" cy="1596769"/>
          </a:xfrm>
          <a:prstGeom prst="round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 err="1"/>
              <a:t>btnApproval</a:t>
            </a:r>
            <a:r>
              <a:rPr lang="en-US" sz="2000" b="1" dirty="0"/>
              <a:t>(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Approve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Reject</a:t>
            </a:r>
          </a:p>
          <a:p>
            <a:r>
              <a:rPr lang="en-US" sz="2000" b="1" dirty="0"/>
              <a:t>)</a:t>
            </a:r>
          </a:p>
        </p:txBody>
      </p:sp>
      <p:cxnSp>
        <p:nvCxnSpPr>
          <p:cNvPr id="12" name="Connector: Curved 11">
            <a:extLst>
              <a:ext uri="{FF2B5EF4-FFF2-40B4-BE49-F238E27FC236}">
                <a16:creationId xmlns:a16="http://schemas.microsoft.com/office/drawing/2014/main" id="{D845947E-A000-18B2-E6E4-DD70640DF334}"/>
              </a:ext>
            </a:extLst>
          </p:cNvPr>
          <p:cNvCxnSpPr>
            <a:cxnSpLocks/>
          </p:cNvCxnSpPr>
          <p:nvPr/>
        </p:nvCxnSpPr>
        <p:spPr>
          <a:xfrm rot="10800000" flipV="1">
            <a:off x="4701310" y="4668985"/>
            <a:ext cx="1756761" cy="891305"/>
          </a:xfrm>
          <a:prstGeom prst="curvedConnector3">
            <a:avLst>
              <a:gd name="adj1" fmla="val 99947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3385825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0" y="0"/>
            <a:ext cx="295563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adminDashboard.html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F9ACFF90-048F-320A-A752-8D1492FAD30F}"/>
              </a:ext>
            </a:extLst>
          </p:cNvPr>
          <p:cNvSpPr/>
          <p:nvPr/>
        </p:nvSpPr>
        <p:spPr>
          <a:xfrm>
            <a:off x="2546003" y="627237"/>
            <a:ext cx="7099993" cy="5603526"/>
          </a:xfrm>
          <a:prstGeom prst="roundRect">
            <a:avLst>
              <a:gd name="adj" fmla="val 8920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Dashboard{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Summary{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Total Earnings This Month,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This Year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This Week</a:t>
            </a:r>
          </a:p>
          <a:p>
            <a:pPr lvl="1"/>
            <a:r>
              <a:rPr lang="en-US" sz="2000" b="1" dirty="0"/>
              <a:t>}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TopPropertyByEaningsGraph</a:t>
            </a:r>
            <a:r>
              <a:rPr lang="en-US" sz="2000" b="1" dirty="0"/>
              <a:t>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Input (</a:t>
            </a:r>
            <a:r>
              <a:rPr lang="en-US" sz="2000" b="1" dirty="0" err="1"/>
              <a:t>SelectMonth</a:t>
            </a:r>
            <a:r>
              <a:rPr lang="en-US" sz="2000" b="1" dirty="0"/>
              <a:t>, </a:t>
            </a:r>
            <a:r>
              <a:rPr lang="en-US" sz="2000" b="1" dirty="0" err="1"/>
              <a:t>SelectYear</a:t>
            </a:r>
            <a:r>
              <a:rPr lang="en-US" sz="2000" b="1" dirty="0"/>
              <a:t>)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Graph (any)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Total </a:t>
            </a:r>
          </a:p>
          <a:p>
            <a:pPr lvl="1"/>
            <a:r>
              <a:rPr lang="en-US" sz="2000" b="1" dirty="0"/>
              <a:t>}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auditTrailsSummary</a:t>
            </a:r>
            <a:r>
              <a:rPr lang="en-US" sz="2000" b="1" dirty="0"/>
              <a:t>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List at least 5 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Toggle(Admin, Employees or Guest)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Table(Ref No., Date &amp; Time, Name, Activity)</a:t>
            </a:r>
          </a:p>
          <a:p>
            <a:pPr lvl="1"/>
            <a:r>
              <a:rPr lang="en-US" sz="2000" b="1" dirty="0"/>
              <a:t>}</a:t>
            </a:r>
          </a:p>
          <a:p>
            <a:r>
              <a:rPr lang="en-US" sz="2000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544105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0" y="0"/>
            <a:ext cx="295563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adminProfile.html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F9ACFF90-048F-320A-A752-8D1492FAD30F}"/>
              </a:ext>
            </a:extLst>
          </p:cNvPr>
          <p:cNvSpPr/>
          <p:nvPr/>
        </p:nvSpPr>
        <p:spPr>
          <a:xfrm>
            <a:off x="2929312" y="1064073"/>
            <a:ext cx="6333375" cy="4729854"/>
          </a:xfrm>
          <a:prstGeom prst="round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Profile{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EditBtn</a:t>
            </a:r>
            <a:r>
              <a:rPr lang="en-US" sz="2000" b="1" dirty="0"/>
              <a:t> : (adminEditProfile.html)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Profile Picture (onclick (</a:t>
            </a:r>
            <a:r>
              <a:rPr lang="en-US" sz="2000" b="1" dirty="0" err="1"/>
              <a:t>ZoomModal</a:t>
            </a:r>
            <a:r>
              <a:rPr lang="en-US" sz="2000" b="1" dirty="0"/>
              <a:t>))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Full Name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Email</a:t>
            </a:r>
          </a:p>
          <a:p>
            <a:r>
              <a:rPr lang="en-US" sz="2000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83342872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0" y="0"/>
            <a:ext cx="295563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adminEditProfile.html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F9ACFF90-048F-320A-A752-8D1492FAD30F}"/>
              </a:ext>
            </a:extLst>
          </p:cNvPr>
          <p:cNvSpPr/>
          <p:nvPr/>
        </p:nvSpPr>
        <p:spPr>
          <a:xfrm>
            <a:off x="1396075" y="331673"/>
            <a:ext cx="9399849" cy="6194654"/>
          </a:xfrm>
          <a:prstGeom prst="roundRect">
            <a:avLst>
              <a:gd name="adj" fmla="val 8914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 err="1"/>
              <a:t>EditProfileDetails</a:t>
            </a:r>
            <a:r>
              <a:rPr lang="en-US" sz="2000" b="1" dirty="0"/>
              <a:t>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Auto-fill inputs{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ProfilePictureBtn</a:t>
            </a:r>
            <a:r>
              <a:rPr lang="en-US" sz="2000" b="1" dirty="0"/>
              <a:t> (Upload)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Full Name Input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Email input</a:t>
            </a:r>
          </a:p>
          <a:p>
            <a:pPr lvl="1"/>
            <a:r>
              <a:rPr lang="en-US" sz="2000" b="1" dirty="0"/>
              <a:t>}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editPasswordBtn</a:t>
            </a:r>
            <a:r>
              <a:rPr lang="en-US" sz="2000" b="1" dirty="0"/>
              <a:t>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modalEditPassword</a:t>
            </a:r>
            <a:r>
              <a:rPr lang="en-US" sz="2000" b="1" dirty="0"/>
              <a:t>(</a:t>
            </a:r>
          </a:p>
          <a:p>
            <a:pPr marL="1714500" lvl="3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CurrentPasword</a:t>
            </a:r>
            <a:endParaRPr lang="en-US" sz="2000" b="1" dirty="0"/>
          </a:p>
          <a:p>
            <a:pPr marL="1714500" lvl="3" indent="-342900">
              <a:buFont typeface="Arial" panose="020B0604020202020204" pitchFamily="34" charset="0"/>
              <a:buChar char="•"/>
            </a:pPr>
            <a:r>
              <a:rPr lang="en-US" sz="2000" b="1" dirty="0"/>
              <a:t>Enter New Password</a:t>
            </a:r>
          </a:p>
          <a:p>
            <a:pPr marL="1714500" lvl="3" indent="-342900">
              <a:buFont typeface="Arial" panose="020B0604020202020204" pitchFamily="34" charset="0"/>
              <a:buChar char="•"/>
            </a:pPr>
            <a:r>
              <a:rPr lang="en-US" sz="2000" b="1" dirty="0"/>
              <a:t>Confirm Password</a:t>
            </a:r>
          </a:p>
          <a:p>
            <a:pPr marL="1714500" lvl="3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forgotPasswordBtn</a:t>
            </a:r>
            <a:r>
              <a:rPr lang="en-US" sz="2000" b="1" dirty="0"/>
              <a:t> : forgotPassword.html</a:t>
            </a:r>
          </a:p>
          <a:p>
            <a:pPr marL="1714500" lvl="3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Btnconfirm</a:t>
            </a:r>
            <a:r>
              <a:rPr lang="en-US" sz="2000" b="1" dirty="0"/>
              <a:t>(API update password)</a:t>
            </a:r>
          </a:p>
          <a:p>
            <a:pPr lvl="2"/>
            <a:r>
              <a:rPr lang="en-US" sz="2000" b="1" dirty="0"/>
              <a:t>)</a:t>
            </a:r>
          </a:p>
          <a:p>
            <a:pPr lvl="1"/>
            <a:r>
              <a:rPr lang="en-US" sz="2000" b="1" dirty="0"/>
              <a:t>}</a:t>
            </a:r>
          </a:p>
          <a:p>
            <a:pPr lvl="1"/>
            <a:r>
              <a:rPr lang="en-US" sz="2000" b="1" dirty="0" err="1"/>
              <a:t>Btn</a:t>
            </a:r>
            <a:r>
              <a:rPr lang="en-US" sz="2000" b="1" dirty="0"/>
              <a:t> (Cancel, Update) : message if successful, then go back to Profile</a:t>
            </a:r>
          </a:p>
          <a:p>
            <a:r>
              <a:rPr lang="en-US" sz="2000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75525325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0" y="0"/>
            <a:ext cx="295563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adminProperty.html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F9ACFF90-048F-320A-A752-8D1492FAD30F}"/>
              </a:ext>
            </a:extLst>
          </p:cNvPr>
          <p:cNvSpPr/>
          <p:nvPr/>
        </p:nvSpPr>
        <p:spPr>
          <a:xfrm>
            <a:off x="1718656" y="1895763"/>
            <a:ext cx="8754688" cy="3066473"/>
          </a:xfrm>
          <a:prstGeom prst="round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AddProperty</a:t>
            </a:r>
            <a:r>
              <a:rPr lang="en-US" sz="2000" b="1" dirty="0"/>
              <a:t> (adminAddProperty.html)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Search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PropertyLists</a:t>
            </a:r>
            <a:r>
              <a:rPr lang="en-US" sz="2000" b="1" dirty="0"/>
              <a:t> in Table or cards (Name, Address, </a:t>
            </a:r>
            <a:r>
              <a:rPr lang="en-US" sz="2000" b="1" dirty="0" err="1"/>
              <a:t>MaxCapacity</a:t>
            </a:r>
            <a:r>
              <a:rPr lang="en-US" sz="2000" b="1" dirty="0"/>
              <a:t>, Price, Price per Pax, Status, </a:t>
            </a:r>
            <a:r>
              <a:rPr lang="en-US" sz="2000" b="1" dirty="0" err="1"/>
              <a:t>ViewDetailsBtn</a:t>
            </a:r>
            <a:r>
              <a:rPr lang="en-US" sz="2000" b="1" dirty="0"/>
              <a:t>(adminViewProperty.html), # of reports </a:t>
            </a:r>
            <a:r>
              <a:rPr lang="en-US" sz="2000" b="1" dirty="0">
                <a:solidFill>
                  <a:srgbClr val="FF0000"/>
                </a:solidFill>
              </a:rPr>
              <a:t>badge</a:t>
            </a:r>
            <a:r>
              <a:rPr lang="en-US" sz="2000" b="1" dirty="0"/>
              <a:t>)</a:t>
            </a:r>
          </a:p>
          <a:p>
            <a:r>
              <a:rPr lang="en-US" sz="2000" b="1" dirty="0"/>
              <a:t>}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CC03A7F-25C2-6392-D1D3-EA60AD9708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0586" y="5070764"/>
            <a:ext cx="1645050" cy="1588969"/>
          </a:xfrm>
          <a:prstGeom prst="rect">
            <a:avLst/>
          </a:prstGeom>
        </p:spPr>
      </p:pic>
      <p:cxnSp>
        <p:nvCxnSpPr>
          <p:cNvPr id="7" name="Connector: Curved 6">
            <a:extLst>
              <a:ext uri="{FF2B5EF4-FFF2-40B4-BE49-F238E27FC236}">
                <a16:creationId xmlns:a16="http://schemas.microsoft.com/office/drawing/2014/main" id="{6C138DD5-86A7-9683-C8A7-DD49145591A5}"/>
              </a:ext>
            </a:extLst>
          </p:cNvPr>
          <p:cNvCxnSpPr/>
          <p:nvPr/>
        </p:nvCxnSpPr>
        <p:spPr>
          <a:xfrm rot="10800000" flipV="1">
            <a:off x="2955636" y="4193309"/>
            <a:ext cx="1625600" cy="1163782"/>
          </a:xfrm>
          <a:prstGeom prst="curvedConnector3">
            <a:avLst>
              <a:gd name="adj1" fmla="val 568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55592D73-A0E7-05E6-1326-D208E69DB33F}"/>
              </a:ext>
            </a:extLst>
          </p:cNvPr>
          <p:cNvSpPr txBox="1"/>
          <p:nvPr/>
        </p:nvSpPr>
        <p:spPr>
          <a:xfrm>
            <a:off x="3031837" y="5542082"/>
            <a:ext cx="690649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Small red circle—that appears in the corner of an icon  to indicate a count of unsolved reports</a:t>
            </a:r>
          </a:p>
        </p:txBody>
      </p:sp>
    </p:spTree>
    <p:extLst>
      <p:ext uri="{BB962C8B-B14F-4D97-AF65-F5344CB8AC3E}">
        <p14:creationId xmlns:p14="http://schemas.microsoft.com/office/powerpoint/2010/main" val="217294561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-1" y="0"/>
            <a:ext cx="35190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adminViewProperty.html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F9ACFF90-048F-320A-A752-8D1492FAD30F}"/>
              </a:ext>
            </a:extLst>
          </p:cNvPr>
          <p:cNvSpPr/>
          <p:nvPr/>
        </p:nvSpPr>
        <p:spPr>
          <a:xfrm>
            <a:off x="74582" y="400111"/>
            <a:ext cx="7646325" cy="6194654"/>
          </a:xfrm>
          <a:prstGeom prst="roundRect">
            <a:avLst>
              <a:gd name="adj" fmla="val 4031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/>
              <a:t>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600" b="1" dirty="0"/>
              <a:t>Property Details 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Photos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Name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Address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Display Map Link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City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Description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Package Capacity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Maximum Capacity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Time of </a:t>
            </a:r>
            <a:r>
              <a:rPr lang="en-US" sz="1600" b="1" dirty="0" err="1"/>
              <a:t>CheckIn&amp;Out</a:t>
            </a:r>
            <a:endParaRPr lang="en-US" sz="1600" b="1" dirty="0"/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Category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Package Price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Reservation Fee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Additional Pax Price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Status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Amenities{cards or maybe just texts}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Other Amenities {cards or maybe texts}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Discount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Reports: could be modal if clicked. w/ </a:t>
            </a:r>
            <a:r>
              <a:rPr lang="en-US" sz="1600" b="1" dirty="0">
                <a:solidFill>
                  <a:srgbClr val="FF0000"/>
                </a:solidFill>
              </a:rPr>
              <a:t>badge</a:t>
            </a:r>
            <a:r>
              <a:rPr lang="en-US" sz="1600" b="1" dirty="0"/>
              <a:t> # of reports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// buttons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 err="1"/>
              <a:t>DeactivateBtn</a:t>
            </a:r>
            <a:r>
              <a:rPr lang="en-US" sz="1600" b="1" dirty="0"/>
              <a:t> (are you sure you want to deactivate this property? y/n) or </a:t>
            </a:r>
            <a:r>
              <a:rPr lang="en-US" sz="1600" b="1" dirty="0" err="1"/>
              <a:t>EditBtn</a:t>
            </a:r>
            <a:r>
              <a:rPr lang="en-US" sz="1600" b="1" dirty="0"/>
              <a:t> (adminEditProperty.html)</a:t>
            </a:r>
          </a:p>
          <a:p>
            <a:pPr lvl="1"/>
            <a:r>
              <a:rPr lang="en-US" sz="1600" b="1" dirty="0"/>
              <a:t>}</a:t>
            </a:r>
          </a:p>
          <a:p>
            <a:r>
              <a:rPr lang="en-US" sz="1600" b="1" dirty="0"/>
              <a:t>}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B98EC357-DD9D-248C-0BE3-81DAB6995BB6}"/>
              </a:ext>
            </a:extLst>
          </p:cNvPr>
          <p:cNvSpPr/>
          <p:nvPr/>
        </p:nvSpPr>
        <p:spPr>
          <a:xfrm>
            <a:off x="8044873" y="400111"/>
            <a:ext cx="4072545" cy="6194654"/>
          </a:xfrm>
          <a:prstGeom prst="roundRect">
            <a:avLst>
              <a:gd name="adj" fmla="val 4031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/>
              <a:t>Reports{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toggle(Unsolved | Solved)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Report List(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Name of sender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Date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Transaction No.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Report Category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 err="1"/>
              <a:t>viewBtn</a:t>
            </a:r>
            <a:r>
              <a:rPr lang="en-US" b="1" dirty="0"/>
              <a:t>(</a:t>
            </a:r>
            <a:r>
              <a:rPr lang="en-US" b="1" dirty="0" err="1"/>
              <a:t>ReportView</a:t>
            </a:r>
            <a:r>
              <a:rPr lang="en-US" b="1" dirty="0"/>
              <a:t>)</a:t>
            </a:r>
          </a:p>
          <a:p>
            <a:pPr lvl="1"/>
            <a:r>
              <a:rPr lang="en-US" b="1" dirty="0"/>
              <a:t>)</a:t>
            </a:r>
          </a:p>
          <a:p>
            <a:r>
              <a:rPr lang="en-US" b="1" dirty="0"/>
              <a:t>}</a:t>
            </a:r>
          </a:p>
          <a:p>
            <a:r>
              <a:rPr lang="en-US" b="1" dirty="0" err="1"/>
              <a:t>ReportView</a:t>
            </a:r>
            <a:r>
              <a:rPr lang="en-US" b="1" dirty="0"/>
              <a:t>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Name of sender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Date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Transaction No.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Report Category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Message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Buttons: </a:t>
            </a:r>
            <a:r>
              <a:rPr lang="en-US" b="1" dirty="0" err="1"/>
              <a:t>backBtn</a:t>
            </a:r>
            <a:r>
              <a:rPr lang="en-US" b="1" dirty="0"/>
              <a:t>, </a:t>
            </a:r>
            <a:r>
              <a:rPr lang="en-US" b="1" dirty="0" err="1"/>
              <a:t>solvedBtn</a:t>
            </a:r>
            <a:endParaRPr lang="en-US" b="1" dirty="0"/>
          </a:p>
          <a:p>
            <a:r>
              <a:rPr lang="en-US" b="1" dirty="0"/>
              <a:t>}</a:t>
            </a:r>
          </a:p>
        </p:txBody>
      </p:sp>
      <p:cxnSp>
        <p:nvCxnSpPr>
          <p:cNvPr id="6" name="Connector: Curved 5">
            <a:extLst>
              <a:ext uri="{FF2B5EF4-FFF2-40B4-BE49-F238E27FC236}">
                <a16:creationId xmlns:a16="http://schemas.microsoft.com/office/drawing/2014/main" id="{8D73B2AC-1E03-0182-70E7-6DA6E39C6E30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4765966" y="1681019"/>
            <a:ext cx="3906982" cy="2872508"/>
          </a:xfrm>
          <a:prstGeom prst="curvedConnector3">
            <a:avLst>
              <a:gd name="adj1" fmla="val 50000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" name="Connector: Curved 8">
            <a:extLst>
              <a:ext uri="{FF2B5EF4-FFF2-40B4-BE49-F238E27FC236}">
                <a16:creationId xmlns:a16="http://schemas.microsoft.com/office/drawing/2014/main" id="{409D6913-C0AC-359E-72F5-7F983F8513EB}"/>
              </a:ext>
            </a:extLst>
          </p:cNvPr>
          <p:cNvCxnSpPr>
            <a:cxnSpLocks/>
          </p:cNvCxnSpPr>
          <p:nvPr/>
        </p:nvCxnSpPr>
        <p:spPr>
          <a:xfrm flipV="1">
            <a:off x="9504218" y="3121891"/>
            <a:ext cx="1653309" cy="803564"/>
          </a:xfrm>
          <a:prstGeom prst="curvedConnector3">
            <a:avLst>
              <a:gd name="adj1" fmla="val 99162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2428089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-1" y="0"/>
            <a:ext cx="35190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adminEditProperty.html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F9ACFF90-048F-320A-A752-8D1492FAD30F}"/>
              </a:ext>
            </a:extLst>
          </p:cNvPr>
          <p:cNvSpPr/>
          <p:nvPr/>
        </p:nvSpPr>
        <p:spPr>
          <a:xfrm>
            <a:off x="102292" y="400110"/>
            <a:ext cx="7730144" cy="6287017"/>
          </a:xfrm>
          <a:prstGeom prst="roundRect">
            <a:avLst>
              <a:gd name="adj" fmla="val 4105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/>
              <a:t>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b="1" dirty="0"/>
              <a:t>Property Inputs Auto Fill 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Photos (one by one display with delete icon)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Name : text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Address : text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 err="1"/>
              <a:t>MapLink</a:t>
            </a:r>
            <a:r>
              <a:rPr lang="en-US" b="1" dirty="0"/>
              <a:t> : text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City : select [dropdown all city in the </a:t>
            </a:r>
            <a:r>
              <a:rPr lang="en-US" b="1" dirty="0" err="1"/>
              <a:t>ph</a:t>
            </a:r>
            <a:r>
              <a:rPr lang="en-US" b="1" dirty="0"/>
              <a:t>]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Description : text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Package Capacity : number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Maximum Capacity : number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Time of </a:t>
            </a:r>
            <a:r>
              <a:rPr lang="en-US" b="1" dirty="0" err="1"/>
              <a:t>CheckIn&amp;Out</a:t>
            </a:r>
            <a:r>
              <a:rPr lang="en-US" b="1" dirty="0"/>
              <a:t> : Time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Category : select (</a:t>
            </a:r>
            <a:r>
              <a:rPr lang="en-US" b="1" dirty="0" err="1"/>
              <a:t>Barkada</a:t>
            </a:r>
            <a:r>
              <a:rPr lang="en-US" b="1" dirty="0"/>
              <a:t>, Couple, Family, Other)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Package Price : Currency/Number w/ peso sign 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Reservation Fee : Currency/Number w/ peso sign 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Additional Pax Price: Currency/Number w/ peso sign 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Status : select {available, deactivate}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Amenities : checkbox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Other Amenities : text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Discount : float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Calendar</a:t>
            </a:r>
          </a:p>
          <a:p>
            <a:pPr lvl="1"/>
            <a:r>
              <a:rPr lang="en-US" b="1" dirty="0"/>
              <a:t>}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b="1" dirty="0"/>
              <a:t>Buttons : (cancel, save (y/n) message success/err)</a:t>
            </a:r>
          </a:p>
          <a:p>
            <a:r>
              <a:rPr lang="en-US" b="1" dirty="0"/>
              <a:t>}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7576A1A-CDB6-8CCB-6A21-D4F77C2E55D7}"/>
              </a:ext>
            </a:extLst>
          </p:cNvPr>
          <p:cNvSpPr/>
          <p:nvPr/>
        </p:nvSpPr>
        <p:spPr>
          <a:xfrm>
            <a:off x="8072582" y="510307"/>
            <a:ext cx="3888509" cy="6176819"/>
          </a:xfrm>
          <a:prstGeom prst="roundRect">
            <a:avLst>
              <a:gd name="adj" fmla="val 7169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calendar{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Text : Set maintenance Day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Calendar with bookings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Buttons: set (y/n), revert (clear selected)</a:t>
            </a:r>
          </a:p>
          <a:p>
            <a:r>
              <a:rPr lang="en-US" sz="2000" b="1" dirty="0"/>
              <a:t>}</a:t>
            </a:r>
          </a:p>
        </p:txBody>
      </p:sp>
      <p:cxnSp>
        <p:nvCxnSpPr>
          <p:cNvPr id="6" name="Connector: Curved 5">
            <a:extLst>
              <a:ext uri="{FF2B5EF4-FFF2-40B4-BE49-F238E27FC236}">
                <a16:creationId xmlns:a16="http://schemas.microsoft.com/office/drawing/2014/main" id="{A63A1E50-035E-9A75-D8F4-489017351609}"/>
              </a:ext>
            </a:extLst>
          </p:cNvPr>
          <p:cNvCxnSpPr>
            <a:cxnSpLocks/>
          </p:cNvCxnSpPr>
          <p:nvPr/>
        </p:nvCxnSpPr>
        <p:spPr>
          <a:xfrm rot="10800000" flipV="1">
            <a:off x="2604656" y="2854039"/>
            <a:ext cx="5634181" cy="2881746"/>
          </a:xfrm>
          <a:prstGeom prst="curvedConnector3">
            <a:avLst>
              <a:gd name="adj1" fmla="val 0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4527968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-1" y="0"/>
            <a:ext cx="35190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adminAddProperty.html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F9ACFF90-048F-320A-A752-8D1492FAD30F}"/>
              </a:ext>
            </a:extLst>
          </p:cNvPr>
          <p:cNvSpPr/>
          <p:nvPr/>
        </p:nvSpPr>
        <p:spPr>
          <a:xfrm>
            <a:off x="102292" y="400110"/>
            <a:ext cx="7730144" cy="6287017"/>
          </a:xfrm>
          <a:prstGeom prst="roundRect">
            <a:avLst>
              <a:gd name="adj" fmla="val 4105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/>
              <a:t>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b="1" dirty="0"/>
              <a:t>Property Inputs 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Photos (one by one display with delete icon)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Name : text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Address : text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 err="1"/>
              <a:t>MapLink</a:t>
            </a:r>
            <a:r>
              <a:rPr lang="en-US" b="1" dirty="0"/>
              <a:t> : text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City : select [dropdown all city in the </a:t>
            </a:r>
            <a:r>
              <a:rPr lang="en-US" b="1" dirty="0" err="1"/>
              <a:t>ph</a:t>
            </a:r>
            <a:r>
              <a:rPr lang="en-US" b="1" dirty="0"/>
              <a:t>]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Description : text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Package Capacity : number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Maximum Capacity : number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Time of </a:t>
            </a:r>
            <a:r>
              <a:rPr lang="en-US" b="1" dirty="0" err="1"/>
              <a:t>CheckIn&amp;Out</a:t>
            </a:r>
            <a:r>
              <a:rPr lang="en-US" b="1" dirty="0"/>
              <a:t> : Time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Category : select (</a:t>
            </a:r>
            <a:r>
              <a:rPr lang="en-US" b="1" dirty="0" err="1"/>
              <a:t>Barkada</a:t>
            </a:r>
            <a:r>
              <a:rPr lang="en-US" b="1" dirty="0"/>
              <a:t>, Couple, Family, Other)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Package Price : Currency/Number w/ peso sign 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Reservation Fee : Currency/Number w/ peso sign 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Additional Pax Price: Currency/Number w/ peso sign 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Status : select {available, deactivate}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Amenities : checkbox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Other Amenities : text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Discount : float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Calendar</a:t>
            </a:r>
          </a:p>
          <a:p>
            <a:pPr lvl="1"/>
            <a:r>
              <a:rPr lang="en-US" b="1" dirty="0"/>
              <a:t>}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b="1" dirty="0"/>
              <a:t>Buttons : (cancel, save (y/n) message success/err)</a:t>
            </a:r>
          </a:p>
          <a:p>
            <a:r>
              <a:rPr lang="en-US" b="1" dirty="0"/>
              <a:t>}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D7576A1A-CDB6-8CCB-6A21-D4F77C2E55D7}"/>
              </a:ext>
            </a:extLst>
          </p:cNvPr>
          <p:cNvSpPr/>
          <p:nvPr/>
        </p:nvSpPr>
        <p:spPr>
          <a:xfrm>
            <a:off x="8072582" y="510307"/>
            <a:ext cx="3888509" cy="6176819"/>
          </a:xfrm>
          <a:prstGeom prst="roundRect">
            <a:avLst>
              <a:gd name="adj" fmla="val 7169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calendar{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Text : Set maintenance Day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Calendar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Buttons: set (y/n), revert (clear selected)</a:t>
            </a:r>
          </a:p>
          <a:p>
            <a:r>
              <a:rPr lang="en-US" sz="2000" b="1" dirty="0"/>
              <a:t>}</a:t>
            </a:r>
          </a:p>
        </p:txBody>
      </p:sp>
      <p:cxnSp>
        <p:nvCxnSpPr>
          <p:cNvPr id="8" name="Connector: Curved 7">
            <a:extLst>
              <a:ext uri="{FF2B5EF4-FFF2-40B4-BE49-F238E27FC236}">
                <a16:creationId xmlns:a16="http://schemas.microsoft.com/office/drawing/2014/main" id="{6D8DEA2B-8BA7-4E28-9960-EDBB638E5558}"/>
              </a:ext>
            </a:extLst>
          </p:cNvPr>
          <p:cNvCxnSpPr>
            <a:cxnSpLocks/>
          </p:cNvCxnSpPr>
          <p:nvPr/>
        </p:nvCxnSpPr>
        <p:spPr>
          <a:xfrm rot="10800000" flipV="1">
            <a:off x="2604656" y="2844796"/>
            <a:ext cx="5634181" cy="2881746"/>
          </a:xfrm>
          <a:prstGeom prst="curvedConnector3">
            <a:avLst>
              <a:gd name="adj1" fmla="val 0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7510222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-1" y="0"/>
            <a:ext cx="35190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adminCustomer.html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84989AE-1420-7CFC-7A33-B4FACAA95828}"/>
              </a:ext>
            </a:extLst>
          </p:cNvPr>
          <p:cNvSpPr/>
          <p:nvPr/>
        </p:nvSpPr>
        <p:spPr>
          <a:xfrm>
            <a:off x="112221" y="718993"/>
            <a:ext cx="5374179" cy="4810414"/>
          </a:xfrm>
          <a:prstGeom prst="roundRect">
            <a:avLst>
              <a:gd name="adj" fmla="val 3063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{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Search input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Search </a:t>
            </a:r>
            <a:r>
              <a:rPr lang="en-US" sz="2000" b="1" dirty="0" err="1"/>
              <a:t>btn</a:t>
            </a:r>
            <a:endParaRPr lang="en-US" sz="2000" b="1" dirty="0"/>
          </a:p>
          <a:p>
            <a:r>
              <a:rPr lang="en-US" sz="2000" b="1" dirty="0"/>
              <a:t>}</a:t>
            </a:r>
          </a:p>
          <a:p>
            <a:endParaRPr lang="en-US" sz="2000" b="1" dirty="0"/>
          </a:p>
          <a:p>
            <a:r>
              <a:rPr lang="en-US" sz="2000" b="1" dirty="0"/>
              <a:t>Customer Lists (Deactivated/Active toggle){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First, Last Name,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Email,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Violations: Integer{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If more than 1 : color yellow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If more than 3 : Red</a:t>
            </a:r>
          </a:p>
          <a:p>
            <a:pPr lvl="1"/>
            <a:r>
              <a:rPr lang="en-US" sz="2000" b="1" dirty="0"/>
              <a:t>}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ViewViolationBtn</a:t>
            </a:r>
            <a:r>
              <a:rPr lang="en-US" sz="2000" b="1" dirty="0"/>
              <a:t> : modal</a:t>
            </a:r>
          </a:p>
          <a:p>
            <a:r>
              <a:rPr lang="en-US" sz="2000" b="1" dirty="0"/>
              <a:t>}</a:t>
            </a:r>
          </a:p>
          <a:p>
            <a:endParaRPr lang="en-US" sz="2000" b="1" dirty="0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53EECA4E-EA2E-8B17-6C2B-12466435E058}"/>
              </a:ext>
            </a:extLst>
          </p:cNvPr>
          <p:cNvSpPr/>
          <p:nvPr/>
        </p:nvSpPr>
        <p:spPr>
          <a:xfrm>
            <a:off x="5917275" y="718993"/>
            <a:ext cx="5374179" cy="4810414"/>
          </a:xfrm>
          <a:prstGeom prst="roundRect">
            <a:avLst>
              <a:gd name="adj" fmla="val 3063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Modal{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DeactivateUserBtn</a:t>
            </a:r>
            <a:r>
              <a:rPr lang="en-US" sz="2000" b="1" dirty="0"/>
              <a:t> : “y/n”</a:t>
            </a:r>
          </a:p>
          <a:p>
            <a:r>
              <a:rPr lang="en-US" sz="2000" b="1" dirty="0"/>
              <a:t>// could be card or table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ListofViolation</a:t>
            </a:r>
            <a:r>
              <a:rPr lang="en-US" sz="2000" b="1" dirty="0"/>
              <a:t>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Reason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Date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Transaction #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ReportedBy</a:t>
            </a:r>
            <a:endParaRPr lang="en-US" sz="2000" b="1" dirty="0"/>
          </a:p>
          <a:p>
            <a:pPr lvl="1"/>
            <a:r>
              <a:rPr lang="en-US" sz="2000" b="1" dirty="0"/>
              <a:t>}</a:t>
            </a:r>
          </a:p>
          <a:p>
            <a:r>
              <a:rPr lang="en-US" sz="2000" b="1" dirty="0"/>
              <a:t>}</a:t>
            </a:r>
          </a:p>
          <a:p>
            <a:endParaRPr lang="en-US" sz="2000" b="1" dirty="0"/>
          </a:p>
        </p:txBody>
      </p:sp>
      <p:cxnSp>
        <p:nvCxnSpPr>
          <p:cNvPr id="5" name="Connector: Curved 4">
            <a:extLst>
              <a:ext uri="{FF2B5EF4-FFF2-40B4-BE49-F238E27FC236}">
                <a16:creationId xmlns:a16="http://schemas.microsoft.com/office/drawing/2014/main" id="{B79ECDB9-9D0A-5FF8-0777-A8B4A36186C3}"/>
              </a:ext>
            </a:extLst>
          </p:cNvPr>
          <p:cNvCxnSpPr>
            <a:cxnSpLocks/>
          </p:cNvCxnSpPr>
          <p:nvPr/>
        </p:nvCxnSpPr>
        <p:spPr>
          <a:xfrm rot="5400000">
            <a:off x="3556002" y="2124365"/>
            <a:ext cx="2964873" cy="2115125"/>
          </a:xfrm>
          <a:prstGeom prst="curvedConnector3">
            <a:avLst>
              <a:gd name="adj1" fmla="val 50000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5847618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-1" y="0"/>
            <a:ext cx="35190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adminEmpoyee.html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84989AE-1420-7CFC-7A33-B4FACAA95828}"/>
              </a:ext>
            </a:extLst>
          </p:cNvPr>
          <p:cNvSpPr/>
          <p:nvPr/>
        </p:nvSpPr>
        <p:spPr>
          <a:xfrm>
            <a:off x="2328948" y="1216313"/>
            <a:ext cx="7534103" cy="4425374"/>
          </a:xfrm>
          <a:prstGeom prst="roundRect">
            <a:avLst>
              <a:gd name="adj" fmla="val 8439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addEmployeeBtn</a:t>
            </a:r>
            <a:r>
              <a:rPr lang="en-US" sz="2000" b="1" dirty="0"/>
              <a:t> (adminAddEmployee.html)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Search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RolesBtn</a:t>
            </a:r>
            <a:r>
              <a:rPr lang="en-US" sz="2000" b="1" dirty="0"/>
              <a:t> (Roles.html)</a:t>
            </a:r>
          </a:p>
          <a:p>
            <a:pPr lvl="1"/>
            <a:endParaRPr lang="en-US" sz="2000" b="1" dirty="0"/>
          </a:p>
          <a:p>
            <a:pPr lvl="1"/>
            <a:r>
              <a:rPr lang="en-US" sz="2000" b="1" dirty="0"/>
              <a:t>Category of lists (Available List, Deactivated List)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List table or cards{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First, Last Name,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Email,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Roles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viewDetailsBtn</a:t>
            </a:r>
            <a:r>
              <a:rPr lang="en-US" sz="2000" b="1" dirty="0"/>
              <a:t> (adminViewEmployee.html)</a:t>
            </a:r>
          </a:p>
          <a:p>
            <a:pPr lvl="1"/>
            <a:r>
              <a:rPr lang="en-US" sz="2000" b="1" dirty="0"/>
              <a:t>	}</a:t>
            </a:r>
          </a:p>
          <a:p>
            <a:r>
              <a:rPr lang="en-US" sz="2000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84242722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-1" y="0"/>
            <a:ext cx="35190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adminEmpoyee.html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D3E9C7C1-FDB4-331F-AAE9-4D08215457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3333" y="1675732"/>
            <a:ext cx="5210200" cy="3907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Display SharePoint List Data In Jquery Data Table">
            <a:extLst>
              <a:ext uri="{FF2B5EF4-FFF2-40B4-BE49-F238E27FC236}">
                <a16:creationId xmlns:a16="http://schemas.microsoft.com/office/drawing/2014/main" id="{E0175198-BF3C-4F38-5D31-6D8F728CDB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75927" y="2141906"/>
            <a:ext cx="5872740" cy="25741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CB57B67A-3875-1D25-90D6-8C08E14D9A9C}"/>
              </a:ext>
            </a:extLst>
          </p:cNvPr>
          <p:cNvSpPr txBox="1"/>
          <p:nvPr/>
        </p:nvSpPr>
        <p:spPr>
          <a:xfrm>
            <a:off x="4726708" y="6008254"/>
            <a:ext cx="249843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/>
              <a:t>Cards VS Table</a:t>
            </a:r>
          </a:p>
        </p:txBody>
      </p:sp>
    </p:spTree>
    <p:extLst>
      <p:ext uri="{BB962C8B-B14F-4D97-AF65-F5344CB8AC3E}">
        <p14:creationId xmlns:p14="http://schemas.microsoft.com/office/powerpoint/2010/main" val="350606630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-1" y="0"/>
            <a:ext cx="35190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adminViewEmpoyee.html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84989AE-1420-7CFC-7A33-B4FACAA95828}"/>
              </a:ext>
            </a:extLst>
          </p:cNvPr>
          <p:cNvSpPr/>
          <p:nvPr/>
        </p:nvSpPr>
        <p:spPr>
          <a:xfrm>
            <a:off x="2328948" y="1216313"/>
            <a:ext cx="7534103" cy="4425374"/>
          </a:xfrm>
          <a:prstGeom prst="roundRect">
            <a:avLst>
              <a:gd name="adj" fmla="val 8439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Employee Name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Picture of Employee (has default </a:t>
            </a:r>
            <a:r>
              <a:rPr lang="en-US" sz="2000" b="1" dirty="0" err="1"/>
              <a:t>pfp</a:t>
            </a:r>
            <a:r>
              <a:rPr lang="en-US" sz="2000" b="1" dirty="0"/>
              <a:t> if no picture)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Email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Roles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Privileges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Scope Properties List (Picture?, Name, Address)</a:t>
            </a:r>
          </a:p>
          <a:p>
            <a:pPr lvl="1"/>
            <a:endParaRPr lang="en-US" sz="2000" b="1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Buttons : </a:t>
            </a:r>
            <a:r>
              <a:rPr lang="en-US" sz="2000" b="1" dirty="0" err="1"/>
              <a:t>DeactivateBtn</a:t>
            </a:r>
            <a:r>
              <a:rPr lang="en-US" sz="2000" b="1" dirty="0"/>
              <a:t>, </a:t>
            </a:r>
            <a:r>
              <a:rPr lang="en-US" sz="2000" b="1" dirty="0" err="1"/>
              <a:t>EditBtn</a:t>
            </a:r>
            <a:r>
              <a:rPr lang="en-US" sz="2000" b="1" dirty="0"/>
              <a:t> (y/n)</a:t>
            </a:r>
          </a:p>
          <a:p>
            <a:r>
              <a:rPr lang="en-US" sz="2000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5589587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-1" y="0"/>
            <a:ext cx="35190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adminAddEmpoyee.html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84989AE-1420-7CFC-7A33-B4FACAA95828}"/>
              </a:ext>
            </a:extLst>
          </p:cNvPr>
          <p:cNvSpPr/>
          <p:nvPr/>
        </p:nvSpPr>
        <p:spPr>
          <a:xfrm>
            <a:off x="766618" y="1216313"/>
            <a:ext cx="10658764" cy="4425374"/>
          </a:xfrm>
          <a:prstGeom prst="roundRect">
            <a:avLst>
              <a:gd name="adj" fmla="val 8439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Input{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F,L Name : text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Email : email text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endParaRPr lang="en-US" sz="2000" b="1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Add Roles : text with dropdown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Roles (Name of role) : cards  with button for delete role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endParaRPr lang="en-US" sz="2000" b="1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Add Properties : text with dropdown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Properties (Name of Property, Address): cards with button for delete property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endParaRPr lang="en-US" sz="2000" b="1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Buttons : </a:t>
            </a:r>
            <a:r>
              <a:rPr lang="en-US" sz="2000" b="1" dirty="0" err="1"/>
              <a:t>DeactivateBtn</a:t>
            </a:r>
            <a:r>
              <a:rPr lang="en-US" sz="2000" b="1" dirty="0"/>
              <a:t>, </a:t>
            </a:r>
            <a:r>
              <a:rPr lang="en-US" sz="2000" b="1" dirty="0" err="1"/>
              <a:t>EditBtn</a:t>
            </a:r>
            <a:r>
              <a:rPr lang="en-US" sz="2000" b="1" dirty="0"/>
              <a:t> (y/n)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// if role and properties is empty, don’t proceed to edit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// the privilege is ONLY PSR, No Add Properties &amp; Properties.</a:t>
            </a:r>
          </a:p>
          <a:p>
            <a:r>
              <a:rPr lang="en-US" sz="2000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43656591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-1" y="0"/>
            <a:ext cx="35190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adminEditEmpoyee.html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84989AE-1420-7CFC-7A33-B4FACAA95828}"/>
              </a:ext>
            </a:extLst>
          </p:cNvPr>
          <p:cNvSpPr/>
          <p:nvPr/>
        </p:nvSpPr>
        <p:spPr>
          <a:xfrm>
            <a:off x="766618" y="1216313"/>
            <a:ext cx="10658764" cy="4425374"/>
          </a:xfrm>
          <a:prstGeom prst="roundRect">
            <a:avLst>
              <a:gd name="adj" fmla="val 8439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Input-Autofill{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F,L Name : text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Email : email text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endParaRPr lang="en-US" sz="2000" b="1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Add Roles : text with dropdown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Roles (Name of role) : cards  with button for delete role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endParaRPr lang="en-US" sz="2000" b="1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Add Properties : text with dropdown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Properties (Name of Property, Address): cards with button for delete property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endParaRPr lang="en-US" sz="2000" b="1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Buttons : </a:t>
            </a:r>
            <a:r>
              <a:rPr lang="en-US" sz="2000" b="1" dirty="0" err="1"/>
              <a:t>DeactivateBtn</a:t>
            </a:r>
            <a:r>
              <a:rPr lang="en-US" sz="2000" b="1" dirty="0"/>
              <a:t>, </a:t>
            </a:r>
            <a:r>
              <a:rPr lang="en-US" sz="2000" b="1" dirty="0" err="1"/>
              <a:t>EditBtn</a:t>
            </a:r>
            <a:r>
              <a:rPr lang="en-US" sz="2000" b="1" dirty="0"/>
              <a:t> (y/n)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// if role and properties is empty, don’t proceed to edit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// the privilege is ONLY PSR, No Add Properties.</a:t>
            </a:r>
          </a:p>
          <a:p>
            <a:r>
              <a:rPr lang="en-US" sz="2000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48896366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-1" y="0"/>
            <a:ext cx="35190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adminRoles.html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84989AE-1420-7CFC-7A33-B4FACAA95828}"/>
              </a:ext>
            </a:extLst>
          </p:cNvPr>
          <p:cNvSpPr/>
          <p:nvPr/>
        </p:nvSpPr>
        <p:spPr>
          <a:xfrm>
            <a:off x="2932891" y="1479549"/>
            <a:ext cx="6326217" cy="3898901"/>
          </a:xfrm>
          <a:prstGeom prst="roundRect">
            <a:avLst>
              <a:gd name="adj" fmla="val 8439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Roles{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Add Roles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Search Roles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endParaRPr lang="en-US" sz="2000" b="1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List of Roles (table or cards) 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Role name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viewRoleDetails</a:t>
            </a:r>
            <a:r>
              <a:rPr lang="en-US" sz="2000" b="1" dirty="0"/>
              <a:t>(adminViewRoles.html)</a:t>
            </a:r>
          </a:p>
          <a:p>
            <a:pPr lvl="1"/>
            <a:r>
              <a:rPr lang="en-US" sz="2000" b="1" dirty="0"/>
              <a:t>}</a:t>
            </a:r>
          </a:p>
          <a:p>
            <a:r>
              <a:rPr lang="en-US" sz="2000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78794673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-1" y="0"/>
            <a:ext cx="35190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adminViewRole.html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84989AE-1420-7CFC-7A33-B4FACAA95828}"/>
              </a:ext>
            </a:extLst>
          </p:cNvPr>
          <p:cNvSpPr/>
          <p:nvPr/>
        </p:nvSpPr>
        <p:spPr>
          <a:xfrm>
            <a:off x="3332191" y="1859682"/>
            <a:ext cx="5527618" cy="3138635"/>
          </a:xfrm>
          <a:prstGeom prst="roundRect">
            <a:avLst>
              <a:gd name="adj" fmla="val 6434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 err="1"/>
              <a:t>viewRole</a:t>
            </a:r>
            <a:r>
              <a:rPr lang="en-US" sz="2000" b="1" dirty="0"/>
              <a:t>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Name of role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Privileges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endParaRPr lang="en-US" sz="2000" b="1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Buttons : edit delete (y/n)</a:t>
            </a:r>
          </a:p>
          <a:p>
            <a:r>
              <a:rPr lang="en-US" sz="2000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76704439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-1" y="0"/>
            <a:ext cx="35190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adminAddRole.html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84989AE-1420-7CFC-7A33-B4FACAA95828}"/>
              </a:ext>
            </a:extLst>
          </p:cNvPr>
          <p:cNvSpPr/>
          <p:nvPr/>
        </p:nvSpPr>
        <p:spPr>
          <a:xfrm>
            <a:off x="1916891" y="1017729"/>
            <a:ext cx="8358217" cy="4754997"/>
          </a:xfrm>
          <a:prstGeom prst="roundRect">
            <a:avLst>
              <a:gd name="adj" fmla="val 6434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 err="1"/>
              <a:t>addRoleInput</a:t>
            </a:r>
            <a:r>
              <a:rPr lang="en-US" sz="2000" b="1" dirty="0"/>
              <a:t>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Name of role : text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Privileges: 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(PSR) Property Summary Report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(TS) Transactions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(TK) Ticketing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(PM) Property Monitoring</a:t>
            </a:r>
          </a:p>
          <a:p>
            <a:pPr lvl="1"/>
            <a:r>
              <a:rPr lang="en-US" sz="2000" b="1" dirty="0"/>
              <a:t>}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chemeClr val="bg1"/>
                </a:solidFill>
              </a:rPr>
              <a:t>Buttons : Add, Cancel (y/n)</a:t>
            </a:r>
          </a:p>
          <a:p>
            <a:r>
              <a:rPr lang="en-US" sz="2000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78694637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-1" y="0"/>
            <a:ext cx="35190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adminEditRole.html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84989AE-1420-7CFC-7A33-B4FACAA95828}"/>
              </a:ext>
            </a:extLst>
          </p:cNvPr>
          <p:cNvSpPr/>
          <p:nvPr/>
        </p:nvSpPr>
        <p:spPr>
          <a:xfrm>
            <a:off x="1916891" y="1017729"/>
            <a:ext cx="8358217" cy="4754997"/>
          </a:xfrm>
          <a:prstGeom prst="roundRect">
            <a:avLst>
              <a:gd name="adj" fmla="val 6434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 err="1"/>
              <a:t>editRoleInput</a:t>
            </a:r>
            <a:r>
              <a:rPr lang="en-US" sz="2000" b="1" dirty="0"/>
              <a:t> Auto Fill{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Name of role : text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Privileges: 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(PSR) Property Summary Report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(TS) Transactions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(TK) Ticketing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(PM) Property Monitoring</a:t>
            </a:r>
          </a:p>
          <a:p>
            <a:pPr lvl="1"/>
            <a:r>
              <a:rPr lang="en-US" sz="2000" b="1" dirty="0"/>
              <a:t>}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chemeClr val="bg1"/>
                </a:solidFill>
              </a:rPr>
              <a:t>Buttons : Save, Cancel (y/n)</a:t>
            </a:r>
          </a:p>
          <a:p>
            <a:r>
              <a:rPr lang="en-US" sz="2000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423914629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-1" y="0"/>
            <a:ext cx="35190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adminFAQs.html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84989AE-1420-7CFC-7A33-B4FACAA95828}"/>
              </a:ext>
            </a:extLst>
          </p:cNvPr>
          <p:cNvSpPr/>
          <p:nvPr/>
        </p:nvSpPr>
        <p:spPr>
          <a:xfrm>
            <a:off x="226636" y="1007684"/>
            <a:ext cx="8270819" cy="4293989"/>
          </a:xfrm>
          <a:prstGeom prst="roundRect">
            <a:avLst>
              <a:gd name="adj" fmla="val 6434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List{(Question, Answer), (Buttons : </a:t>
            </a:r>
            <a:r>
              <a:rPr lang="en-US" sz="2000" b="1" dirty="0" err="1"/>
              <a:t>deleteBtn</a:t>
            </a:r>
            <a:r>
              <a:rPr lang="en-US" sz="2000" b="1" dirty="0"/>
              <a:t>, </a:t>
            </a:r>
            <a:r>
              <a:rPr lang="en-US" sz="2000" b="1" dirty="0" err="1"/>
              <a:t>editBtn</a:t>
            </a:r>
            <a:r>
              <a:rPr lang="en-US" sz="2000" b="1" dirty="0"/>
              <a:t> (y/n))}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AddFAQs</a:t>
            </a:r>
            <a:r>
              <a:rPr lang="en-US" sz="2000" b="1" dirty="0"/>
              <a:t>{</a:t>
            </a:r>
          </a:p>
          <a:p>
            <a:pPr lvl="2"/>
            <a:r>
              <a:rPr lang="en-US" sz="2000" b="1" dirty="0"/>
              <a:t>(</a:t>
            </a:r>
          </a:p>
          <a:p>
            <a:pPr marL="1714500" lvl="3" indent="-342900">
              <a:buFont typeface="Arial" panose="020B0604020202020204" pitchFamily="34" charset="0"/>
              <a:buChar char="•"/>
            </a:pPr>
            <a:r>
              <a:rPr lang="en-US" sz="2000" b="1" dirty="0"/>
              <a:t>Question : text</a:t>
            </a:r>
          </a:p>
          <a:p>
            <a:pPr marL="1714500" lvl="3" indent="-342900">
              <a:buFont typeface="Arial" panose="020B0604020202020204" pitchFamily="34" charset="0"/>
              <a:buChar char="•"/>
            </a:pPr>
            <a:r>
              <a:rPr lang="en-US" sz="2000" b="1" dirty="0"/>
              <a:t>Answer : text</a:t>
            </a:r>
          </a:p>
          <a:p>
            <a:pPr marL="1714500" lvl="3" indent="-342900">
              <a:buFont typeface="Arial" panose="020B0604020202020204" pitchFamily="34" charset="0"/>
              <a:buChar char="•"/>
            </a:pPr>
            <a:r>
              <a:rPr lang="en-US" sz="2000" b="1" dirty="0"/>
              <a:t>Save : button (y/n)</a:t>
            </a:r>
          </a:p>
          <a:p>
            <a:pPr marL="1714500" lvl="3" indent="-342900">
              <a:buFont typeface="Arial" panose="020B0604020202020204" pitchFamily="34" charset="0"/>
              <a:buChar char="•"/>
            </a:pPr>
            <a:r>
              <a:rPr lang="en-US" sz="2000" b="1" dirty="0"/>
              <a:t>Cancel : button (y/n)</a:t>
            </a:r>
          </a:p>
          <a:p>
            <a:pPr lvl="2"/>
            <a:r>
              <a:rPr lang="en-US" sz="2000" b="1" dirty="0"/>
              <a:t>)</a:t>
            </a:r>
          </a:p>
          <a:p>
            <a:pPr lvl="1"/>
            <a:r>
              <a:rPr lang="en-US" sz="2000" b="1" dirty="0"/>
              <a:t>}</a:t>
            </a:r>
          </a:p>
          <a:p>
            <a:r>
              <a:rPr lang="en-US" sz="2000" b="1" dirty="0"/>
              <a:t>}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90B540D9-8496-05FF-AC7C-C72B3E708394}"/>
              </a:ext>
            </a:extLst>
          </p:cNvPr>
          <p:cNvSpPr/>
          <p:nvPr/>
        </p:nvSpPr>
        <p:spPr>
          <a:xfrm>
            <a:off x="8672946" y="1838983"/>
            <a:ext cx="3292418" cy="2631389"/>
          </a:xfrm>
          <a:prstGeom prst="roundRect">
            <a:avLst>
              <a:gd name="adj" fmla="val 6434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 err="1"/>
              <a:t>editBtn</a:t>
            </a:r>
            <a:r>
              <a:rPr lang="en-US" sz="2000" b="1" dirty="0"/>
              <a:t> =&gt; 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Modal autofill(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Question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Answer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Save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Cancel</a:t>
            </a:r>
          </a:p>
          <a:p>
            <a:pPr lvl="1"/>
            <a:r>
              <a:rPr lang="en-US" sz="2000" b="1" dirty="0"/>
              <a:t>)</a:t>
            </a:r>
          </a:p>
          <a:p>
            <a:r>
              <a:rPr lang="en-US" sz="2000" b="1" dirty="0"/>
              <a:t>}</a:t>
            </a: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9BBA1B9C-D5AD-B5A3-AF4F-A9C6460918A1}"/>
              </a:ext>
            </a:extLst>
          </p:cNvPr>
          <p:cNvSpPr/>
          <p:nvPr/>
        </p:nvSpPr>
        <p:spPr>
          <a:xfrm>
            <a:off x="6918036" y="1357745"/>
            <a:ext cx="2410700" cy="637310"/>
          </a:xfrm>
          <a:custGeom>
            <a:avLst/>
            <a:gdLst>
              <a:gd name="connsiteX0" fmla="*/ 0 w 2410700"/>
              <a:gd name="connsiteY0" fmla="*/ 314037 h 637310"/>
              <a:gd name="connsiteX1" fmla="*/ 18473 w 2410700"/>
              <a:gd name="connsiteY1" fmla="*/ 267855 h 637310"/>
              <a:gd name="connsiteX2" fmla="*/ 895928 w 2410700"/>
              <a:gd name="connsiteY2" fmla="*/ 0 h 637310"/>
              <a:gd name="connsiteX3" fmla="*/ 1865746 w 2410700"/>
              <a:gd name="connsiteY3" fmla="*/ 64655 h 637310"/>
              <a:gd name="connsiteX4" fmla="*/ 2032000 w 2410700"/>
              <a:gd name="connsiteY4" fmla="*/ 157019 h 637310"/>
              <a:gd name="connsiteX5" fmla="*/ 2318328 w 2410700"/>
              <a:gd name="connsiteY5" fmla="*/ 443346 h 637310"/>
              <a:gd name="connsiteX6" fmla="*/ 2410691 w 2410700"/>
              <a:gd name="connsiteY6" fmla="*/ 637310 h 6373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410700" h="637310">
                <a:moveTo>
                  <a:pt x="0" y="314037"/>
                </a:moveTo>
                <a:cubicBezTo>
                  <a:pt x="6158" y="298643"/>
                  <a:pt x="5125" y="277690"/>
                  <a:pt x="18473" y="267855"/>
                </a:cubicBezTo>
                <a:cubicBezTo>
                  <a:pt x="429837" y="-35255"/>
                  <a:pt x="324260" y="58137"/>
                  <a:pt x="895928" y="0"/>
                </a:cubicBezTo>
                <a:cubicBezTo>
                  <a:pt x="1219201" y="21552"/>
                  <a:pt x="1544807" y="20297"/>
                  <a:pt x="1865746" y="64655"/>
                </a:cubicBezTo>
                <a:cubicBezTo>
                  <a:pt x="1928545" y="73335"/>
                  <a:pt x="1981142" y="119171"/>
                  <a:pt x="2032000" y="157019"/>
                </a:cubicBezTo>
                <a:cubicBezTo>
                  <a:pt x="2167416" y="257794"/>
                  <a:pt x="2245173" y="315325"/>
                  <a:pt x="2318328" y="443346"/>
                </a:cubicBezTo>
                <a:cubicBezTo>
                  <a:pt x="2413559" y="610000"/>
                  <a:pt x="2410691" y="554063"/>
                  <a:pt x="2410691" y="637310"/>
                </a:cubicBezTo>
              </a:path>
            </a:pathLst>
          </a:cu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47099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-1" y="0"/>
            <a:ext cx="35190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adminFAQs.html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84989AE-1420-7CFC-7A33-B4FACAA95828}"/>
              </a:ext>
            </a:extLst>
          </p:cNvPr>
          <p:cNvSpPr/>
          <p:nvPr/>
        </p:nvSpPr>
        <p:spPr>
          <a:xfrm>
            <a:off x="226636" y="1007684"/>
            <a:ext cx="8270819" cy="4293989"/>
          </a:xfrm>
          <a:prstGeom prst="roundRect">
            <a:avLst>
              <a:gd name="adj" fmla="val 6434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List{(Question, Answer), (Buttons : </a:t>
            </a:r>
            <a:r>
              <a:rPr lang="en-US" sz="2000" b="1" dirty="0" err="1"/>
              <a:t>deleteBtn</a:t>
            </a:r>
            <a:r>
              <a:rPr lang="en-US" sz="2000" b="1" dirty="0"/>
              <a:t>, </a:t>
            </a:r>
            <a:r>
              <a:rPr lang="en-US" sz="2000" b="1" dirty="0" err="1"/>
              <a:t>editBtn</a:t>
            </a:r>
            <a:r>
              <a:rPr lang="en-US" sz="2000" b="1" dirty="0"/>
              <a:t> (y/n))}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AddFAQs</a:t>
            </a:r>
            <a:r>
              <a:rPr lang="en-US" sz="2000" b="1" dirty="0"/>
              <a:t>{</a:t>
            </a:r>
          </a:p>
          <a:p>
            <a:pPr lvl="2"/>
            <a:r>
              <a:rPr lang="en-US" sz="2000" b="1" dirty="0"/>
              <a:t>(</a:t>
            </a:r>
          </a:p>
          <a:p>
            <a:pPr marL="1714500" lvl="3" indent="-342900">
              <a:buFont typeface="Arial" panose="020B0604020202020204" pitchFamily="34" charset="0"/>
              <a:buChar char="•"/>
            </a:pPr>
            <a:r>
              <a:rPr lang="en-US" sz="2000" b="1" dirty="0"/>
              <a:t>Question : text</a:t>
            </a:r>
          </a:p>
          <a:p>
            <a:pPr marL="1714500" lvl="3" indent="-342900">
              <a:buFont typeface="Arial" panose="020B0604020202020204" pitchFamily="34" charset="0"/>
              <a:buChar char="•"/>
            </a:pPr>
            <a:r>
              <a:rPr lang="en-US" sz="2000" b="1" dirty="0"/>
              <a:t>Answer : text</a:t>
            </a:r>
          </a:p>
          <a:p>
            <a:pPr marL="1714500" lvl="3" indent="-342900">
              <a:buFont typeface="Arial" panose="020B0604020202020204" pitchFamily="34" charset="0"/>
              <a:buChar char="•"/>
            </a:pPr>
            <a:r>
              <a:rPr lang="en-US" sz="2000" b="1" dirty="0"/>
              <a:t>Save : button (y/n)</a:t>
            </a:r>
          </a:p>
          <a:p>
            <a:pPr marL="1714500" lvl="3" indent="-342900">
              <a:buFont typeface="Arial" panose="020B0604020202020204" pitchFamily="34" charset="0"/>
              <a:buChar char="•"/>
            </a:pPr>
            <a:r>
              <a:rPr lang="en-US" sz="2000" b="1" dirty="0"/>
              <a:t>Cancel : button (y/n)</a:t>
            </a:r>
          </a:p>
          <a:p>
            <a:pPr lvl="2"/>
            <a:r>
              <a:rPr lang="en-US" sz="2000" b="1" dirty="0"/>
              <a:t>)</a:t>
            </a:r>
          </a:p>
          <a:p>
            <a:pPr lvl="1"/>
            <a:r>
              <a:rPr lang="en-US" sz="2000" b="1" dirty="0"/>
              <a:t>}</a:t>
            </a:r>
          </a:p>
          <a:p>
            <a:r>
              <a:rPr lang="en-US" sz="2000" b="1" dirty="0"/>
              <a:t>}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90B540D9-8496-05FF-AC7C-C72B3E708394}"/>
              </a:ext>
            </a:extLst>
          </p:cNvPr>
          <p:cNvSpPr/>
          <p:nvPr/>
        </p:nvSpPr>
        <p:spPr>
          <a:xfrm>
            <a:off x="8672946" y="1838983"/>
            <a:ext cx="3292418" cy="2631389"/>
          </a:xfrm>
          <a:prstGeom prst="roundRect">
            <a:avLst>
              <a:gd name="adj" fmla="val 6434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 err="1"/>
              <a:t>editBtn</a:t>
            </a:r>
            <a:r>
              <a:rPr lang="en-US" sz="2000" b="1" dirty="0"/>
              <a:t> =&gt; 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Modal autofill(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Question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Answer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Save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Cancel</a:t>
            </a:r>
          </a:p>
          <a:p>
            <a:pPr lvl="1"/>
            <a:r>
              <a:rPr lang="en-US" sz="2000" b="1" dirty="0"/>
              <a:t>)</a:t>
            </a:r>
          </a:p>
          <a:p>
            <a:r>
              <a:rPr lang="en-US" sz="2000" b="1" dirty="0"/>
              <a:t>}</a:t>
            </a: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9BBA1B9C-D5AD-B5A3-AF4F-A9C6460918A1}"/>
              </a:ext>
            </a:extLst>
          </p:cNvPr>
          <p:cNvSpPr/>
          <p:nvPr/>
        </p:nvSpPr>
        <p:spPr>
          <a:xfrm>
            <a:off x="6918036" y="1357745"/>
            <a:ext cx="2410700" cy="637310"/>
          </a:xfrm>
          <a:custGeom>
            <a:avLst/>
            <a:gdLst>
              <a:gd name="connsiteX0" fmla="*/ 0 w 2410700"/>
              <a:gd name="connsiteY0" fmla="*/ 314037 h 637310"/>
              <a:gd name="connsiteX1" fmla="*/ 18473 w 2410700"/>
              <a:gd name="connsiteY1" fmla="*/ 267855 h 637310"/>
              <a:gd name="connsiteX2" fmla="*/ 895928 w 2410700"/>
              <a:gd name="connsiteY2" fmla="*/ 0 h 637310"/>
              <a:gd name="connsiteX3" fmla="*/ 1865746 w 2410700"/>
              <a:gd name="connsiteY3" fmla="*/ 64655 h 637310"/>
              <a:gd name="connsiteX4" fmla="*/ 2032000 w 2410700"/>
              <a:gd name="connsiteY4" fmla="*/ 157019 h 637310"/>
              <a:gd name="connsiteX5" fmla="*/ 2318328 w 2410700"/>
              <a:gd name="connsiteY5" fmla="*/ 443346 h 637310"/>
              <a:gd name="connsiteX6" fmla="*/ 2410691 w 2410700"/>
              <a:gd name="connsiteY6" fmla="*/ 637310 h 6373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410700" h="637310">
                <a:moveTo>
                  <a:pt x="0" y="314037"/>
                </a:moveTo>
                <a:cubicBezTo>
                  <a:pt x="6158" y="298643"/>
                  <a:pt x="5125" y="277690"/>
                  <a:pt x="18473" y="267855"/>
                </a:cubicBezTo>
                <a:cubicBezTo>
                  <a:pt x="429837" y="-35255"/>
                  <a:pt x="324260" y="58137"/>
                  <a:pt x="895928" y="0"/>
                </a:cubicBezTo>
                <a:cubicBezTo>
                  <a:pt x="1219201" y="21552"/>
                  <a:pt x="1544807" y="20297"/>
                  <a:pt x="1865746" y="64655"/>
                </a:cubicBezTo>
                <a:cubicBezTo>
                  <a:pt x="1928545" y="73335"/>
                  <a:pt x="1981142" y="119171"/>
                  <a:pt x="2032000" y="157019"/>
                </a:cubicBezTo>
                <a:cubicBezTo>
                  <a:pt x="2167416" y="257794"/>
                  <a:pt x="2245173" y="315325"/>
                  <a:pt x="2318328" y="443346"/>
                </a:cubicBezTo>
                <a:cubicBezTo>
                  <a:pt x="2413559" y="610000"/>
                  <a:pt x="2410691" y="554063"/>
                  <a:pt x="2410691" y="637310"/>
                </a:cubicBezTo>
              </a:path>
            </a:pathLst>
          </a:cu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742050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-1" y="0"/>
            <a:ext cx="434109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adminLandingPage.html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84989AE-1420-7CFC-7A33-B4FACAA95828}"/>
              </a:ext>
            </a:extLst>
          </p:cNvPr>
          <p:cNvSpPr/>
          <p:nvPr/>
        </p:nvSpPr>
        <p:spPr>
          <a:xfrm>
            <a:off x="263582" y="1687019"/>
            <a:ext cx="5056564" cy="3483959"/>
          </a:xfrm>
          <a:prstGeom prst="roundRect">
            <a:avLst>
              <a:gd name="adj" fmla="val 6434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Landing </a:t>
            </a:r>
            <a:r>
              <a:rPr lang="en-US" sz="2000" b="1" dirty="0" err="1"/>
              <a:t>PageView</a:t>
            </a:r>
            <a:r>
              <a:rPr lang="en-US" sz="2000" b="1" dirty="0"/>
              <a:t>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Seasonal Texts{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Title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Content</a:t>
            </a:r>
          </a:p>
          <a:p>
            <a:pPr lvl="1"/>
            <a:r>
              <a:rPr lang="en-US" sz="2000" b="1" dirty="0"/>
              <a:t>}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Featured Units (6) cards (photo?, Name, Address)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endParaRPr lang="en-US" sz="2000" b="1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Button : </a:t>
            </a:r>
            <a:r>
              <a:rPr lang="en-US" sz="2000" b="1" dirty="0" err="1"/>
              <a:t>editBtn</a:t>
            </a:r>
            <a:r>
              <a:rPr lang="en-US" sz="2000" b="1" dirty="0"/>
              <a:t> (</a:t>
            </a:r>
            <a:r>
              <a:rPr lang="en-US" sz="2000" b="1" dirty="0" err="1"/>
              <a:t>modalEdit</a:t>
            </a:r>
            <a:r>
              <a:rPr lang="en-US" sz="2000" b="1" dirty="0"/>
              <a:t>)</a:t>
            </a:r>
          </a:p>
          <a:p>
            <a:r>
              <a:rPr lang="en-US" sz="2000" b="1" dirty="0"/>
              <a:t>}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6DCD3C21-5D70-6C2B-2F8B-8FD929B6ABEE}"/>
              </a:ext>
            </a:extLst>
          </p:cNvPr>
          <p:cNvSpPr/>
          <p:nvPr/>
        </p:nvSpPr>
        <p:spPr>
          <a:xfrm>
            <a:off x="5606126" y="914401"/>
            <a:ext cx="6253364" cy="4661594"/>
          </a:xfrm>
          <a:prstGeom prst="roundRect">
            <a:avLst>
              <a:gd name="adj" fmla="val 6434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 err="1"/>
              <a:t>modalEdit</a:t>
            </a:r>
            <a:r>
              <a:rPr lang="en-US" sz="2000" b="1" dirty="0"/>
              <a:t> auto fill{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Seasonal Texts{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Title : text input (min char)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Content : text input (min char)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Upload: </a:t>
            </a:r>
            <a:r>
              <a:rPr lang="en-US" sz="2000" b="1" dirty="0" err="1"/>
              <a:t>BgImage</a:t>
            </a:r>
            <a:r>
              <a:rPr lang="en-US" sz="2000" b="1" dirty="0"/>
              <a:t> (set a mins-max size of image required)</a:t>
            </a:r>
          </a:p>
          <a:p>
            <a:pPr lvl="1"/>
            <a:r>
              <a:rPr lang="en-US" sz="2000" b="1" dirty="0"/>
              <a:t>}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Edit Featured Units 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Text Input w/ dropdown suggestion: (Name, Address)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endParaRPr lang="en-US" sz="2000" b="1" dirty="0"/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List of selected Featured units{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Photo?, Name, Address</a:t>
            </a:r>
          </a:p>
          <a:p>
            <a:pPr lvl="2"/>
            <a:r>
              <a:rPr lang="en-US" sz="2000" b="1" dirty="0"/>
              <a:t>}</a:t>
            </a:r>
          </a:p>
          <a:p>
            <a:pPr lvl="1"/>
            <a:r>
              <a:rPr lang="en-US" sz="2000" b="1" dirty="0"/>
              <a:t>}</a:t>
            </a:r>
          </a:p>
        </p:txBody>
      </p:sp>
      <p:cxnSp>
        <p:nvCxnSpPr>
          <p:cNvPr id="7" name="Connector: Curved 6">
            <a:extLst>
              <a:ext uri="{FF2B5EF4-FFF2-40B4-BE49-F238E27FC236}">
                <a16:creationId xmlns:a16="http://schemas.microsoft.com/office/drawing/2014/main" id="{840C349B-D7EC-59DE-D294-E747E8EB5A29}"/>
              </a:ext>
            </a:extLst>
          </p:cNvPr>
          <p:cNvCxnSpPr/>
          <p:nvPr/>
        </p:nvCxnSpPr>
        <p:spPr>
          <a:xfrm rot="5400000" flipH="1" flipV="1">
            <a:off x="3652982" y="2008910"/>
            <a:ext cx="2678545" cy="2207491"/>
          </a:xfrm>
          <a:prstGeom prst="curvedConnector3">
            <a:avLst>
              <a:gd name="adj1" fmla="val 26207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9474839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-1" y="0"/>
            <a:ext cx="434109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adminAuditTrails.html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68BB174B-DA6B-6E0E-C5DD-0A4E7C8FC9F6}"/>
              </a:ext>
            </a:extLst>
          </p:cNvPr>
          <p:cNvSpPr/>
          <p:nvPr/>
        </p:nvSpPr>
        <p:spPr>
          <a:xfrm>
            <a:off x="2426768" y="1374369"/>
            <a:ext cx="7338464" cy="3751813"/>
          </a:xfrm>
          <a:prstGeom prst="roundRect">
            <a:avLst>
              <a:gd name="adj" fmla="val 6434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Toggle By: (</a:t>
            </a:r>
            <a:r>
              <a:rPr lang="en-US" sz="2000" b="1" dirty="0" err="1"/>
              <a:t>Admin,Employee</a:t>
            </a:r>
            <a:r>
              <a:rPr lang="en-US" sz="2000" b="1" dirty="0"/>
              <a:t>, Guest)</a:t>
            </a:r>
          </a:p>
          <a:p>
            <a:r>
              <a:rPr lang="en-US" sz="2000" b="1" dirty="0"/>
              <a:t>Search (By: Date &amp; time, Query(Name, Activity, Role))</a:t>
            </a:r>
          </a:p>
          <a:p>
            <a:endParaRPr lang="en-US" sz="2000" b="1" dirty="0"/>
          </a:p>
          <a:p>
            <a:r>
              <a:rPr lang="en-US" sz="2000" b="1" dirty="0"/>
              <a:t>List(Ref No., </a:t>
            </a:r>
            <a:r>
              <a:rPr lang="en-US" sz="2000" b="1" dirty="0" err="1"/>
              <a:t>Date&amp;Time</a:t>
            </a:r>
            <a:r>
              <a:rPr lang="en-US" sz="2000" b="1" dirty="0"/>
              <a:t>, Name, Activity, Role)</a:t>
            </a:r>
          </a:p>
        </p:txBody>
      </p:sp>
    </p:spTree>
    <p:extLst>
      <p:ext uri="{BB962C8B-B14F-4D97-AF65-F5344CB8AC3E}">
        <p14:creationId xmlns:p14="http://schemas.microsoft.com/office/powerpoint/2010/main" val="15812403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-1" y="0"/>
            <a:ext cx="35190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adminPayment.html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84989AE-1420-7CFC-7A33-B4FACAA95828}"/>
              </a:ext>
            </a:extLst>
          </p:cNvPr>
          <p:cNvSpPr/>
          <p:nvPr/>
        </p:nvSpPr>
        <p:spPr>
          <a:xfrm>
            <a:off x="2328948" y="1216313"/>
            <a:ext cx="7534103" cy="4425374"/>
          </a:xfrm>
          <a:prstGeom prst="roundRect">
            <a:avLst>
              <a:gd name="adj" fmla="val 8439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Button : Add Payment (adminAddPayment.html)</a:t>
            </a:r>
          </a:p>
          <a:p>
            <a:r>
              <a:rPr lang="en-US" sz="2000" b="1" dirty="0" err="1"/>
              <a:t>PaymentList</a:t>
            </a:r>
            <a:r>
              <a:rPr lang="en-US" sz="2000" b="1" dirty="0"/>
              <a:t>{</a:t>
            </a:r>
          </a:p>
          <a:p>
            <a:r>
              <a:rPr lang="en-US" sz="2000" b="1" dirty="0"/>
              <a:t>// card or table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Payment Platform Name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Button : edit (adminEditPayment.html)</a:t>
            </a:r>
          </a:p>
          <a:p>
            <a:r>
              <a:rPr lang="en-US" sz="2000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60896086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-1" y="0"/>
            <a:ext cx="35190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adminPayment.html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84989AE-1420-7CFC-7A33-B4FACAA95828}"/>
              </a:ext>
            </a:extLst>
          </p:cNvPr>
          <p:cNvSpPr/>
          <p:nvPr/>
        </p:nvSpPr>
        <p:spPr>
          <a:xfrm>
            <a:off x="2328948" y="1216313"/>
            <a:ext cx="7534103" cy="4425374"/>
          </a:xfrm>
          <a:prstGeom prst="roundRect">
            <a:avLst>
              <a:gd name="adj" fmla="val 8439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Button : Add Payment (adminAddPayment.html)</a:t>
            </a:r>
          </a:p>
          <a:p>
            <a:r>
              <a:rPr lang="en-US" sz="2000" b="1" dirty="0" err="1"/>
              <a:t>PaymentList</a:t>
            </a:r>
            <a:r>
              <a:rPr lang="en-US" sz="2000" b="1" dirty="0"/>
              <a:t>{</a:t>
            </a:r>
          </a:p>
          <a:p>
            <a:r>
              <a:rPr lang="en-US" sz="2000" b="1" dirty="0"/>
              <a:t>// card or table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Payment Platform Name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Button : view details (adminViewPayment.html)</a:t>
            </a:r>
          </a:p>
          <a:p>
            <a:r>
              <a:rPr lang="en-US" sz="2000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48448961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-1" y="0"/>
            <a:ext cx="35190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adminViewPayment.html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84989AE-1420-7CFC-7A33-B4FACAA95828}"/>
              </a:ext>
            </a:extLst>
          </p:cNvPr>
          <p:cNvSpPr/>
          <p:nvPr/>
        </p:nvSpPr>
        <p:spPr>
          <a:xfrm>
            <a:off x="2328948" y="1216313"/>
            <a:ext cx="7534103" cy="4425374"/>
          </a:xfrm>
          <a:prstGeom prst="roundRect">
            <a:avLst>
              <a:gd name="adj" fmla="val 8439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 err="1"/>
              <a:t>PaymentDetails</a:t>
            </a:r>
            <a:r>
              <a:rPr lang="en-US" sz="2000" b="1" dirty="0"/>
              <a:t>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Payment Platform Name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Date created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Img</a:t>
            </a:r>
            <a:r>
              <a:rPr lang="en-US" sz="2000" b="1" dirty="0"/>
              <a:t>: </a:t>
            </a:r>
            <a:r>
              <a:rPr lang="en-US" sz="2000" b="1" dirty="0" err="1"/>
              <a:t>Qr</a:t>
            </a:r>
            <a:r>
              <a:rPr lang="en-US" sz="2000" b="1" dirty="0"/>
              <a:t> code image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Button : edit (admineditPayment.html), Delete</a:t>
            </a:r>
          </a:p>
          <a:p>
            <a:r>
              <a:rPr lang="en-US" sz="2000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417599199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-1" y="0"/>
            <a:ext cx="35190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adminViewPayment.html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84989AE-1420-7CFC-7A33-B4FACAA95828}"/>
              </a:ext>
            </a:extLst>
          </p:cNvPr>
          <p:cNvSpPr/>
          <p:nvPr/>
        </p:nvSpPr>
        <p:spPr>
          <a:xfrm>
            <a:off x="2328948" y="1216313"/>
            <a:ext cx="7534103" cy="4425374"/>
          </a:xfrm>
          <a:prstGeom prst="roundRect">
            <a:avLst>
              <a:gd name="adj" fmla="val 8439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 err="1"/>
              <a:t>PaymentEdit</a:t>
            </a:r>
            <a:r>
              <a:rPr lang="en-US" sz="2000" b="1" dirty="0"/>
              <a:t>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Payment Platform Name : auto fill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Date created : auto fill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Img</a:t>
            </a:r>
            <a:r>
              <a:rPr lang="en-US" sz="2000" b="1" dirty="0"/>
              <a:t>: </a:t>
            </a:r>
            <a:r>
              <a:rPr lang="en-US" sz="2000" b="1" dirty="0" err="1"/>
              <a:t>Qr</a:t>
            </a:r>
            <a:r>
              <a:rPr lang="en-US" sz="2000" b="1" dirty="0"/>
              <a:t> code image : auto fill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Input: image </a:t>
            </a:r>
            <a:r>
              <a:rPr lang="en-US" sz="2000" b="1" dirty="0" err="1"/>
              <a:t>qr</a:t>
            </a:r>
            <a:r>
              <a:rPr lang="en-US" sz="2000" b="1" dirty="0"/>
              <a:t> code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Button : save, cancel</a:t>
            </a:r>
          </a:p>
          <a:p>
            <a:r>
              <a:rPr lang="en-US" sz="2000" b="1" dirty="0"/>
              <a:t>}</a:t>
            </a:r>
          </a:p>
        </p:txBody>
      </p:sp>
      <p:cxnSp>
        <p:nvCxnSpPr>
          <p:cNvPr id="2" name="Connector: Curved 1">
            <a:extLst>
              <a:ext uri="{FF2B5EF4-FFF2-40B4-BE49-F238E27FC236}">
                <a16:creationId xmlns:a16="http://schemas.microsoft.com/office/drawing/2014/main" id="{FBF2BCD9-0C2E-FEBC-83D6-2497A2A7C16D}"/>
              </a:ext>
            </a:extLst>
          </p:cNvPr>
          <p:cNvCxnSpPr>
            <a:cxnSpLocks/>
          </p:cNvCxnSpPr>
          <p:nvPr/>
        </p:nvCxnSpPr>
        <p:spPr>
          <a:xfrm rot="10800000" flipV="1">
            <a:off x="5680365" y="3429000"/>
            <a:ext cx="849744" cy="311724"/>
          </a:xfrm>
          <a:prstGeom prst="curvedConnector3">
            <a:avLst>
              <a:gd name="adj1" fmla="val 11956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8988508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-1" y="0"/>
            <a:ext cx="35190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adminAddPayment.html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84989AE-1420-7CFC-7A33-B4FACAA95828}"/>
              </a:ext>
            </a:extLst>
          </p:cNvPr>
          <p:cNvSpPr/>
          <p:nvPr/>
        </p:nvSpPr>
        <p:spPr>
          <a:xfrm>
            <a:off x="2328948" y="1216313"/>
            <a:ext cx="7534103" cy="4425374"/>
          </a:xfrm>
          <a:prstGeom prst="roundRect">
            <a:avLst>
              <a:gd name="adj" fmla="val 8439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 err="1"/>
              <a:t>PaymentAdd</a:t>
            </a:r>
            <a:r>
              <a:rPr lang="en-US" sz="2000" b="1" dirty="0"/>
              <a:t>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Payment Platform Name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Date created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Img</a:t>
            </a:r>
            <a:r>
              <a:rPr lang="en-US" sz="2000" b="1" dirty="0"/>
              <a:t>: </a:t>
            </a:r>
            <a:r>
              <a:rPr lang="en-US" sz="2000" b="1" dirty="0" err="1"/>
              <a:t>Qr</a:t>
            </a:r>
            <a:r>
              <a:rPr lang="en-US" sz="2000" b="1" dirty="0"/>
              <a:t> code image : auto fill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Input: image </a:t>
            </a:r>
            <a:r>
              <a:rPr lang="en-US" sz="2000" b="1" dirty="0" err="1"/>
              <a:t>qr</a:t>
            </a:r>
            <a:r>
              <a:rPr lang="en-US" sz="2000" b="1" dirty="0"/>
              <a:t> code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Button : Create, Cancel</a:t>
            </a:r>
          </a:p>
          <a:p>
            <a:r>
              <a:rPr lang="en-US" sz="2000" b="1" dirty="0"/>
              <a:t>}</a:t>
            </a:r>
          </a:p>
        </p:txBody>
      </p:sp>
      <p:cxnSp>
        <p:nvCxnSpPr>
          <p:cNvPr id="2" name="Connector: Curved 1">
            <a:extLst>
              <a:ext uri="{FF2B5EF4-FFF2-40B4-BE49-F238E27FC236}">
                <a16:creationId xmlns:a16="http://schemas.microsoft.com/office/drawing/2014/main" id="{FBF2BCD9-0C2E-FEBC-83D6-2497A2A7C16D}"/>
              </a:ext>
            </a:extLst>
          </p:cNvPr>
          <p:cNvCxnSpPr>
            <a:cxnSpLocks/>
          </p:cNvCxnSpPr>
          <p:nvPr/>
        </p:nvCxnSpPr>
        <p:spPr>
          <a:xfrm rot="10800000" flipV="1">
            <a:off x="5680365" y="3429000"/>
            <a:ext cx="849744" cy="311724"/>
          </a:xfrm>
          <a:prstGeom prst="curvedConnector3">
            <a:avLst>
              <a:gd name="adj1" fmla="val 11956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6149337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D24CF71-0CBF-A8FF-E77D-A0FDFC9E3345}"/>
              </a:ext>
            </a:extLst>
          </p:cNvPr>
          <p:cNvSpPr txBox="1"/>
          <p:nvPr/>
        </p:nvSpPr>
        <p:spPr>
          <a:xfrm>
            <a:off x="4149899" y="3172508"/>
            <a:ext cx="367053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/>
              <a:t>EMPLOYEE</a:t>
            </a:r>
          </a:p>
        </p:txBody>
      </p:sp>
    </p:spTree>
    <p:extLst>
      <p:ext uri="{BB962C8B-B14F-4D97-AF65-F5344CB8AC3E}">
        <p14:creationId xmlns:p14="http://schemas.microsoft.com/office/powerpoint/2010/main" val="402522535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2B4939D4-239C-5B9C-6BE9-1DAD39EEA367}"/>
              </a:ext>
            </a:extLst>
          </p:cNvPr>
          <p:cNvSpPr/>
          <p:nvPr/>
        </p:nvSpPr>
        <p:spPr>
          <a:xfrm>
            <a:off x="252614" y="502260"/>
            <a:ext cx="5492404" cy="3256940"/>
          </a:xfrm>
          <a:prstGeom prst="roundRect">
            <a:avLst>
              <a:gd name="adj" fmla="val 5607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nav-bar{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logoBtn</a:t>
            </a:r>
            <a:r>
              <a:rPr lang="en-US" sz="2000" b="1" dirty="0"/>
              <a:t> : (employeeDashboard.html);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endParaRPr lang="en-US" sz="2000" b="1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Notification : (</a:t>
            </a:r>
            <a:r>
              <a:rPr lang="en-US" sz="2000" b="1" dirty="0" err="1"/>
              <a:t>modalNotif</a:t>
            </a:r>
            <a:r>
              <a:rPr lang="en-US" sz="2000" b="1" dirty="0"/>
              <a:t>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ProfilePic</a:t>
            </a:r>
            <a:r>
              <a:rPr lang="en-US" sz="2000" b="1" dirty="0"/>
              <a:t>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Profile : (employeeProfile.html)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Darkmode</a:t>
            </a:r>
            <a:r>
              <a:rPr lang="en-US" sz="2000" b="1" dirty="0"/>
              <a:t> toggle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logout</a:t>
            </a:r>
          </a:p>
          <a:p>
            <a:pPr lvl="1"/>
            <a:r>
              <a:rPr lang="en-US" sz="2000" b="1" dirty="0"/>
              <a:t>	}</a:t>
            </a:r>
          </a:p>
          <a:p>
            <a:pPr lvl="1"/>
            <a:r>
              <a:rPr lang="en-US" sz="2000" b="1" dirty="0"/>
              <a:t>}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FE390974-8558-DA6F-6031-617A7F4876E4}"/>
              </a:ext>
            </a:extLst>
          </p:cNvPr>
          <p:cNvSpPr/>
          <p:nvPr/>
        </p:nvSpPr>
        <p:spPr>
          <a:xfrm>
            <a:off x="252614" y="4083595"/>
            <a:ext cx="5853084" cy="2272145"/>
          </a:xfrm>
          <a:prstGeom prst="round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 err="1"/>
              <a:t>modalNotif</a:t>
            </a:r>
            <a:r>
              <a:rPr lang="en-US" sz="2000" b="1" dirty="0"/>
              <a:t>(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senderName</a:t>
            </a:r>
            <a:endParaRPr lang="en-US" sz="2000" b="1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Date and time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Message</a:t>
            </a:r>
          </a:p>
          <a:p>
            <a:r>
              <a:rPr lang="en-US" sz="2000" b="1" dirty="0"/>
              <a:t>)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C4F9E9BD-FF05-2483-CCF3-4EB48DF5692D}"/>
              </a:ext>
            </a:extLst>
          </p:cNvPr>
          <p:cNvSpPr/>
          <p:nvPr/>
        </p:nvSpPr>
        <p:spPr>
          <a:xfrm>
            <a:off x="5855855" y="553340"/>
            <a:ext cx="6302895" cy="3154780"/>
          </a:xfrm>
          <a:prstGeom prst="roundRect">
            <a:avLst>
              <a:gd name="adj" fmla="val 8857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sidebar{</a:t>
            </a:r>
          </a:p>
          <a:p>
            <a:pPr lvl="1"/>
            <a:r>
              <a:rPr lang="en-US" sz="2000" b="1" dirty="0"/>
              <a:t>// these are the dynamic modules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employeePSR.html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employeeTS.html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employeeTK.html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employeePM.html</a:t>
            </a:r>
          </a:p>
          <a:p>
            <a:r>
              <a:rPr lang="en-US" sz="2000" b="1" dirty="0"/>
              <a:t>}</a:t>
            </a:r>
          </a:p>
        </p:txBody>
      </p:sp>
      <p:cxnSp>
        <p:nvCxnSpPr>
          <p:cNvPr id="7" name="Connector: Curved 6">
            <a:extLst>
              <a:ext uri="{FF2B5EF4-FFF2-40B4-BE49-F238E27FC236}">
                <a16:creationId xmlns:a16="http://schemas.microsoft.com/office/drawing/2014/main" id="{D94A55A5-4240-A486-7635-1AE372F55C6A}"/>
              </a:ext>
            </a:extLst>
          </p:cNvPr>
          <p:cNvCxnSpPr>
            <a:cxnSpLocks/>
          </p:cNvCxnSpPr>
          <p:nvPr/>
        </p:nvCxnSpPr>
        <p:spPr>
          <a:xfrm rot="5400000">
            <a:off x="-651163" y="2951018"/>
            <a:ext cx="2669309" cy="461818"/>
          </a:xfrm>
          <a:prstGeom prst="curvedConnector3">
            <a:avLst>
              <a:gd name="adj1" fmla="val 173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FC770D13-D7BF-5BC1-2E30-33E11120A8F2}"/>
              </a:ext>
            </a:extLst>
          </p:cNvPr>
          <p:cNvSpPr txBox="1"/>
          <p:nvPr/>
        </p:nvSpPr>
        <p:spPr>
          <a:xfrm>
            <a:off x="8407862" y="5647854"/>
            <a:ext cx="367053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b="1" dirty="0"/>
              <a:t>This is reusable for every page in Employee User Level</a:t>
            </a:r>
          </a:p>
        </p:txBody>
      </p:sp>
    </p:spTree>
    <p:extLst>
      <p:ext uri="{BB962C8B-B14F-4D97-AF65-F5344CB8AC3E}">
        <p14:creationId xmlns:p14="http://schemas.microsoft.com/office/powerpoint/2010/main" val="88384620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2B4939D4-239C-5B9C-6BE9-1DAD39EEA367}"/>
              </a:ext>
            </a:extLst>
          </p:cNvPr>
          <p:cNvSpPr/>
          <p:nvPr/>
        </p:nvSpPr>
        <p:spPr>
          <a:xfrm>
            <a:off x="4128654" y="200055"/>
            <a:ext cx="3463637" cy="862127"/>
          </a:xfrm>
          <a:prstGeom prst="roundRect">
            <a:avLst>
              <a:gd name="adj" fmla="val 6458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1"/>
            <a:r>
              <a:rPr lang="en-US" sz="2000" b="1" dirty="0"/>
              <a:t>Dynamic Dashboard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334CD5D-0501-F20B-E8F8-6EA1A7ED9283}"/>
              </a:ext>
            </a:extLst>
          </p:cNvPr>
          <p:cNvSpPr txBox="1"/>
          <p:nvPr/>
        </p:nvSpPr>
        <p:spPr>
          <a:xfrm>
            <a:off x="-1" y="0"/>
            <a:ext cx="434109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employeeDashboard.html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6E73A897-5450-4344-36D1-BCA0733CCBFC}"/>
              </a:ext>
            </a:extLst>
          </p:cNvPr>
          <p:cNvSpPr/>
          <p:nvPr/>
        </p:nvSpPr>
        <p:spPr>
          <a:xfrm>
            <a:off x="101602" y="1208139"/>
            <a:ext cx="3805380" cy="4062878"/>
          </a:xfrm>
          <a:prstGeom prst="roundRect">
            <a:avLst>
              <a:gd name="adj" fmla="val 5218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>
                <a:solidFill>
                  <a:srgbClr val="FF0000"/>
                </a:solidFill>
              </a:rPr>
              <a:t>If</a:t>
            </a:r>
            <a:r>
              <a:rPr lang="en-US" sz="1600" b="1" dirty="0"/>
              <a:t> PSR Summary{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600" b="1" dirty="0"/>
              <a:t>Total earnings this Week,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600" b="1" dirty="0"/>
              <a:t>Month,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600" b="1" dirty="0"/>
              <a:t>Year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endParaRPr lang="en-US" sz="1600" b="1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600" b="1" dirty="0"/>
              <a:t>Most Peak Booking Day this (Toggle):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Month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Year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Week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endParaRPr lang="en-US" sz="1600" b="1" dirty="0"/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1600" b="1" dirty="0"/>
              <a:t>Result: `This Week: Jan 01, 2025 - 25 bookings`</a:t>
            </a:r>
          </a:p>
          <a:p>
            <a:r>
              <a:rPr lang="en-US" sz="1600" b="1" dirty="0"/>
              <a:t>}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11334219-EC65-8579-7B34-4A0572271D99}"/>
              </a:ext>
            </a:extLst>
          </p:cNvPr>
          <p:cNvSpPr/>
          <p:nvPr/>
        </p:nvSpPr>
        <p:spPr>
          <a:xfrm>
            <a:off x="4001654" y="1187282"/>
            <a:ext cx="6841837" cy="1380428"/>
          </a:xfrm>
          <a:prstGeom prst="roundRect">
            <a:avLst>
              <a:gd name="adj" fmla="val 6069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>
                <a:solidFill>
                  <a:srgbClr val="FF0000"/>
                </a:solidFill>
              </a:rPr>
              <a:t>If</a:t>
            </a:r>
            <a:r>
              <a:rPr lang="en-US" sz="1600" b="1" dirty="0"/>
              <a:t> TS{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600" b="1" dirty="0"/>
              <a:t>Display (5) transactions of a property that assigned to them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600" b="1" dirty="0"/>
              <a:t>Trans#, Name of  guest, Name of property, Date of booking)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600" b="1" dirty="0"/>
              <a:t>Button : Go to (employeeTS.html)</a:t>
            </a:r>
          </a:p>
          <a:p>
            <a:pPr lvl="1"/>
            <a:r>
              <a:rPr lang="en-US" sz="1600" b="1" dirty="0"/>
              <a:t>}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7464B1F-9722-7A05-DF07-5B6C01B4D2D5}"/>
              </a:ext>
            </a:extLst>
          </p:cNvPr>
          <p:cNvSpPr/>
          <p:nvPr/>
        </p:nvSpPr>
        <p:spPr>
          <a:xfrm>
            <a:off x="4001653" y="2665254"/>
            <a:ext cx="6841837" cy="1177074"/>
          </a:xfrm>
          <a:prstGeom prst="roundRect">
            <a:avLst>
              <a:gd name="adj" fmla="val 6069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>
                <a:solidFill>
                  <a:srgbClr val="FF0000"/>
                </a:solidFill>
              </a:rPr>
              <a:t>If</a:t>
            </a:r>
            <a:r>
              <a:rPr lang="en-US" sz="1600" b="1" dirty="0"/>
              <a:t> TK{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600" b="1" dirty="0"/>
              <a:t>Display (5) Queue List of concerns.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600" b="1" dirty="0"/>
              <a:t>List (# of queue, Name, Concern category, Button : </a:t>
            </a:r>
            <a:r>
              <a:rPr lang="en-US" sz="1600" b="1" dirty="0" err="1"/>
              <a:t>handleBtn</a:t>
            </a:r>
            <a:r>
              <a:rPr lang="en-US" sz="1600" b="1" dirty="0"/>
              <a:t>(will start the conversation)) }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DFFD2777-5D18-1E81-A8FD-BD870FD4F98B}"/>
              </a:ext>
            </a:extLst>
          </p:cNvPr>
          <p:cNvSpPr/>
          <p:nvPr/>
        </p:nvSpPr>
        <p:spPr>
          <a:xfrm>
            <a:off x="4001652" y="4004117"/>
            <a:ext cx="7765475" cy="1666601"/>
          </a:xfrm>
          <a:prstGeom prst="roundRect">
            <a:avLst>
              <a:gd name="adj" fmla="val 6069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>
                <a:solidFill>
                  <a:srgbClr val="FF0000"/>
                </a:solidFill>
              </a:rPr>
              <a:t>If </a:t>
            </a:r>
            <a:r>
              <a:rPr lang="en-US" sz="1600" b="1" dirty="0">
                <a:solidFill>
                  <a:schemeClr val="bg1">
                    <a:lumMod val="95000"/>
                  </a:schemeClr>
                </a:solidFill>
              </a:rPr>
              <a:t>PM 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b="1" dirty="0">
                <a:solidFill>
                  <a:schemeClr val="bg1">
                    <a:lumMod val="95000"/>
                  </a:schemeClr>
                </a:solidFill>
              </a:rPr>
              <a:t>List of bookings today. cards or list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b="1" dirty="0">
                <a:solidFill>
                  <a:schemeClr val="bg1">
                    <a:lumMod val="95000"/>
                  </a:schemeClr>
                </a:solidFill>
              </a:rPr>
              <a:t>Max of 5 list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b="1" dirty="0">
                <a:solidFill>
                  <a:schemeClr val="bg1">
                    <a:lumMod val="95000"/>
                  </a:schemeClr>
                </a:solidFill>
              </a:rPr>
              <a:t>(Name of guest, Time &amp; date of checking in/out, property name )</a:t>
            </a:r>
          </a:p>
          <a:p>
            <a:r>
              <a:rPr lang="en-US" sz="1600" b="1" dirty="0">
                <a:solidFill>
                  <a:schemeClr val="bg1">
                    <a:lumMod val="95000"/>
                  </a:schemeClr>
                </a:solidFill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68907714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0" y="0"/>
            <a:ext cx="295563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employeeProfile.html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F9ACFF90-048F-320A-A752-8D1492FAD30F}"/>
              </a:ext>
            </a:extLst>
          </p:cNvPr>
          <p:cNvSpPr/>
          <p:nvPr/>
        </p:nvSpPr>
        <p:spPr>
          <a:xfrm>
            <a:off x="2929312" y="1064073"/>
            <a:ext cx="6333375" cy="4729854"/>
          </a:xfrm>
          <a:prstGeom prst="round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Profile{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EditBtn</a:t>
            </a:r>
            <a:r>
              <a:rPr lang="en-US" sz="2000" b="1" dirty="0"/>
              <a:t> : (employeeEditProfile.html)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Profile Picture (onclick (</a:t>
            </a:r>
            <a:r>
              <a:rPr lang="en-US" sz="2000" b="1" dirty="0" err="1"/>
              <a:t>ZoomModal</a:t>
            </a:r>
            <a:r>
              <a:rPr lang="en-US" sz="2000" b="1" dirty="0"/>
              <a:t>))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Full Name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Email</a:t>
            </a:r>
          </a:p>
          <a:p>
            <a:r>
              <a:rPr lang="en-US" sz="2000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31533688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0" y="0"/>
            <a:ext cx="356523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employeeEditProfile.html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F9ACFF90-048F-320A-A752-8D1492FAD30F}"/>
              </a:ext>
            </a:extLst>
          </p:cNvPr>
          <p:cNvSpPr/>
          <p:nvPr/>
        </p:nvSpPr>
        <p:spPr>
          <a:xfrm>
            <a:off x="1396075" y="331673"/>
            <a:ext cx="9399849" cy="6194654"/>
          </a:xfrm>
          <a:prstGeom prst="roundRect">
            <a:avLst>
              <a:gd name="adj" fmla="val 8914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 err="1"/>
              <a:t>EditProfileDetails</a:t>
            </a:r>
            <a:r>
              <a:rPr lang="en-US" sz="2000" b="1" dirty="0"/>
              <a:t>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Auto-fill inputs{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ProfilePictureBtn</a:t>
            </a:r>
            <a:r>
              <a:rPr lang="en-US" sz="2000" b="1" dirty="0"/>
              <a:t> (Upload)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Fullname</a:t>
            </a:r>
            <a:endParaRPr lang="en-US" sz="2000" b="1" dirty="0"/>
          </a:p>
          <a:p>
            <a:pPr lvl="1"/>
            <a:r>
              <a:rPr lang="en-US" sz="2000" b="1" dirty="0"/>
              <a:t>}</a:t>
            </a:r>
          </a:p>
          <a:p>
            <a:pPr lvl="1"/>
            <a:r>
              <a:rPr lang="en-US" sz="2000" b="1" dirty="0" err="1"/>
              <a:t>Btn</a:t>
            </a:r>
            <a:r>
              <a:rPr lang="en-US" sz="2000" b="1" dirty="0"/>
              <a:t> (Cancel, Update) : message if successful, then go back to Profile</a:t>
            </a:r>
          </a:p>
          <a:p>
            <a:r>
              <a:rPr lang="en-US" sz="2000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60472669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334CD5D-0501-F20B-E8F8-6EA1A7ED9283}"/>
              </a:ext>
            </a:extLst>
          </p:cNvPr>
          <p:cNvSpPr txBox="1"/>
          <p:nvPr/>
        </p:nvSpPr>
        <p:spPr>
          <a:xfrm>
            <a:off x="-1" y="0"/>
            <a:ext cx="434109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employeePSR.html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6E73A897-5450-4344-36D1-BCA0733CCBFC}"/>
              </a:ext>
            </a:extLst>
          </p:cNvPr>
          <p:cNvSpPr/>
          <p:nvPr/>
        </p:nvSpPr>
        <p:spPr>
          <a:xfrm>
            <a:off x="683490" y="1314571"/>
            <a:ext cx="4729017" cy="4228858"/>
          </a:xfrm>
          <a:prstGeom prst="roundRect">
            <a:avLst>
              <a:gd name="adj" fmla="val 5218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/>
              <a:t>1{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b="1" dirty="0"/>
              <a:t>Total earnings this Week,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b="1" dirty="0"/>
              <a:t>Month,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b="1" dirty="0"/>
              <a:t>Year</a:t>
            </a:r>
          </a:p>
          <a:p>
            <a:r>
              <a:rPr lang="en-US" b="1" dirty="0"/>
              <a:t>}</a:t>
            </a:r>
          </a:p>
          <a:p>
            <a:r>
              <a:rPr lang="en-US" b="1" dirty="0"/>
              <a:t>2{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Most Peak Booking Day this: (Toggle):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Month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Year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Week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Result: `This Week/Month/Year: Jan 01, 2025 - 25 bookings`</a:t>
            </a:r>
          </a:p>
          <a:p>
            <a:r>
              <a:rPr lang="en-US" b="1" dirty="0"/>
              <a:t>}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F8C9AA7C-5BE7-F80A-DA64-C8ADAFE4EE90}"/>
              </a:ext>
            </a:extLst>
          </p:cNvPr>
          <p:cNvSpPr/>
          <p:nvPr/>
        </p:nvSpPr>
        <p:spPr>
          <a:xfrm>
            <a:off x="5541819" y="796234"/>
            <a:ext cx="6326908" cy="5265532"/>
          </a:xfrm>
          <a:prstGeom prst="roundRect">
            <a:avLst>
              <a:gd name="adj" fmla="val 5218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/>
              <a:t>3{</a:t>
            </a:r>
          </a:p>
          <a:p>
            <a:r>
              <a:rPr lang="en-US" b="1" dirty="0"/>
              <a:t>List of all successful Transaction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(Trans#, Property Name, Date of Booking, Amount)</a:t>
            </a:r>
          </a:p>
          <a:p>
            <a:r>
              <a:rPr lang="en-US" b="1" dirty="0"/>
              <a:t>}</a:t>
            </a:r>
          </a:p>
          <a:p>
            <a:r>
              <a:rPr lang="en-US" b="1" dirty="0"/>
              <a:t>4{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Button : export =&gt;(employeeGeneratePSR.html)</a:t>
            </a:r>
          </a:p>
          <a:p>
            <a:r>
              <a:rPr lang="en-US" b="1" dirty="0"/>
              <a:t>}</a:t>
            </a:r>
          </a:p>
          <a:p>
            <a:r>
              <a:rPr lang="en-US" b="1" dirty="0"/>
              <a:t>employeeGeneratePSR.html{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Select : {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Month (year), quarterly (year), semi-annual (year) , annual (year)</a:t>
            </a:r>
          </a:p>
          <a:p>
            <a:pPr lvl="1"/>
            <a:r>
              <a:rPr lang="en-US" b="1" dirty="0"/>
              <a:t>}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HTML Table preview {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M/Q/SA/A (year) 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e.g. January-July 2025  = </a:t>
            </a:r>
            <a:r>
              <a:rPr lang="en-US" b="1" dirty="0" err="1"/>
              <a:t>SemiAnual</a:t>
            </a:r>
            <a:r>
              <a:rPr lang="en-US" b="1" dirty="0"/>
              <a:t> 2025</a:t>
            </a:r>
          </a:p>
          <a:p>
            <a:pPr lvl="1"/>
            <a:r>
              <a:rPr lang="en-US" b="1" dirty="0"/>
              <a:t>}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Button : Generate (download pdf or excel) || Back</a:t>
            </a:r>
          </a:p>
          <a:p>
            <a:r>
              <a:rPr lang="en-US" b="1" dirty="0"/>
              <a:t>}</a:t>
            </a:r>
          </a:p>
        </p:txBody>
      </p:sp>
      <p:cxnSp>
        <p:nvCxnSpPr>
          <p:cNvPr id="3" name="Connector: Curved 2">
            <a:extLst>
              <a:ext uri="{FF2B5EF4-FFF2-40B4-BE49-F238E27FC236}">
                <a16:creationId xmlns:a16="http://schemas.microsoft.com/office/drawing/2014/main" id="{708E1A5F-CFB7-389A-8B04-6F98F9228E9D}"/>
              </a:ext>
            </a:extLst>
          </p:cNvPr>
          <p:cNvCxnSpPr>
            <a:cxnSpLocks/>
          </p:cNvCxnSpPr>
          <p:nvPr/>
        </p:nvCxnSpPr>
        <p:spPr>
          <a:xfrm rot="16200000" flipH="1">
            <a:off x="6137565" y="2627746"/>
            <a:ext cx="517238" cy="138541"/>
          </a:xfrm>
          <a:prstGeom prst="curvedConnector3">
            <a:avLst>
              <a:gd name="adj1" fmla="val 50000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284108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334CD5D-0501-F20B-E8F8-6EA1A7ED9283}"/>
              </a:ext>
            </a:extLst>
          </p:cNvPr>
          <p:cNvSpPr txBox="1"/>
          <p:nvPr/>
        </p:nvSpPr>
        <p:spPr>
          <a:xfrm>
            <a:off x="-1" y="0"/>
            <a:ext cx="434109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employeeTS.html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6E73A897-5450-4344-36D1-BCA0733CCBFC}"/>
              </a:ext>
            </a:extLst>
          </p:cNvPr>
          <p:cNvSpPr/>
          <p:nvPr/>
        </p:nvSpPr>
        <p:spPr>
          <a:xfrm>
            <a:off x="1528618" y="2012722"/>
            <a:ext cx="9134764" cy="2832556"/>
          </a:xfrm>
          <a:prstGeom prst="roundRect">
            <a:avLst>
              <a:gd name="adj" fmla="val 5218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/>
              <a:t>category (Pending, Completed){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List (Trans #, Name of guest, Property Name, Date (I-O), Payment mode,  Total Amount, Status) Button : View (employeeTSView.html)</a:t>
            </a:r>
          </a:p>
          <a:p>
            <a:r>
              <a:rPr lang="en-US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715203395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334CD5D-0501-F20B-E8F8-6EA1A7ED9283}"/>
              </a:ext>
            </a:extLst>
          </p:cNvPr>
          <p:cNvSpPr txBox="1"/>
          <p:nvPr/>
        </p:nvSpPr>
        <p:spPr>
          <a:xfrm>
            <a:off x="-1" y="0"/>
            <a:ext cx="434109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employeeTSView.html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6E73A897-5450-4344-36D1-BCA0733CCBFC}"/>
              </a:ext>
            </a:extLst>
          </p:cNvPr>
          <p:cNvSpPr/>
          <p:nvPr/>
        </p:nvSpPr>
        <p:spPr>
          <a:xfrm>
            <a:off x="277090" y="2012722"/>
            <a:ext cx="6077528" cy="2832556"/>
          </a:xfrm>
          <a:prstGeom prst="roundRect">
            <a:avLst>
              <a:gd name="adj" fmla="val 5218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/>
              <a:t>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Property Name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Transaction Number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Name of Guest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Status (Reserved, Fully Paid, Check In, Check Out, Completed or Cancel) // parang </a:t>
            </a:r>
            <a:r>
              <a:rPr lang="en-US" b="1" dirty="0" err="1"/>
              <a:t>shopee</a:t>
            </a:r>
            <a:r>
              <a:rPr lang="en-US" b="1" dirty="0"/>
              <a:t> xd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Breakdown of payment (Reservation + (Package Payment – discount) * Additional Pax 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Button : back (employeeTS.html)</a:t>
            </a:r>
          </a:p>
          <a:p>
            <a:r>
              <a:rPr lang="en-US" b="1" dirty="0"/>
              <a:t>}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5A4456B4-4281-F7F5-962D-D430BDB4B876}"/>
              </a:ext>
            </a:extLst>
          </p:cNvPr>
          <p:cNvSpPr/>
          <p:nvPr/>
        </p:nvSpPr>
        <p:spPr>
          <a:xfrm>
            <a:off x="6890329" y="2012722"/>
            <a:ext cx="4858326" cy="2832556"/>
          </a:xfrm>
          <a:prstGeom prst="roundRect">
            <a:avLst>
              <a:gd name="adj" fmla="val 5218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/>
              <a:t>Confirm Payment{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For: Reservation/Full Payment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Mode of Payment (</a:t>
            </a:r>
            <a:r>
              <a:rPr lang="en-US" b="1" dirty="0" err="1"/>
              <a:t>Gcash</a:t>
            </a:r>
            <a:r>
              <a:rPr lang="en-US" b="1" dirty="0"/>
              <a:t>, </a:t>
            </a:r>
            <a:r>
              <a:rPr lang="en-US" b="1" dirty="0" err="1"/>
              <a:t>Gotyme</a:t>
            </a:r>
            <a:r>
              <a:rPr lang="en-US" b="1" dirty="0"/>
              <a:t>, maya, </a:t>
            </a:r>
            <a:r>
              <a:rPr lang="en-US" b="1" dirty="0" err="1"/>
              <a:t>UnionBank</a:t>
            </a:r>
            <a:r>
              <a:rPr lang="en-US" b="1" dirty="0"/>
              <a:t>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Transaction Number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Date &amp; time of payment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b="1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Button : Confirm and Decline</a:t>
            </a:r>
          </a:p>
          <a:p>
            <a:r>
              <a:rPr lang="en-US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19616200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334CD5D-0501-F20B-E8F8-6EA1A7ED9283}"/>
              </a:ext>
            </a:extLst>
          </p:cNvPr>
          <p:cNvSpPr txBox="1"/>
          <p:nvPr/>
        </p:nvSpPr>
        <p:spPr>
          <a:xfrm>
            <a:off x="-1" y="0"/>
            <a:ext cx="434109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employeeTK.html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6E73A897-5450-4344-36D1-BCA0733CCBFC}"/>
              </a:ext>
            </a:extLst>
          </p:cNvPr>
          <p:cNvSpPr/>
          <p:nvPr/>
        </p:nvSpPr>
        <p:spPr>
          <a:xfrm>
            <a:off x="962891" y="1382743"/>
            <a:ext cx="10266218" cy="4279148"/>
          </a:xfrm>
          <a:prstGeom prst="roundRect">
            <a:avLst>
              <a:gd name="adj" fmla="val 5218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/>
              <a:t>Section 1 (left){</a:t>
            </a:r>
          </a:p>
          <a:p>
            <a:r>
              <a:rPr lang="en-US" b="1" dirty="0"/>
              <a:t>// category of (Pending/Completed)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List of queue in stack (Queue #, Name, Concern category, Time Date, Button : </a:t>
            </a:r>
            <a:r>
              <a:rPr lang="en-US" b="1" dirty="0" err="1"/>
              <a:t>openQueue</a:t>
            </a:r>
            <a:endParaRPr lang="en-US" b="1" dirty="0"/>
          </a:p>
          <a:p>
            <a:r>
              <a:rPr lang="en-US" b="1" dirty="0"/>
              <a:t>}</a:t>
            </a:r>
          </a:p>
          <a:p>
            <a:r>
              <a:rPr lang="en-US" b="1" dirty="0"/>
              <a:t>Section 2 (Right){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If no queue is open “There is No Open Queue”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If true =&gt; {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First blob message : Concern, submitted by guest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endParaRPr lang="en-US" b="1" dirty="0"/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Reply Input : Text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Button : Send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Button : End Ticket</a:t>
            </a:r>
          </a:p>
          <a:p>
            <a:pPr lvl="1"/>
            <a:r>
              <a:rPr lang="en-US" b="1" dirty="0"/>
              <a:t>}</a:t>
            </a:r>
          </a:p>
          <a:p>
            <a:r>
              <a:rPr lang="en-US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46832774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334CD5D-0501-F20B-E8F8-6EA1A7ED9283}"/>
              </a:ext>
            </a:extLst>
          </p:cNvPr>
          <p:cNvSpPr txBox="1"/>
          <p:nvPr/>
        </p:nvSpPr>
        <p:spPr>
          <a:xfrm>
            <a:off x="-1" y="0"/>
            <a:ext cx="434109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employeePM.html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6E73A897-5450-4344-36D1-BCA0733CCBFC}"/>
              </a:ext>
            </a:extLst>
          </p:cNvPr>
          <p:cNvSpPr/>
          <p:nvPr/>
        </p:nvSpPr>
        <p:spPr>
          <a:xfrm>
            <a:off x="122383" y="267855"/>
            <a:ext cx="7081981" cy="4100945"/>
          </a:xfrm>
          <a:prstGeom prst="roundRect">
            <a:avLst>
              <a:gd name="adj" fmla="val 5218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/>
              <a:t>Section 1{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b="1" dirty="0"/>
              <a:t>Calendar with booked dates and maintenance</a:t>
            </a:r>
          </a:p>
          <a:p>
            <a:r>
              <a:rPr lang="en-US" sz="1600" b="1" dirty="0"/>
              <a:t>}</a:t>
            </a:r>
          </a:p>
          <a:p>
            <a:r>
              <a:rPr lang="en-US" sz="1600" b="1" dirty="0"/>
              <a:t>Section 2{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b="1" dirty="0"/>
              <a:t>Stack of booking list </a:t>
            </a:r>
            <a:r>
              <a:rPr lang="en-US" sz="1600" b="1" dirty="0" err="1"/>
              <a:t>Accorfing</a:t>
            </a:r>
            <a:r>
              <a:rPr lang="en-US" sz="1600" b="1" dirty="0"/>
              <a:t> to selected date from calendar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b="1" dirty="0"/>
              <a:t>(Name of property, </a:t>
            </a:r>
            <a:r>
              <a:rPr lang="en-US" sz="1600" b="1" dirty="0" err="1"/>
              <a:t>CheckIn-CheckOut</a:t>
            </a:r>
            <a:r>
              <a:rPr lang="en-US" sz="1600" b="1" dirty="0"/>
              <a:t> (Time, date), button : (</a:t>
            </a:r>
            <a:r>
              <a:rPr lang="en-US" sz="1600" b="1" dirty="0" err="1"/>
              <a:t>viewBookingModal</a:t>
            </a:r>
            <a:r>
              <a:rPr lang="en-US" sz="1600" b="1" dirty="0"/>
              <a:t>))</a:t>
            </a:r>
          </a:p>
          <a:p>
            <a:r>
              <a:rPr lang="en-US" sz="1600" b="1" dirty="0"/>
              <a:t>}</a:t>
            </a:r>
          </a:p>
          <a:p>
            <a:endParaRPr lang="en-US" sz="1600" b="1" dirty="0"/>
          </a:p>
          <a:p>
            <a:r>
              <a:rPr lang="en-US" sz="1600" b="1" dirty="0"/>
              <a:t>Section 3 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b="1" dirty="0"/>
              <a:t>Category (</a:t>
            </a:r>
            <a:r>
              <a:rPr lang="en-US" sz="1600" b="1" dirty="0" err="1"/>
              <a:t>CheckIn</a:t>
            </a:r>
            <a:r>
              <a:rPr lang="en-US" sz="1600" b="1" dirty="0"/>
              <a:t>, </a:t>
            </a:r>
            <a:r>
              <a:rPr lang="en-US" sz="1600" b="1" dirty="0" err="1"/>
              <a:t>CheckOut</a:t>
            </a:r>
            <a:r>
              <a:rPr lang="en-US" sz="1600" b="1" dirty="0"/>
              <a:t> Today List)</a:t>
            </a:r>
          </a:p>
          <a:p>
            <a:pPr lvl="2"/>
            <a:r>
              <a:rPr lang="en-US" sz="1600" b="1" dirty="0"/>
              <a:t>(for check in only)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/>
              <a:t>Button : confirmation of </a:t>
            </a:r>
            <a:r>
              <a:rPr lang="en-US" sz="1600" b="1" dirty="0">
                <a:solidFill>
                  <a:srgbClr val="FF0000"/>
                </a:solidFill>
              </a:rPr>
              <a:t>check in </a:t>
            </a:r>
            <a:r>
              <a:rPr lang="en-US" sz="1600" b="1" dirty="0"/>
              <a:t>and</a:t>
            </a:r>
            <a:r>
              <a:rPr lang="en-US" sz="1600" b="1" dirty="0">
                <a:solidFill>
                  <a:srgbClr val="FF0000"/>
                </a:solidFill>
              </a:rPr>
              <a:t> cash payment </a:t>
            </a:r>
            <a:r>
              <a:rPr lang="en-US" sz="1600" b="1" dirty="0"/>
              <a:t>modal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/>
              <a:t> Property Name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/>
              <a:t>Guest Name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/>
              <a:t>Check In or Check Out time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/>
              <a:t>Button : </a:t>
            </a:r>
            <a:r>
              <a:rPr lang="en-US" sz="1600" b="1" dirty="0" err="1"/>
              <a:t>completeBtn</a:t>
            </a:r>
            <a:r>
              <a:rPr lang="en-US" sz="1600" b="1" dirty="0"/>
              <a:t>(</a:t>
            </a:r>
            <a:r>
              <a:rPr lang="en-US" sz="1600" b="1" dirty="0" err="1"/>
              <a:t>completeModal</a:t>
            </a:r>
            <a:r>
              <a:rPr lang="en-US" sz="1600" b="1" dirty="0"/>
              <a:t>) for checkout</a:t>
            </a:r>
          </a:p>
          <a:p>
            <a:r>
              <a:rPr lang="en-US" sz="1600" b="1" dirty="0"/>
              <a:t>}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0568A988-8254-B05E-761D-C0FCF2794D78}"/>
              </a:ext>
            </a:extLst>
          </p:cNvPr>
          <p:cNvSpPr/>
          <p:nvPr/>
        </p:nvSpPr>
        <p:spPr>
          <a:xfrm>
            <a:off x="7571511" y="430446"/>
            <a:ext cx="4341092" cy="2647575"/>
          </a:xfrm>
          <a:prstGeom prst="roundRect">
            <a:avLst>
              <a:gd name="adj" fmla="val 5218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 err="1"/>
              <a:t>viewBookingModal</a:t>
            </a:r>
            <a:r>
              <a:rPr lang="en-US" sz="1600" b="1" dirty="0"/>
              <a:t>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b="1" dirty="0" err="1"/>
              <a:t>DisplayDetails</a:t>
            </a:r>
            <a:endParaRPr lang="en-US" sz="1600" b="1" dirty="0"/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/>
              <a:t>Name of property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/>
              <a:t>Guest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 err="1"/>
              <a:t>CheckIn-CheckOut</a:t>
            </a:r>
            <a:r>
              <a:rPr lang="en-US" sz="1600" b="1" dirty="0"/>
              <a:t> (Time, date)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b="1" dirty="0"/>
              <a:t>Buttons : Back , Cancel(</a:t>
            </a:r>
            <a:r>
              <a:rPr lang="en-US" sz="1600" b="1" dirty="0" err="1"/>
              <a:t>CancelModal</a:t>
            </a:r>
            <a:r>
              <a:rPr lang="en-US" sz="1600" b="1" dirty="0"/>
              <a:t>)</a:t>
            </a:r>
          </a:p>
          <a:p>
            <a:r>
              <a:rPr lang="en-US" sz="1600" b="1" dirty="0"/>
              <a:t>}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632AEA5E-16EC-F84E-462D-06263A832FEE}"/>
              </a:ext>
            </a:extLst>
          </p:cNvPr>
          <p:cNvSpPr/>
          <p:nvPr/>
        </p:nvSpPr>
        <p:spPr>
          <a:xfrm>
            <a:off x="7767782" y="3178264"/>
            <a:ext cx="4144821" cy="1846321"/>
          </a:xfrm>
          <a:prstGeom prst="roundRect">
            <a:avLst>
              <a:gd name="adj" fmla="val 5218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 err="1"/>
              <a:t>CompleteModal</a:t>
            </a:r>
            <a:r>
              <a:rPr lang="en-US" sz="1600" b="1" dirty="0"/>
              <a:t>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b="1" dirty="0"/>
              <a:t>Completing Transaction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/>
              <a:t>Report Note: Input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/>
              <a:t>Complete : Button</a:t>
            </a:r>
          </a:p>
          <a:p>
            <a:r>
              <a:rPr lang="en-US" sz="1600" b="1" dirty="0"/>
              <a:t>}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9CA804DE-B942-C5FE-C802-EC3FD242AD49}"/>
              </a:ext>
            </a:extLst>
          </p:cNvPr>
          <p:cNvSpPr/>
          <p:nvPr/>
        </p:nvSpPr>
        <p:spPr>
          <a:xfrm>
            <a:off x="122383" y="4475337"/>
            <a:ext cx="7449128" cy="2294918"/>
          </a:xfrm>
          <a:prstGeom prst="roundRect">
            <a:avLst>
              <a:gd name="adj" fmla="val 5218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 err="1"/>
              <a:t>CancelModal</a:t>
            </a:r>
            <a:r>
              <a:rPr lang="en-US" sz="1600" b="1" dirty="0"/>
              <a:t>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b="1" dirty="0"/>
              <a:t>Cancellation Request // add note that this will sent to admin for approval if the admin didn’t approve or did not respond, it'll not proceed.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/>
              <a:t>Reason to send for user : Input (min of char depends on design)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/>
              <a:t>Reason to send for Admin : input (min of char depends on design)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/>
              <a:t>Button : Send</a:t>
            </a:r>
          </a:p>
          <a:p>
            <a:r>
              <a:rPr lang="en-US" sz="1600" b="1" dirty="0"/>
              <a:t>}</a:t>
            </a:r>
          </a:p>
        </p:txBody>
      </p:sp>
      <p:cxnSp>
        <p:nvCxnSpPr>
          <p:cNvPr id="9" name="Connector: Curved 8">
            <a:extLst>
              <a:ext uri="{FF2B5EF4-FFF2-40B4-BE49-F238E27FC236}">
                <a16:creationId xmlns:a16="http://schemas.microsoft.com/office/drawing/2014/main" id="{30915A87-9B51-BF0F-53EA-0B9B5A5D55E6}"/>
              </a:ext>
            </a:extLst>
          </p:cNvPr>
          <p:cNvCxnSpPr/>
          <p:nvPr/>
        </p:nvCxnSpPr>
        <p:spPr>
          <a:xfrm flipV="1">
            <a:off x="2881745" y="2013527"/>
            <a:ext cx="4765964" cy="83128"/>
          </a:xfrm>
          <a:prstGeom prst="curvedConnector3">
            <a:avLst/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0" name="Connector: Curved 9">
            <a:extLst>
              <a:ext uri="{FF2B5EF4-FFF2-40B4-BE49-F238E27FC236}">
                <a16:creationId xmlns:a16="http://schemas.microsoft.com/office/drawing/2014/main" id="{03E0FC9E-5221-B706-2D04-5AEBA5F044C7}"/>
              </a:ext>
            </a:extLst>
          </p:cNvPr>
          <p:cNvCxnSpPr>
            <a:cxnSpLocks/>
          </p:cNvCxnSpPr>
          <p:nvPr/>
        </p:nvCxnSpPr>
        <p:spPr>
          <a:xfrm flipV="1">
            <a:off x="5994400" y="2447636"/>
            <a:ext cx="2429164" cy="2225964"/>
          </a:xfrm>
          <a:prstGeom prst="curvedConnector3">
            <a:avLst>
              <a:gd name="adj1" fmla="val 50000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5" name="Connector: Curved 14">
            <a:extLst>
              <a:ext uri="{FF2B5EF4-FFF2-40B4-BE49-F238E27FC236}">
                <a16:creationId xmlns:a16="http://schemas.microsoft.com/office/drawing/2014/main" id="{D8D66889-22CB-426B-C480-05652C588296}"/>
              </a:ext>
            </a:extLst>
          </p:cNvPr>
          <p:cNvCxnSpPr>
            <a:cxnSpLocks/>
          </p:cNvCxnSpPr>
          <p:nvPr/>
        </p:nvCxnSpPr>
        <p:spPr>
          <a:xfrm flipV="1">
            <a:off x="5089236" y="3537527"/>
            <a:ext cx="2849422" cy="757382"/>
          </a:xfrm>
          <a:prstGeom prst="curvedConnector3">
            <a:avLst>
              <a:gd name="adj1" fmla="val 50000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2019187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432FD26-F371-24EC-DF02-B006EC732CB3}"/>
              </a:ext>
            </a:extLst>
          </p:cNvPr>
          <p:cNvSpPr txBox="1"/>
          <p:nvPr/>
        </p:nvSpPr>
        <p:spPr>
          <a:xfrm>
            <a:off x="4149899" y="3172508"/>
            <a:ext cx="367053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/>
              <a:t>GUEST</a:t>
            </a:r>
          </a:p>
        </p:txBody>
      </p:sp>
    </p:spTree>
    <p:extLst>
      <p:ext uri="{BB962C8B-B14F-4D97-AF65-F5344CB8AC3E}">
        <p14:creationId xmlns:p14="http://schemas.microsoft.com/office/powerpoint/2010/main" val="3731175336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6E73A897-5450-4344-36D1-BCA0733CCBFC}"/>
              </a:ext>
            </a:extLst>
          </p:cNvPr>
          <p:cNvSpPr/>
          <p:nvPr/>
        </p:nvSpPr>
        <p:spPr>
          <a:xfrm>
            <a:off x="129309" y="304801"/>
            <a:ext cx="5641109" cy="4035964"/>
          </a:xfrm>
          <a:prstGeom prst="roundRect">
            <a:avLst>
              <a:gd name="adj" fmla="val 5218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/>
              <a:t>navbar{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logo : button (guestDashboard.html)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 err="1"/>
              <a:t>searchButton</a:t>
            </a:r>
            <a:r>
              <a:rPr lang="en-US" b="1" dirty="0"/>
              <a:t>(</a:t>
            </a:r>
            <a:r>
              <a:rPr lang="en-US" b="1" dirty="0" err="1"/>
              <a:t>SearchModal</a:t>
            </a:r>
            <a:r>
              <a:rPr lang="en-US" b="1" dirty="0"/>
              <a:t>{})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b="1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tickets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FAQs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Notification with badge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 err="1"/>
              <a:t>profilePicture</a:t>
            </a:r>
            <a:r>
              <a:rPr lang="en-US" b="1" dirty="0"/>
              <a:t> : button {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Profile (guestProfile.html)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My Bookings (guestMyBookings.html)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 err="1"/>
              <a:t>AboutUs</a:t>
            </a:r>
            <a:r>
              <a:rPr lang="en-US" b="1" dirty="0"/>
              <a:t>  (aboutUs.html)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 err="1"/>
              <a:t>Darkmode</a:t>
            </a:r>
            <a:r>
              <a:rPr lang="en-US" b="1" dirty="0"/>
              <a:t> toggle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logout</a:t>
            </a:r>
          </a:p>
          <a:p>
            <a:pPr lvl="1"/>
            <a:r>
              <a:rPr lang="en-US" b="1" dirty="0"/>
              <a:t>}</a:t>
            </a:r>
          </a:p>
          <a:p>
            <a:r>
              <a:rPr lang="en-US" b="1" dirty="0"/>
              <a:t>}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6A9A274-8182-BB4B-C579-C33369387BAA}"/>
              </a:ext>
            </a:extLst>
          </p:cNvPr>
          <p:cNvSpPr txBox="1"/>
          <p:nvPr/>
        </p:nvSpPr>
        <p:spPr>
          <a:xfrm>
            <a:off x="8521470" y="6150114"/>
            <a:ext cx="367053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b="1" dirty="0"/>
              <a:t>This is reusable for every page in Guest User Level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4221A085-B4DE-93D1-125C-FC05404275DB}"/>
              </a:ext>
            </a:extLst>
          </p:cNvPr>
          <p:cNvSpPr/>
          <p:nvPr/>
        </p:nvSpPr>
        <p:spPr>
          <a:xfrm>
            <a:off x="6010563" y="523761"/>
            <a:ext cx="5738092" cy="3826566"/>
          </a:xfrm>
          <a:prstGeom prst="roundRect">
            <a:avLst>
              <a:gd name="adj" fmla="val 5218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 err="1"/>
              <a:t>SearchModal</a:t>
            </a:r>
            <a:r>
              <a:rPr lang="en-US" sz="1600" b="1" dirty="0"/>
              <a:t>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b="1" dirty="0"/>
              <a:t>Inputs{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/>
              <a:t>Where? (all city in database) : selection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 err="1"/>
              <a:t>CheckIn</a:t>
            </a:r>
            <a:r>
              <a:rPr lang="en-US" sz="1600" b="1" dirty="0"/>
              <a:t> : calendar (default any)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 err="1"/>
              <a:t>CheckOut</a:t>
            </a:r>
            <a:r>
              <a:rPr lang="en-US" sz="1600" b="1" dirty="0"/>
              <a:t> : calendar (default any)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/>
              <a:t>Price range start:  float (default no range)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/>
              <a:t>Price range end:  float (default no end range)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/>
              <a:t>People : number (default any)</a:t>
            </a:r>
          </a:p>
          <a:p>
            <a:pPr lvl="1"/>
            <a:r>
              <a:rPr lang="en-US" sz="1600" b="1" dirty="0"/>
              <a:t>}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b="1" dirty="0" err="1"/>
              <a:t>SearchButton</a:t>
            </a:r>
            <a:r>
              <a:rPr lang="en-US" sz="1600" b="1" dirty="0"/>
              <a:t> : button (</a:t>
            </a:r>
            <a:r>
              <a:rPr lang="en-US" sz="1600" b="1" dirty="0" err="1"/>
              <a:t>checkAPI</a:t>
            </a:r>
            <a:r>
              <a:rPr lang="en-US" sz="1600" b="1" dirty="0"/>
              <a:t>)</a:t>
            </a:r>
          </a:p>
          <a:p>
            <a:r>
              <a:rPr lang="en-US" sz="1600" b="1" dirty="0"/>
              <a:t>}</a:t>
            </a:r>
          </a:p>
          <a:p>
            <a:endParaRPr lang="en-US" sz="1600" b="1" dirty="0"/>
          </a:p>
          <a:p>
            <a:r>
              <a:rPr lang="en-US" sz="1600" b="1" dirty="0"/>
              <a:t>If </a:t>
            </a:r>
            <a:r>
              <a:rPr lang="en-US" sz="1600" b="1" dirty="0" err="1"/>
              <a:t>CheckAPI</a:t>
            </a:r>
            <a:r>
              <a:rPr lang="en-US" sz="1600" b="1" dirty="0"/>
              <a:t> (true){Go to (guestSearchResult.html)}</a:t>
            </a:r>
          </a:p>
          <a:p>
            <a:r>
              <a:rPr lang="en-US" sz="1600" b="1" dirty="0"/>
              <a:t>else { modal message “No Property found.” }</a:t>
            </a:r>
          </a:p>
          <a:p>
            <a:endParaRPr lang="en-US" sz="1600" b="1" dirty="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BADBB24C-5F57-A411-EB25-4559A2AFDB94}"/>
              </a:ext>
            </a:extLst>
          </p:cNvPr>
          <p:cNvSpPr/>
          <p:nvPr/>
        </p:nvSpPr>
        <p:spPr>
          <a:xfrm>
            <a:off x="129309" y="4432802"/>
            <a:ext cx="4267200" cy="2272145"/>
          </a:xfrm>
          <a:prstGeom prst="round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 err="1"/>
              <a:t>modalNotif</a:t>
            </a:r>
            <a:r>
              <a:rPr lang="en-US" sz="2000" b="1" dirty="0"/>
              <a:t>(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senderName</a:t>
            </a:r>
            <a:endParaRPr lang="en-US" sz="2000" b="1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Date and time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b="1" dirty="0"/>
              <a:t>Message</a:t>
            </a:r>
          </a:p>
          <a:p>
            <a:r>
              <a:rPr lang="en-US" sz="2000" b="1" dirty="0"/>
              <a:t>)</a:t>
            </a:r>
          </a:p>
        </p:txBody>
      </p:sp>
      <p:cxnSp>
        <p:nvCxnSpPr>
          <p:cNvPr id="6" name="Connector: Curved 5">
            <a:extLst>
              <a:ext uri="{FF2B5EF4-FFF2-40B4-BE49-F238E27FC236}">
                <a16:creationId xmlns:a16="http://schemas.microsoft.com/office/drawing/2014/main" id="{685AAE84-1A45-0FCF-3B6F-761893C2D203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-920647" y="3220506"/>
            <a:ext cx="2820351" cy="498762"/>
          </a:xfrm>
          <a:prstGeom prst="curvedConnector3">
            <a:avLst>
              <a:gd name="adj1" fmla="val 100106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1" name="Connector: Curved 10">
            <a:extLst>
              <a:ext uri="{FF2B5EF4-FFF2-40B4-BE49-F238E27FC236}">
                <a16:creationId xmlns:a16="http://schemas.microsoft.com/office/drawing/2014/main" id="{12028657-2C10-184C-6198-1BC680B4A21F}"/>
              </a:ext>
            </a:extLst>
          </p:cNvPr>
          <p:cNvCxnSpPr>
            <a:cxnSpLocks/>
          </p:cNvCxnSpPr>
          <p:nvPr/>
        </p:nvCxnSpPr>
        <p:spPr>
          <a:xfrm rot="10800000" flipV="1">
            <a:off x="4073236" y="683487"/>
            <a:ext cx="2087424" cy="397165"/>
          </a:xfrm>
          <a:prstGeom prst="curvedConnector3">
            <a:avLst>
              <a:gd name="adj1" fmla="val 50000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4" name="Connector: Curved 13">
            <a:extLst>
              <a:ext uri="{FF2B5EF4-FFF2-40B4-BE49-F238E27FC236}">
                <a16:creationId xmlns:a16="http://schemas.microsoft.com/office/drawing/2014/main" id="{E1A34B68-AC01-088E-7895-B1F8803E0B8D}"/>
              </a:ext>
            </a:extLst>
          </p:cNvPr>
          <p:cNvCxnSpPr>
            <a:cxnSpLocks/>
          </p:cNvCxnSpPr>
          <p:nvPr/>
        </p:nvCxnSpPr>
        <p:spPr>
          <a:xfrm rot="10800000" flipV="1">
            <a:off x="7407564" y="3001819"/>
            <a:ext cx="1948874" cy="581889"/>
          </a:xfrm>
          <a:prstGeom prst="curvedConnector3">
            <a:avLst>
              <a:gd name="adj1" fmla="val -237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7039594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BADBB24C-5F57-A411-EB25-4559A2AFDB94}"/>
              </a:ext>
            </a:extLst>
          </p:cNvPr>
          <p:cNvSpPr/>
          <p:nvPr/>
        </p:nvSpPr>
        <p:spPr>
          <a:xfrm>
            <a:off x="1872672" y="1742046"/>
            <a:ext cx="8446656" cy="3373908"/>
          </a:xfrm>
          <a:prstGeom prst="roundRect">
            <a:avLst>
              <a:gd name="adj" fmla="val 8182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Dashboard : Featured Property auto scroll{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List 6 Property w/ button : {guestViewProperty.html} </a:t>
            </a:r>
          </a:p>
          <a:p>
            <a:r>
              <a:rPr lang="en-US" sz="2000" b="1" dirty="0"/>
              <a:t>}</a:t>
            </a:r>
          </a:p>
          <a:p>
            <a:endParaRPr lang="en-US" sz="2000" b="1" dirty="0"/>
          </a:p>
          <a:p>
            <a:r>
              <a:rPr lang="en-US" sz="2000" b="1" dirty="0" err="1"/>
              <a:t>Catergory</a:t>
            </a:r>
            <a:r>
              <a:rPr lang="en-US" sz="2000" b="1" dirty="0"/>
              <a:t> of property (Top Rated, </a:t>
            </a:r>
            <a:r>
              <a:rPr lang="en-US" sz="2000" b="1" dirty="0" err="1"/>
              <a:t>barkada</a:t>
            </a:r>
            <a:r>
              <a:rPr lang="en-US" sz="2000" b="1" dirty="0"/>
              <a:t>, family, couple, &amp; others){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List of property (Picture, Name, Address, Price/Day)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Onclick {guestViewProperty.html}</a:t>
            </a:r>
          </a:p>
          <a:p>
            <a:r>
              <a:rPr lang="en-US" sz="2000" b="1" dirty="0"/>
              <a:t>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259B9EF-2882-3D95-7422-68A27385F852}"/>
              </a:ext>
            </a:extLst>
          </p:cNvPr>
          <p:cNvSpPr txBox="1"/>
          <p:nvPr/>
        </p:nvSpPr>
        <p:spPr>
          <a:xfrm>
            <a:off x="-1" y="0"/>
            <a:ext cx="434109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guestDashboard.html</a:t>
            </a:r>
          </a:p>
        </p:txBody>
      </p:sp>
    </p:spTree>
    <p:extLst>
      <p:ext uri="{BB962C8B-B14F-4D97-AF65-F5344CB8AC3E}">
        <p14:creationId xmlns:p14="http://schemas.microsoft.com/office/powerpoint/2010/main" val="1450779734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4AD94C5A-4B2B-CE4A-A062-FFB6DA57E364}"/>
              </a:ext>
            </a:extLst>
          </p:cNvPr>
          <p:cNvSpPr txBox="1"/>
          <p:nvPr/>
        </p:nvSpPr>
        <p:spPr>
          <a:xfrm>
            <a:off x="147781" y="78570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dirty="0"/>
              <a:t>guestSearchResult.html</a:t>
            </a:r>
            <a:endParaRPr lang="en-US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CD27AA3B-0DC5-382F-3A91-2339EC339FE6}"/>
              </a:ext>
            </a:extLst>
          </p:cNvPr>
          <p:cNvSpPr/>
          <p:nvPr/>
        </p:nvSpPr>
        <p:spPr>
          <a:xfrm>
            <a:off x="2443017" y="1857004"/>
            <a:ext cx="7305965" cy="3143991"/>
          </a:xfrm>
          <a:prstGeom prst="roundRect">
            <a:avLst>
              <a:gd name="adj" fmla="val 8182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/>
              <a:t>Example text on top `Searched for Quezon City`</a:t>
            </a:r>
          </a:p>
          <a:p>
            <a:r>
              <a:rPr lang="en-US" sz="2000" b="1" dirty="0"/>
              <a:t>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List Properties w/ button : {guestViewProperty.html} </a:t>
            </a:r>
          </a:p>
          <a:p>
            <a:r>
              <a:rPr lang="en-US" sz="2000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426245921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CD27AA3B-0DC5-382F-3A91-2339EC339FE6}"/>
              </a:ext>
            </a:extLst>
          </p:cNvPr>
          <p:cNvSpPr/>
          <p:nvPr/>
        </p:nvSpPr>
        <p:spPr>
          <a:xfrm>
            <a:off x="69272" y="101600"/>
            <a:ext cx="6599383" cy="6456218"/>
          </a:xfrm>
          <a:prstGeom prst="roundRect">
            <a:avLst>
              <a:gd name="adj" fmla="val 3175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b="1" dirty="0"/>
              <a:t>// same as before revamp the design</a:t>
            </a:r>
          </a:p>
          <a:p>
            <a:r>
              <a:rPr lang="en-US" sz="1400" b="1" dirty="0"/>
              <a:t>guestViewProperty.html {</a:t>
            </a:r>
          </a:p>
          <a:p>
            <a:r>
              <a:rPr lang="en-US" sz="1400" b="1" dirty="0"/>
              <a:t>	section 3 </a:t>
            </a:r>
            <a:r>
              <a:rPr lang="en-US" sz="1400" b="1" dirty="0" err="1"/>
              <a:t>eployeePM</a:t>
            </a:r>
            <a:r>
              <a:rPr lang="en-US" sz="1400" b="1" dirty="0"/>
              <a:t> cash check in</a:t>
            </a:r>
          </a:p>
          <a:p>
            <a:endParaRPr lang="en-US" sz="1400" b="1" dirty="0"/>
          </a:p>
          <a:p>
            <a:r>
              <a:rPr lang="en-US" sz="1400" b="1" dirty="0"/>
              <a:t>delete slide 50</a:t>
            </a:r>
          </a:p>
          <a:p>
            <a:endParaRPr lang="en-US" sz="1400" b="1" dirty="0"/>
          </a:p>
          <a:p>
            <a:r>
              <a:rPr lang="en-US" sz="1400" b="1" dirty="0"/>
              <a:t>Photos </a:t>
            </a:r>
          </a:p>
          <a:p>
            <a:r>
              <a:rPr lang="en-US" sz="1400" b="1" dirty="0"/>
              <a:t>Name </a:t>
            </a:r>
          </a:p>
          <a:p>
            <a:r>
              <a:rPr lang="en-US" sz="1400" b="1" dirty="0"/>
              <a:t>Address </a:t>
            </a:r>
          </a:p>
          <a:p>
            <a:r>
              <a:rPr lang="en-US" sz="1400" b="1" dirty="0"/>
              <a:t>Map</a:t>
            </a:r>
          </a:p>
          <a:p>
            <a:r>
              <a:rPr lang="en-US" sz="1400" b="1" dirty="0"/>
              <a:t>Description </a:t>
            </a:r>
          </a:p>
          <a:p>
            <a:r>
              <a:rPr lang="en-US" sz="1400" b="1" dirty="0"/>
              <a:t>Package Capacity - maximum capacity</a:t>
            </a:r>
          </a:p>
          <a:p>
            <a:r>
              <a:rPr lang="en-US" sz="1400" b="1" dirty="0"/>
              <a:t>Time of </a:t>
            </a:r>
            <a:r>
              <a:rPr lang="en-US" sz="1400" b="1" dirty="0" err="1"/>
              <a:t>CheckIn&amp;Out</a:t>
            </a:r>
            <a:endParaRPr lang="en-US" sz="1400" b="1" dirty="0"/>
          </a:p>
          <a:p>
            <a:r>
              <a:rPr lang="en-US" sz="1400" b="1" dirty="0"/>
              <a:t>Category : select (</a:t>
            </a:r>
            <a:r>
              <a:rPr lang="en-US" sz="1400" b="1" dirty="0" err="1"/>
              <a:t>Barkada</a:t>
            </a:r>
            <a:r>
              <a:rPr lang="en-US" sz="1400" b="1" dirty="0"/>
              <a:t>, Couple, Family, Other)</a:t>
            </a:r>
          </a:p>
          <a:p>
            <a:endParaRPr lang="en-US" sz="1400" b="1" dirty="0"/>
          </a:p>
          <a:p>
            <a:r>
              <a:rPr lang="en-US" sz="1400" b="1" dirty="0"/>
              <a:t>Package Price : Currency/Number w/ peso sign </a:t>
            </a:r>
          </a:p>
          <a:p>
            <a:r>
              <a:rPr lang="en-US" sz="1400" b="1" dirty="0"/>
              <a:t>Reservation Fee : Currency/Number w/ peso sign </a:t>
            </a:r>
          </a:p>
          <a:p>
            <a:r>
              <a:rPr lang="en-US" sz="1400" b="1" dirty="0"/>
              <a:t>Additional Pax Price: Currency/Number w/ peso sign </a:t>
            </a:r>
          </a:p>
          <a:p>
            <a:r>
              <a:rPr lang="en-US" sz="1400" b="1" dirty="0"/>
              <a:t>Discount </a:t>
            </a:r>
          </a:p>
          <a:p>
            <a:endParaRPr lang="en-US" sz="1400" b="1" dirty="0"/>
          </a:p>
          <a:p>
            <a:r>
              <a:rPr lang="en-US" sz="1400" b="1" dirty="0"/>
              <a:t>Amenities</a:t>
            </a:r>
          </a:p>
          <a:p>
            <a:r>
              <a:rPr lang="en-US" sz="1400" b="1" dirty="0"/>
              <a:t>Other Amenities </a:t>
            </a:r>
          </a:p>
          <a:p>
            <a:endParaRPr lang="en-US" sz="1400" b="1" dirty="0"/>
          </a:p>
          <a:p>
            <a:r>
              <a:rPr lang="en-US" sz="1400" b="1" dirty="0"/>
              <a:t>Calendar</a:t>
            </a:r>
          </a:p>
          <a:p>
            <a:endParaRPr lang="en-US" sz="1400" b="1" dirty="0"/>
          </a:p>
          <a:p>
            <a:r>
              <a:rPr lang="en-US" sz="1400" b="1" dirty="0"/>
              <a:t>book button</a:t>
            </a:r>
          </a:p>
          <a:p>
            <a:endParaRPr lang="en-US" sz="1400" b="1" dirty="0"/>
          </a:p>
          <a:p>
            <a:r>
              <a:rPr lang="en-US" sz="1400" b="1" dirty="0"/>
              <a:t>Review scale</a:t>
            </a:r>
          </a:p>
          <a:p>
            <a:r>
              <a:rPr lang="en-US" sz="1400" b="1" dirty="0"/>
              <a:t>}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4617DFCC-1807-A537-ABB4-FA14E60609A5}"/>
              </a:ext>
            </a:extLst>
          </p:cNvPr>
          <p:cNvSpPr/>
          <p:nvPr/>
        </p:nvSpPr>
        <p:spPr>
          <a:xfrm>
            <a:off x="6825673" y="101601"/>
            <a:ext cx="5297056" cy="1173017"/>
          </a:xfrm>
          <a:prstGeom prst="roundRect">
            <a:avLst>
              <a:gd name="adj" fmla="val 8182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/>
              <a:t>guestConfirmReservation.html{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US" sz="1600" b="1" dirty="0"/>
              <a:t>// same as before revamp the design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b="1" dirty="0"/>
              <a:t>Proceed to payment </a:t>
            </a:r>
            <a:r>
              <a:rPr lang="en-US" sz="1600" b="1" dirty="0" err="1"/>
              <a:t>Btn</a:t>
            </a:r>
            <a:r>
              <a:rPr lang="en-US" sz="1600" b="1" dirty="0"/>
              <a:t>: Payment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b="1" dirty="0"/>
              <a:t>Reservation or Package Payment</a:t>
            </a:r>
          </a:p>
          <a:p>
            <a:r>
              <a:rPr lang="en-US" sz="1600" b="1" dirty="0"/>
              <a:t>}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338085F6-E2E5-5EAF-D4F0-98EA037E644A}"/>
              </a:ext>
            </a:extLst>
          </p:cNvPr>
          <p:cNvSpPr/>
          <p:nvPr/>
        </p:nvSpPr>
        <p:spPr>
          <a:xfrm>
            <a:off x="6825672" y="1274619"/>
            <a:ext cx="5297056" cy="5481782"/>
          </a:xfrm>
          <a:prstGeom prst="roundRect">
            <a:avLst>
              <a:gd name="adj" fmla="val 1311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/>
              <a:t>guestPayment.html{</a:t>
            </a:r>
          </a:p>
          <a:p>
            <a:pPr lvl="1"/>
            <a:r>
              <a:rPr lang="en-US" sz="1600" b="1" dirty="0"/>
              <a:t>Section1{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/>
              <a:t>For: Reservation/Full Payment (Dynamic)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/>
              <a:t>Price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/>
              <a:t>Selection (</a:t>
            </a:r>
            <a:r>
              <a:rPr lang="en-US" sz="1600" b="1" dirty="0" err="1"/>
              <a:t>Gcash</a:t>
            </a:r>
            <a:r>
              <a:rPr lang="en-US" sz="1600" b="1" dirty="0"/>
              <a:t>, </a:t>
            </a:r>
            <a:r>
              <a:rPr lang="en-US" sz="1600" b="1" dirty="0" err="1"/>
              <a:t>Gotyme</a:t>
            </a:r>
            <a:r>
              <a:rPr lang="en-US" sz="1600" b="1" dirty="0"/>
              <a:t>, maya, </a:t>
            </a:r>
            <a:r>
              <a:rPr lang="en-US" sz="1600" b="1" dirty="0" err="1"/>
              <a:t>UnionBank</a:t>
            </a:r>
            <a:r>
              <a:rPr lang="en-US" sz="1600" b="1" dirty="0"/>
              <a:t>)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/>
              <a:t>QR Code</a:t>
            </a:r>
          </a:p>
          <a:p>
            <a:pPr lvl="1"/>
            <a:r>
              <a:rPr lang="en-US" sz="1600" b="1" dirty="0"/>
              <a:t>}</a:t>
            </a:r>
          </a:p>
          <a:p>
            <a:pPr lvl="1"/>
            <a:r>
              <a:rPr lang="en-US" sz="1600" b="1" dirty="0"/>
              <a:t>Section2{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/>
              <a:t>Text: “Upload a Screenshot”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/>
              <a:t>Upload drag and drop or click the upload button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/>
              <a:t>Image preview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endParaRPr lang="en-US" sz="1600" b="1" dirty="0"/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/>
              <a:t>Input: // This will populate the transaction#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600" b="1" dirty="0"/>
              <a:t>Button: Confirm Payment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sz="1400" b="1" dirty="0"/>
              <a:t>Warning: Please verify the transaction number carefully. It cannot be changed after confirmation, and errors may lead to booking cancellation.</a:t>
            </a:r>
          </a:p>
          <a:p>
            <a:r>
              <a:rPr lang="en-US" sz="1600" b="1" dirty="0"/>
              <a:t>}</a:t>
            </a:r>
          </a:p>
        </p:txBody>
      </p:sp>
      <p:cxnSp>
        <p:nvCxnSpPr>
          <p:cNvPr id="4" name="Connector: Curved 3">
            <a:extLst>
              <a:ext uri="{FF2B5EF4-FFF2-40B4-BE49-F238E27FC236}">
                <a16:creationId xmlns:a16="http://schemas.microsoft.com/office/drawing/2014/main" id="{D4E191A5-48A4-C58C-B4C0-B608243F776E}"/>
              </a:ext>
            </a:extLst>
          </p:cNvPr>
          <p:cNvCxnSpPr>
            <a:cxnSpLocks/>
          </p:cNvCxnSpPr>
          <p:nvPr/>
        </p:nvCxnSpPr>
        <p:spPr>
          <a:xfrm rot="10800000" flipV="1">
            <a:off x="8914247" y="1110675"/>
            <a:ext cx="685798" cy="623452"/>
          </a:xfrm>
          <a:prstGeom prst="curvedConnector3">
            <a:avLst>
              <a:gd name="adj1" fmla="val 50000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7" name="Connector: Curved 6">
            <a:extLst>
              <a:ext uri="{FF2B5EF4-FFF2-40B4-BE49-F238E27FC236}">
                <a16:creationId xmlns:a16="http://schemas.microsoft.com/office/drawing/2014/main" id="{47FE4FF9-E8FA-AE95-5756-49769EBF35F5}"/>
              </a:ext>
            </a:extLst>
          </p:cNvPr>
          <p:cNvCxnSpPr>
            <a:cxnSpLocks/>
          </p:cNvCxnSpPr>
          <p:nvPr/>
        </p:nvCxnSpPr>
        <p:spPr>
          <a:xfrm rot="10800000" flipV="1">
            <a:off x="1302331" y="300182"/>
            <a:ext cx="5643414" cy="5394034"/>
          </a:xfrm>
          <a:prstGeom prst="curvedConnector3">
            <a:avLst>
              <a:gd name="adj1" fmla="val 20213"/>
            </a:avLst>
          </a:prstGeom>
          <a:ln w="19050" cap="flat" cmpd="sng" algn="ctr">
            <a:solidFill>
              <a:schemeClr val="accent4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8536806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0" y="0"/>
            <a:ext cx="295563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guestProfile.html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F9ACFF90-048F-320A-A752-8D1492FAD30F}"/>
              </a:ext>
            </a:extLst>
          </p:cNvPr>
          <p:cNvSpPr/>
          <p:nvPr/>
        </p:nvSpPr>
        <p:spPr>
          <a:xfrm>
            <a:off x="1427364" y="460454"/>
            <a:ext cx="9337272" cy="5937091"/>
          </a:xfrm>
          <a:prstGeom prst="roundRect">
            <a:avLst>
              <a:gd name="adj" fmla="val 4146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/>
              <a:t>Profile{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b="1" dirty="0" err="1"/>
              <a:t>EditBtn</a:t>
            </a:r>
            <a:r>
              <a:rPr lang="en-US" b="1" dirty="0"/>
              <a:t> : (guestEditProfile.html)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b="1" dirty="0"/>
              <a:t>Profile Picture (onclick (</a:t>
            </a:r>
            <a:r>
              <a:rPr lang="en-US" b="1" dirty="0" err="1"/>
              <a:t>ZoomModal</a:t>
            </a:r>
            <a:r>
              <a:rPr lang="en-US" b="1" dirty="0"/>
              <a:t>))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b="1" dirty="0"/>
              <a:t>Full Name (Verified or Unverified) ☑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b="1" dirty="0"/>
              <a:t>Phone Number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b="1" dirty="0"/>
              <a:t>Email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b="1" dirty="0" err="1"/>
              <a:t>Bday</a:t>
            </a:r>
            <a:endParaRPr lang="en-US" b="1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b="1" dirty="0"/>
              <a:t>Age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b="1" dirty="0"/>
              <a:t>Sex</a:t>
            </a:r>
          </a:p>
          <a:p>
            <a:r>
              <a:rPr lang="en-US" b="1" dirty="0"/>
              <a:t>}</a:t>
            </a:r>
          </a:p>
          <a:p>
            <a:endParaRPr lang="en-US" b="1" dirty="0"/>
          </a:p>
          <a:p>
            <a:r>
              <a:rPr lang="en-US" b="1" dirty="0"/>
              <a:t>If (unverified){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b="1" dirty="0"/>
              <a:t>Clickable Div{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Verify your account using Valid ID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You can add picture of digital design of ID 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Description of Verifying ID (`To meet KYC requirements, we use AI tools to verify the authenticity of your ID and extract only key information—your actual ID is not stored by our system.`)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b="1" dirty="0"/>
              <a:t>Onclick (Redirection)</a:t>
            </a:r>
          </a:p>
          <a:p>
            <a:pPr lvl="1"/>
            <a:r>
              <a:rPr lang="en-US" b="1" dirty="0"/>
              <a:t>}</a:t>
            </a:r>
          </a:p>
          <a:p>
            <a:r>
              <a:rPr lang="en-US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253830261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94F53A-6361-E94E-5BDE-6B5297C1498E}"/>
              </a:ext>
            </a:extLst>
          </p:cNvPr>
          <p:cNvSpPr txBox="1"/>
          <p:nvPr/>
        </p:nvSpPr>
        <p:spPr>
          <a:xfrm>
            <a:off x="0" y="0"/>
            <a:ext cx="295563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guestEditProfile.html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F9ACFF90-048F-320A-A752-8D1492FAD30F}"/>
              </a:ext>
            </a:extLst>
          </p:cNvPr>
          <p:cNvSpPr/>
          <p:nvPr/>
        </p:nvSpPr>
        <p:spPr>
          <a:xfrm>
            <a:off x="1396075" y="331673"/>
            <a:ext cx="9399849" cy="6194654"/>
          </a:xfrm>
          <a:prstGeom prst="roundRect">
            <a:avLst>
              <a:gd name="adj" fmla="val 8914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 err="1"/>
              <a:t>EditProfileDetails</a:t>
            </a:r>
            <a:r>
              <a:rPr lang="en-US" sz="2000" b="1" dirty="0"/>
              <a:t>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Auto-fill inputs{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ProfilePictureBtn</a:t>
            </a:r>
            <a:r>
              <a:rPr lang="en-US" sz="2000" b="1" dirty="0"/>
              <a:t> (Upload)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Full Name Input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Phone Number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/>
              <a:t>Email input</a:t>
            </a:r>
          </a:p>
          <a:p>
            <a:pPr lvl="1"/>
            <a:r>
              <a:rPr lang="en-US" sz="2000" b="1" dirty="0"/>
              <a:t>}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editPasswordBtn</a:t>
            </a:r>
            <a:r>
              <a:rPr lang="en-US" sz="2000" b="1" dirty="0"/>
              <a:t>{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modalEditPassword</a:t>
            </a:r>
            <a:r>
              <a:rPr lang="en-US" sz="2000" b="1" dirty="0"/>
              <a:t>(</a:t>
            </a:r>
          </a:p>
          <a:p>
            <a:pPr marL="1714500" lvl="3" indent="-342900">
              <a:buFont typeface="Arial" panose="020B0604020202020204" pitchFamily="34" charset="0"/>
              <a:buChar char="•"/>
            </a:pPr>
            <a:r>
              <a:rPr lang="en-US" sz="2000" b="1" dirty="0"/>
              <a:t>Enter Current Password</a:t>
            </a:r>
          </a:p>
          <a:p>
            <a:pPr marL="1714500" lvl="3" indent="-342900">
              <a:buFont typeface="Arial" panose="020B0604020202020204" pitchFamily="34" charset="0"/>
              <a:buChar char="•"/>
            </a:pPr>
            <a:r>
              <a:rPr lang="en-US" sz="2000" b="1" dirty="0"/>
              <a:t>Enter New Password</a:t>
            </a:r>
          </a:p>
          <a:p>
            <a:pPr marL="1714500" lvl="3" indent="-342900">
              <a:buFont typeface="Arial" panose="020B0604020202020204" pitchFamily="34" charset="0"/>
              <a:buChar char="•"/>
            </a:pPr>
            <a:r>
              <a:rPr lang="en-US" sz="2000" b="1" dirty="0"/>
              <a:t>Confirm Password</a:t>
            </a:r>
          </a:p>
          <a:p>
            <a:pPr marL="1714500" lvl="3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forgotPasswordBtn</a:t>
            </a:r>
            <a:r>
              <a:rPr lang="en-US" sz="2000" b="1" dirty="0"/>
              <a:t> : ForgotPassword.html</a:t>
            </a:r>
          </a:p>
          <a:p>
            <a:pPr marL="1714500" lvl="3" indent="-342900">
              <a:buFont typeface="Arial" panose="020B0604020202020204" pitchFamily="34" charset="0"/>
              <a:buChar char="•"/>
            </a:pPr>
            <a:r>
              <a:rPr lang="en-US" sz="2000" b="1" dirty="0" err="1"/>
              <a:t>Btnconfirm</a:t>
            </a:r>
            <a:r>
              <a:rPr lang="en-US" sz="2000" b="1" dirty="0"/>
              <a:t>(API update password)</a:t>
            </a:r>
          </a:p>
          <a:p>
            <a:pPr lvl="2"/>
            <a:r>
              <a:rPr lang="en-US" sz="2000" b="1" dirty="0"/>
              <a:t>)</a:t>
            </a:r>
          </a:p>
          <a:p>
            <a:pPr lvl="1"/>
            <a:r>
              <a:rPr lang="en-US" sz="2000" b="1" dirty="0"/>
              <a:t>}</a:t>
            </a:r>
          </a:p>
          <a:p>
            <a:pPr lvl="1"/>
            <a:r>
              <a:rPr lang="en-US" sz="2000" b="1" dirty="0" err="1"/>
              <a:t>Btn</a:t>
            </a:r>
            <a:r>
              <a:rPr lang="en-US" sz="2000" b="1" dirty="0"/>
              <a:t> (Cancel, Update) : message if successful, then go back to Profile</a:t>
            </a:r>
          </a:p>
          <a:p>
            <a:r>
              <a:rPr lang="en-US" sz="2000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406413378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BADBB24C-5F57-A411-EB25-4559A2AFDB94}"/>
              </a:ext>
            </a:extLst>
          </p:cNvPr>
          <p:cNvSpPr/>
          <p:nvPr/>
        </p:nvSpPr>
        <p:spPr>
          <a:xfrm>
            <a:off x="325581" y="701375"/>
            <a:ext cx="11540837" cy="5455249"/>
          </a:xfrm>
          <a:prstGeom prst="roundRect">
            <a:avLst>
              <a:gd name="adj" fmla="val 8182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 dirty="0" err="1"/>
              <a:t>generateTicketBtn</a:t>
            </a:r>
            <a:r>
              <a:rPr lang="en-US" sz="2000" b="1" dirty="0"/>
              <a:t> : button (guesGenerateTicket.html)</a:t>
            </a:r>
          </a:p>
          <a:p>
            <a:r>
              <a:rPr lang="en-US" sz="2000" b="1" dirty="0"/>
              <a:t>Section 1 (list of tickets){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b="1" dirty="0"/>
              <a:t>Ticket lists ( </a:t>
            </a:r>
            <a:r>
              <a:rPr lang="en-US" sz="2000" b="1" dirty="0" err="1"/>
              <a:t>ticketQueueID</a:t>
            </a:r>
            <a:r>
              <a:rPr lang="en-US" sz="2000" b="1" dirty="0"/>
              <a:t>,`</a:t>
            </a:r>
            <a:r>
              <a:rPr lang="en-US" sz="2000" b="1" dirty="0" err="1"/>
              <a:t>CustomerSupport</a:t>
            </a:r>
            <a:r>
              <a:rPr lang="en-US" sz="2000" b="1" dirty="0"/>
              <a:t> username`, Status (End, In Queue, Open))</a:t>
            </a:r>
          </a:p>
          <a:p>
            <a:r>
              <a:rPr lang="en-US" sz="2000" b="1" dirty="0"/>
              <a:t>}</a:t>
            </a:r>
          </a:p>
          <a:p>
            <a:r>
              <a:rPr lang="en-US" b="1" dirty="0"/>
              <a:t>Section 2 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When user clicked one of the ticket lists, </a:t>
            </a:r>
            <a:r>
              <a:rPr lang="en-US" b="1" dirty="0" err="1"/>
              <a:t>Itll</a:t>
            </a:r>
            <a:r>
              <a:rPr lang="en-US" b="1" dirty="0"/>
              <a:t> show the conversation here.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{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First blob message : Concern, submitted by guest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endParaRPr lang="en-US" b="1" dirty="0"/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If (status == Open){</a:t>
            </a:r>
          </a:p>
          <a:p>
            <a:pPr marL="1657350" lvl="3" indent="-285750">
              <a:buFont typeface="Arial" panose="020B0604020202020204" pitchFamily="34" charset="0"/>
              <a:buChar char="•"/>
            </a:pPr>
            <a:r>
              <a:rPr lang="en-US" b="1" dirty="0"/>
              <a:t>Reply Input : Text</a:t>
            </a:r>
          </a:p>
          <a:p>
            <a:pPr marL="1657350" lvl="3" indent="-285750">
              <a:buFont typeface="Arial" panose="020B0604020202020204" pitchFamily="34" charset="0"/>
              <a:buChar char="•"/>
            </a:pPr>
            <a:r>
              <a:rPr lang="en-US" b="1" dirty="0"/>
              <a:t>Button : Send</a:t>
            </a:r>
          </a:p>
          <a:p>
            <a:pPr marL="1657350" lvl="3" indent="-285750">
              <a:buFont typeface="Arial" panose="020B0604020202020204" pitchFamily="34" charset="0"/>
              <a:buChar char="•"/>
            </a:pPr>
            <a:r>
              <a:rPr lang="en-US" b="1" dirty="0"/>
              <a:t>Button : End Ticket</a:t>
            </a:r>
          </a:p>
          <a:p>
            <a:pPr lvl="2"/>
            <a:r>
              <a:rPr lang="en-US" b="1" dirty="0"/>
              <a:t>}</a:t>
            </a:r>
          </a:p>
          <a:p>
            <a:pPr lvl="1"/>
            <a:r>
              <a:rPr lang="en-US" b="1" dirty="0"/>
              <a:t>}</a:t>
            </a:r>
          </a:p>
          <a:p>
            <a:r>
              <a:rPr lang="en-US" b="1" dirty="0"/>
              <a:t>}</a:t>
            </a:r>
          </a:p>
          <a:p>
            <a:endParaRPr lang="en-US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259B9EF-2882-3D95-7422-68A27385F852}"/>
              </a:ext>
            </a:extLst>
          </p:cNvPr>
          <p:cNvSpPr txBox="1"/>
          <p:nvPr/>
        </p:nvSpPr>
        <p:spPr>
          <a:xfrm>
            <a:off x="-1" y="0"/>
            <a:ext cx="434109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guestTickets.html</a:t>
            </a:r>
          </a:p>
        </p:txBody>
      </p:sp>
    </p:spTree>
    <p:extLst>
      <p:ext uri="{BB962C8B-B14F-4D97-AF65-F5344CB8AC3E}">
        <p14:creationId xmlns:p14="http://schemas.microsoft.com/office/powerpoint/2010/main" val="1833272379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BADBB24C-5F57-A411-EB25-4559A2AFDB94}"/>
              </a:ext>
            </a:extLst>
          </p:cNvPr>
          <p:cNvSpPr/>
          <p:nvPr/>
        </p:nvSpPr>
        <p:spPr>
          <a:xfrm>
            <a:off x="325581" y="701375"/>
            <a:ext cx="11540837" cy="5455249"/>
          </a:xfrm>
          <a:prstGeom prst="roundRect">
            <a:avLst>
              <a:gd name="adj" fmla="val 8182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 err="1"/>
              <a:t>backBtn</a:t>
            </a:r>
            <a:r>
              <a:rPr lang="en-US" b="1" dirty="0"/>
              <a:t> : Button (guestTickets.html)</a:t>
            </a:r>
          </a:p>
          <a:p>
            <a:r>
              <a:rPr lang="en-US" b="1" dirty="0"/>
              <a:t>Generate a Ticket{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Inputs{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Select a Customer Service Agent : (`CS - FirstName`…) : selection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Select a concern : (“Location”, “Appliances”, “Amenities”, “Payment”, “Others”) : selection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Description (min of character ?) : text</a:t>
            </a:r>
          </a:p>
          <a:p>
            <a:pPr lvl="1"/>
            <a:r>
              <a:rPr lang="en-US" b="1" dirty="0"/>
              <a:t>}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 err="1"/>
              <a:t>generateBtn</a:t>
            </a:r>
            <a:r>
              <a:rPr lang="en-US" b="1" dirty="0"/>
              <a:t> : Buttons (API) &gt; go back to guestTickets.html</a:t>
            </a:r>
          </a:p>
          <a:p>
            <a:r>
              <a:rPr lang="en-US" b="1" dirty="0"/>
              <a:t>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259B9EF-2882-3D95-7422-68A27385F852}"/>
              </a:ext>
            </a:extLst>
          </p:cNvPr>
          <p:cNvSpPr txBox="1"/>
          <p:nvPr/>
        </p:nvSpPr>
        <p:spPr>
          <a:xfrm>
            <a:off x="-1" y="0"/>
            <a:ext cx="434109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guestGenerateTicket.html</a:t>
            </a:r>
          </a:p>
        </p:txBody>
      </p:sp>
    </p:spTree>
    <p:extLst>
      <p:ext uri="{BB962C8B-B14F-4D97-AF65-F5344CB8AC3E}">
        <p14:creationId xmlns:p14="http://schemas.microsoft.com/office/powerpoint/2010/main" val="3858012836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BADBB24C-5F57-A411-EB25-4559A2AFDB94}"/>
              </a:ext>
            </a:extLst>
          </p:cNvPr>
          <p:cNvSpPr/>
          <p:nvPr/>
        </p:nvSpPr>
        <p:spPr>
          <a:xfrm>
            <a:off x="4217554" y="2540248"/>
            <a:ext cx="3756892" cy="1777504"/>
          </a:xfrm>
          <a:prstGeom prst="roundRect">
            <a:avLst>
              <a:gd name="adj" fmla="val 8182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/>
              <a:t>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Q &amp; A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Same as before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Revamp the design or keep the OG</a:t>
            </a:r>
          </a:p>
          <a:p>
            <a:r>
              <a:rPr lang="en-US" b="1" dirty="0"/>
              <a:t>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259B9EF-2882-3D95-7422-68A27385F852}"/>
              </a:ext>
            </a:extLst>
          </p:cNvPr>
          <p:cNvSpPr txBox="1"/>
          <p:nvPr/>
        </p:nvSpPr>
        <p:spPr>
          <a:xfrm>
            <a:off x="-1" y="0"/>
            <a:ext cx="434109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guestFAQs.html</a:t>
            </a:r>
          </a:p>
        </p:txBody>
      </p:sp>
    </p:spTree>
    <p:extLst>
      <p:ext uri="{BB962C8B-B14F-4D97-AF65-F5344CB8AC3E}">
        <p14:creationId xmlns:p14="http://schemas.microsoft.com/office/powerpoint/2010/main" val="1674249800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BADBB24C-5F57-A411-EB25-4559A2AFDB94}"/>
              </a:ext>
            </a:extLst>
          </p:cNvPr>
          <p:cNvSpPr/>
          <p:nvPr/>
        </p:nvSpPr>
        <p:spPr>
          <a:xfrm>
            <a:off x="2039504" y="2029815"/>
            <a:ext cx="8112992" cy="2798370"/>
          </a:xfrm>
          <a:prstGeom prst="roundRect">
            <a:avLst>
              <a:gd name="adj" fmla="val 8182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/>
              <a:t>Pending / Completed 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List of bookings (Property Name, Address, Date of booking, Status)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Onclick (guestViewBooking.html)</a:t>
            </a:r>
          </a:p>
          <a:p>
            <a:r>
              <a:rPr lang="en-US" b="1" dirty="0"/>
              <a:t>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259B9EF-2882-3D95-7422-68A27385F852}"/>
              </a:ext>
            </a:extLst>
          </p:cNvPr>
          <p:cNvSpPr txBox="1"/>
          <p:nvPr/>
        </p:nvSpPr>
        <p:spPr>
          <a:xfrm>
            <a:off x="-1" y="0"/>
            <a:ext cx="434109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guestMyBookings.html</a:t>
            </a:r>
          </a:p>
        </p:txBody>
      </p:sp>
    </p:spTree>
    <p:extLst>
      <p:ext uri="{BB962C8B-B14F-4D97-AF65-F5344CB8AC3E}">
        <p14:creationId xmlns:p14="http://schemas.microsoft.com/office/powerpoint/2010/main" val="1097397186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BADBB24C-5F57-A411-EB25-4559A2AFDB94}"/>
              </a:ext>
            </a:extLst>
          </p:cNvPr>
          <p:cNvSpPr/>
          <p:nvPr/>
        </p:nvSpPr>
        <p:spPr>
          <a:xfrm>
            <a:off x="179241" y="638525"/>
            <a:ext cx="7806461" cy="5858041"/>
          </a:xfrm>
          <a:prstGeom prst="roundRect">
            <a:avLst>
              <a:gd name="adj" fmla="val 5789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/>
              <a:t>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Property Name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Ref id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Pictures of property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Address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Embed map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Date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Time of Check In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Time of Checking out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b="1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Details of transaction{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Payment mode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Price per day * Additional Pax : `Unpaid or Paid (PHP2,000)`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Discount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Reservation Fee: `Paid (PHP 500)`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Status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US" b="1" dirty="0"/>
              <a:t>TOTAL REMAINING BALANCE or TOTAL: </a:t>
            </a:r>
          </a:p>
          <a:p>
            <a:pPr lvl="2"/>
            <a:r>
              <a:rPr lang="en-US" b="1" dirty="0"/>
              <a:t>}</a:t>
            </a:r>
          </a:p>
          <a:p>
            <a:pPr lvl="2"/>
            <a:r>
              <a:rPr lang="en-US" b="1" dirty="0"/>
              <a:t>If (!</a:t>
            </a:r>
            <a:r>
              <a:rPr lang="en-US" b="1" dirty="0" err="1"/>
              <a:t>fullpayment</a:t>
            </a:r>
            <a:r>
              <a:rPr lang="en-US" b="1" dirty="0"/>
              <a:t>){button: pay remaining balance (go to guestPayment.html)}</a:t>
            </a:r>
          </a:p>
          <a:p>
            <a:r>
              <a:rPr lang="en-US" b="1" dirty="0"/>
              <a:t>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259B9EF-2882-3D95-7422-68A27385F852}"/>
              </a:ext>
            </a:extLst>
          </p:cNvPr>
          <p:cNvSpPr txBox="1"/>
          <p:nvPr/>
        </p:nvSpPr>
        <p:spPr>
          <a:xfrm>
            <a:off x="-1" y="0"/>
            <a:ext cx="434109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guestViewBooking.html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E96EB845-FD3E-85A5-37CD-F0E40EB0AA76}"/>
              </a:ext>
            </a:extLst>
          </p:cNvPr>
          <p:cNvSpPr/>
          <p:nvPr/>
        </p:nvSpPr>
        <p:spPr>
          <a:xfrm>
            <a:off x="8183418" y="638526"/>
            <a:ext cx="3912468" cy="2301556"/>
          </a:xfrm>
          <a:prstGeom prst="roundRect">
            <a:avLst>
              <a:gd name="adj" fmla="val 5789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/>
              <a:t>If (pending &amp;&amp; booking date is &lt;=10days old){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b="1" dirty="0"/>
              <a:t>Reschedule : button (</a:t>
            </a:r>
            <a:r>
              <a:rPr lang="en-US" sz="1600" b="1" dirty="0" err="1"/>
              <a:t>rescheduleModal</a:t>
            </a:r>
            <a:r>
              <a:rPr lang="en-US" sz="1600" b="1" dirty="0"/>
              <a:t>)</a:t>
            </a:r>
          </a:p>
          <a:p>
            <a:r>
              <a:rPr lang="en-US" sz="1600" b="1" dirty="0"/>
              <a:t>}</a:t>
            </a:r>
          </a:p>
          <a:p>
            <a:r>
              <a:rPr lang="en-US" sz="1600" b="1" dirty="0"/>
              <a:t>Else { Reschedule is unavailable for bookings that is already 10 days or older}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DC6E6833-4574-B916-EC54-33ABC9BED542}"/>
              </a:ext>
            </a:extLst>
          </p:cNvPr>
          <p:cNvSpPr/>
          <p:nvPr/>
        </p:nvSpPr>
        <p:spPr>
          <a:xfrm>
            <a:off x="8183418" y="3120189"/>
            <a:ext cx="3912468" cy="2301556"/>
          </a:xfrm>
          <a:prstGeom prst="roundRect">
            <a:avLst>
              <a:gd name="adj" fmla="val 5789"/>
            </a:avLst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600" b="1" dirty="0" err="1"/>
              <a:t>rescheduleModal</a:t>
            </a:r>
            <a:r>
              <a:rPr lang="en-US" sz="1600" b="1" dirty="0"/>
              <a:t>{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b="1" dirty="0"/>
              <a:t>Reason : text (min of char for </a:t>
            </a:r>
            <a:r>
              <a:rPr lang="en-US" sz="1600" b="1" dirty="0" err="1"/>
              <a:t>notif</a:t>
            </a:r>
            <a:r>
              <a:rPr lang="en-US" sz="1600" b="1" dirty="0"/>
              <a:t>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b="1" dirty="0"/>
              <a:t>Start date &amp; end date (calendar)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b="1" dirty="0" err="1"/>
              <a:t>CancelBtn</a:t>
            </a:r>
            <a:endParaRPr lang="en-US" sz="1600" b="1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b="1" dirty="0" err="1"/>
              <a:t>RescheduleBtn</a:t>
            </a:r>
            <a:endParaRPr lang="en-US" sz="1600" b="1" dirty="0"/>
          </a:p>
          <a:p>
            <a:r>
              <a:rPr lang="en-US" sz="1600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9682217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769</TotalTime>
  <Words>3832</Words>
  <Application>Microsoft Office PowerPoint</Application>
  <PresentationFormat>Widescreen</PresentationFormat>
  <Paragraphs>888</Paragraphs>
  <Slides>58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58</vt:i4>
      </vt:variant>
    </vt:vector>
  </HeadingPairs>
  <TitlesOfParts>
    <vt:vector size="62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Signo, Christian (Student)</dc:creator>
  <cp:lastModifiedBy>Signo, Christian (Student)</cp:lastModifiedBy>
  <cp:revision>11</cp:revision>
  <dcterms:created xsi:type="dcterms:W3CDTF">2025-04-13T09:11:45Z</dcterms:created>
  <dcterms:modified xsi:type="dcterms:W3CDTF">2025-05-21T04:41:28Z</dcterms:modified>
</cp:coreProperties>
</file>